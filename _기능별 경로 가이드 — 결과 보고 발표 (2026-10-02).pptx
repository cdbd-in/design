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23e85eec-fe39-608f-a36a-167df2933176}">
          <p14:sldIdLst>
            <p14:sldId id="256"/>
          </p14:sldIdLst>
        </p14:section>
        <p14:section name="목차" id="{63f7b50f-d69e-0e4c-12d8-e0ab8d6085cc}">
          <p14:sldIdLst>
            <p14:sldId id="257"/>
          </p14:sldIdLst>
        </p14:section>
        <p14:section name="01 결과" id="{29d9c8c9-598f-5fba-c8ef-72fbcc1f7186}">
          <p14:sldIdLst>
            <p14:sldId id="258"/>
          </p14:sldIdLst>
        </p14:section>
        <p14:section name="02 구성" id="{31b888f2-713e-9479-4234-b2b51d841987}">
          <p14:sldIdLst>
            <p14:sldId id="259"/>
          </p14:sldIdLst>
        </p14:section>
        <p14:section name="03 현황" id="{ec438e6c-3bf6-f072-3bf0-e617fa24c77d}">
          <p14:sldIdLst>
            <p14:sldId id="260"/>
          </p14:sldIdLst>
        </p14:section>
        <p14:section name="04 성과" id="{6e1d3b9a-c78a-d267-bdb6-b16f0b53b9ed}">
          <p14:sldIdLst>
            <p14:sldId id="261"/>
            <p14:sldId id="262"/>
            <p14:sldId id="263"/>
          </p14:sldIdLst>
        </p14:section>
        <p14:section name="05 한계" id="{52a96d17-2ad0-8a45-46f7-a0a71969c262}">
          <p14:sldIdLst>
            <p14:sldId id="264"/>
          </p14:sldIdLst>
        </p14:section>
        <p14:section name="06 팀원 셋업" id="{bcc2f152-4427-a912-6ed4-1fb41fb74df5}">
          <p14:sldIdLst>
            <p14:sldId id="265"/>
            <p14:sldId id="266"/>
            <p14:sldId id="267"/>
          </p14:sldIdLst>
        </p14:section>
        <p14:section name="07 해결" id="{74345213-b838-fe79-6948-09def8e5dc0f}">
          <p14:sldIdLst>
            <p14:sldId id="268"/>
          </p14:sldIdLst>
        </p14:section>
        <p14:section name="08 규칙" id="{ccba6c81-b607-071e-eab2-c49e1fb6d8a5}">
          <p14:sldIdLst>
            <p14:sldId id="269"/>
          </p14:sldIdLst>
        </p14:section>
        <p14:section name="09 다음" id="{269ccf01-ceec-f09c-4b09-95b17f37455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보고는 두 가지입니다. 첫째, 기능별 경로 가이드 실행 계획이 어디까지 왔는지. 둘째, 팀원이 자기 기기에서 어떻게 셋업하면 되는지. 오른쪽처럼 8단계 중 7단계를 끝냈고, 마지막 배포 단계는 도구까지 완성돼 팀원 셋업만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목차입니다. 앞의 다섯 장은 결과, 06부터는 팀원 셋업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수치입니다. 8단계 중 7단계 완료, 세부 체크리스트 28개 중 19개 완료. 수용 테스트는 g1에서 23문항 전부 통과했고, 이 맥 점검표는 28개 항목이 모두 정상입니다. 녹화 영상 판정 138건이 기능 사전의 근거입니다. 이번 주에는 카드 자동화 드라이버의 결함 3건을 실제 에디터에서 찾아 고쳤습니다. 남은 것은 팀원 2명 셋업입니다.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만든 것은 여섯 가지입니다. 기능 사전이 정답, 허브 규칙과 볼트별 경로 가이드가 지도입니다. 이 지도는 Claude가 세션을 켤 때 자동으로 실리도록 연결했습니다. 여기에 에디터를 직접 조작하는 스킬, 새 기기 셋업과 점검 도구, 그리고 이 모든 게 실제로 되는지 확인하는 수용 테스트가 붙어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단계별로 보면 STEP 0부터 6까지 끝났고, STEP 7 배포만 진행 중입니다. 배포는 원래 플러그인이었는데 9월 27일에 설치 스크립트로 바꿨습니다. 팀원 모두 저장소를 clone하기 때문에 플러그인은 사본만 하나 더 만들 뿐이었습니다. 세부 체크리스트는 28개 중 19개 완료, 남은 것은 리허설, 문서 정리, 팀원 셋업입니다.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아는 쪽의 핵심 성과입니다. 처음엔 헷갈리는 단어가 나오면 무조건 되묻게 했는데, 1차 테스트에서 8문항이 전부 그 때문에 떨어졌습니다. 기능이 분명한 질문에도 되묻고, 사용자의 틀린 전제를 바로잡지 않았기 때문입니다. 규칙을 세 갈래로 나눈 뒤 2차부터는 전부 통과했고, 이후 두 기기에서 다시 돌려도 유지됐습니다.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하는 쪽입니다. 카드 자동화 드라이버를 원페이지와 멀티페이지 테스트 페이지에서 직접 돌렸습니다. 확인하려던 결함 A4는 고쳐진 게 맞았고, 그 과정에서 새 결함 두 개를 찾아 바로 고쳤습니다. 고정된 카드가 상태 스냅샷에서 빠지는 문제와, 빈 페이지에서 다른 페이지 카드를 보고하는 문제입니다. 또 예전 기록의 '고정 상태는 블록에 저장되지 않는다'는 서술이 틀렸다는 것도 실측으로 확인해 정정했습니다.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성과는 어느 기기에서나 같은 상태를 만드는 도구입니다. 셋업 스크립트 한 번이면 연결이 끝나고, 점검표가 28개 항목을 확인합니다. 이 맥은 전부 통과했습니다. 로그인 토큰이 만료돼도 공용 계정으로 다시 로그인하는데, 실제로 이 맥의 토큰이 이미 만료된 상태였고 자동으로 복구됐습니다.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정직하게 나눠 두겠습니다. 왼쪽은 확인된 것입니다. 오른쪽은 아직입니다. 특히 볼트끼리의 연결은 옵시디언 링크가 아니라 Claude가 파일 경로로 다른 볼트 문서를 읽는 방식입니다. 그리고 Claude가 기능을 외우는 게 아니라 사전을 찾아 읽기 때문에, 사전에서 미확인인 것은 모른다고 답합니다. 새 기기와 팀원 기기에서의 확인은 다음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셋업은 아홉 단계, 20분에서 30분입니다. 처음 저장소를 받는 팀원은 그 앞에 SSH 키와 clone, 옵시디언 설정이 30~40분 더 있습니다. 준비물은 네 가지이고, 가장 중요한 주의는 다른 사람의 credentials.json 파일을 복사해 받지 않는 것입니다. 복사하면 서로의 로그인이 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1번부터 5번까지는 설치입니다. Claude Code, 옵시디언의 Claudian 플러그인, 에디터를 조작할 브라우저 도구 gstack을 깔고 셋업 스크립트를 돌립니다. 처음 돌리면 cdbd.env 견본이 생기는데, 오른쪽 표대로 공용 계정을 채우고 한 번 더 돌리면 됩니다. 주의: 이 설치 단계는 아직 새 기기에서 처음부터 따라 해 보지 않아 리허설에서 확인할 예정입니다.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6번부터 9번입니다. 폴더 신뢰 승인은 볼트마다 Claude를 한 번 켜서 승인하는 것인데, 이걸 안 하면 볼트에 넣어 둔 허용 설정이 무시됩니다. Figma는 계정에 한 번만 연결하면 됩니다. 점검표가 전부 초록이면 셋업이 끝난 것이고, 마지막으로 이 질문을 해 봅니다. 아니요로 시작해서 빈칸으로 나온다고 바로잡으면 팀 규칙과 기능 사전이 제대로 실린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막혔을 때는 점검표를 돌리면 됩니다. 빨간 표시마다 원인과 해결이 정해져 있고, 대부분은 셋업 스크립트나 동기화 스크립트를 한 번 더 돌리면 풀립니다. 평소에는 Claude를 켤 때 문제가 있으면 한 줄로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규칙은 세 가지입니다. 크레딧이 드는 일은 실행 전에 금액을 말하고 승인받는다. 테스트는 자기 전용 페이지에서만 한다. 로그인 파일은 복사하지 않는다. Claude도 이 규칙대로 움직이도록 설정돼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순서입니다. 먼저 새 기기 리허설로 이 가이드가 문서만 보고 끝나는지 확인하고, 그다음 팀원 두 분 셋업으로 넘어갑니다. 여기서 결정이 하나 필요합니다. 팀원 두 분의 일정과, 각자 쓸 전용 테스트 페이지입니다. 두 분 기기에서 수용 테스트를 통과하면 목표 도달입니다.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tx2"/>
                </a:solidFill>
              </a:rPr>
              <a:t>CDBD  ·  HOME.CDBD.IN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5852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5760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-pill"/>
          <p:cNvSpPr/>
          <p:nvPr/>
        </p:nvSpPr>
        <p:spPr>
          <a:xfrm>
            <a:off x="548640" y="502920"/>
            <a:ext cx="8686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CDBD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8288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CdBd 기능별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경로 가이드</a:t>
            </a:r>
            <a:endParaRPr lang="en-US" sz="4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실행 결과 보고  ·  어디까지 왔나, 팀원은 어떻게 셋업하나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기준일 2026-10-02   ·   작성 강현이 · Claude   ·   정본 design/_기능별 경로 가이드 — 실행 계획.md</a:t>
            </a:r>
            <a:endParaRPr lang="en-US" sz="950" dirty="0"/>
          </a:p>
        </p:txBody>
      </p:sp>
      <p:sp>
        <p:nvSpPr>
          <p:cNvPr id="7" name="progress-panel"/>
          <p:cNvSpPr/>
          <p:nvPr/>
        </p:nvSpPr>
        <p:spPr>
          <a:xfrm>
            <a:off x="6812280" y="502920"/>
            <a:ext cx="4828032" cy="58521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7804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현재 위치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78040" y="1097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7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 / 8 단계 완료</a:t>
            </a:r>
            <a:endParaRPr lang="en-US" sz="5400" dirty="0"/>
          </a:p>
        </p:txBody>
      </p:sp>
      <p:sp>
        <p:nvSpPr>
          <p:cNvPr id="10" name="step-dot"/>
          <p:cNvSpPr/>
          <p:nvPr/>
        </p:nvSpPr>
        <p:spPr>
          <a:xfrm>
            <a:off x="7223760" y="225856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step-link"/>
          <p:cNvSpPr/>
          <p:nvPr/>
        </p:nvSpPr>
        <p:spPr>
          <a:xfrm>
            <a:off x="7360920" y="2532888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35240" y="21945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0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정의 확정</a:t>
            </a:r>
            <a:endParaRPr lang="en-US" sz="1200" dirty="0"/>
          </a:p>
        </p:txBody>
      </p:sp>
      <p:sp>
        <p:nvSpPr>
          <p:cNvPr id="13" name="step-dot"/>
          <p:cNvSpPr/>
          <p:nvPr/>
        </p:nvSpPr>
        <p:spPr>
          <a:xfrm>
            <a:off x="7223760" y="274320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step-link"/>
          <p:cNvSpPr/>
          <p:nvPr/>
        </p:nvSpPr>
        <p:spPr>
          <a:xfrm>
            <a:off x="7360920" y="3017520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35240" y="2679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1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분류표</a:t>
            </a:r>
            <a:endParaRPr lang="en-US" sz="1200" dirty="0"/>
          </a:p>
        </p:txBody>
      </p:sp>
      <p:sp>
        <p:nvSpPr>
          <p:cNvPr id="16" name="step-dot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" name="step-link"/>
          <p:cNvSpPr/>
          <p:nvPr/>
        </p:nvSpPr>
        <p:spPr>
          <a:xfrm>
            <a:off x="7360920" y="3502152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316382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2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경로 가이드 작성</a:t>
            </a:r>
            <a:endParaRPr lang="en-US" sz="1200" dirty="0"/>
          </a:p>
        </p:txBody>
      </p:sp>
      <p:sp>
        <p:nvSpPr>
          <p:cNvPr id="19" name="step-dot"/>
          <p:cNvSpPr/>
          <p:nvPr/>
        </p:nvSpPr>
        <p:spPr>
          <a:xfrm>
            <a:off x="7223760" y="371246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0" name="step-link"/>
          <p:cNvSpPr/>
          <p:nvPr/>
        </p:nvSpPr>
        <p:spPr>
          <a:xfrm>
            <a:off x="7360920" y="3986784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35240" y="364845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3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연결 (@import)</a:t>
            </a:r>
            <a:endParaRPr lang="en-US" sz="1200" dirty="0"/>
          </a:p>
        </p:txBody>
      </p:sp>
      <p:sp>
        <p:nvSpPr>
          <p:cNvPr id="22" name="step-dot"/>
          <p:cNvSpPr/>
          <p:nvPr/>
        </p:nvSpPr>
        <p:spPr>
          <a:xfrm>
            <a:off x="7223760" y="419709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3" name="step-link"/>
          <p:cNvSpPr/>
          <p:nvPr/>
        </p:nvSpPr>
        <p:spPr>
          <a:xfrm>
            <a:off x="7360920" y="4471416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35240" y="41330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4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영상 녹화 · 판독</a:t>
            </a:r>
            <a:endParaRPr lang="en-US" sz="1200" dirty="0"/>
          </a:p>
        </p:txBody>
      </p:sp>
      <p:sp>
        <p:nvSpPr>
          <p:cNvPr id="25" name="step-dot"/>
          <p:cNvSpPr/>
          <p:nvPr/>
        </p:nvSpPr>
        <p:spPr>
          <a:xfrm>
            <a:off x="7223760" y="468172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6" name="step-link"/>
          <p:cNvSpPr/>
          <p:nvPr/>
        </p:nvSpPr>
        <p:spPr>
          <a:xfrm>
            <a:off x="7360920" y="4956048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35240" y="46177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5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확산 · 검증</a:t>
            </a:r>
            <a:endParaRPr lang="en-US" sz="1200" dirty="0"/>
          </a:p>
        </p:txBody>
      </p:sp>
      <p:sp>
        <p:nvSpPr>
          <p:cNvPr id="28" name="step-dot"/>
          <p:cNvSpPr/>
          <p:nvPr/>
        </p:nvSpPr>
        <p:spPr>
          <a:xfrm>
            <a:off x="7223760" y="51663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step-link"/>
          <p:cNvSpPr/>
          <p:nvPr/>
        </p:nvSpPr>
        <p:spPr>
          <a:xfrm>
            <a:off x="7360920" y="5440680"/>
            <a:ext cx="0" cy="210312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35240" y="51023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STEP 6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스킬 승격</a:t>
            </a:r>
            <a:endParaRPr lang="en-US" sz="1200" dirty="0"/>
          </a:p>
        </p:txBody>
      </p:sp>
      <p:sp>
        <p:nvSpPr>
          <p:cNvPr id="31" name="step-dot"/>
          <p:cNvSpPr/>
          <p:nvPr/>
        </p:nvSpPr>
        <p:spPr>
          <a:xfrm>
            <a:off x="7223760" y="565099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35240" y="558698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STEP 7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배포 · 팀원 셋업</a:t>
            </a:r>
            <a:endParaRPr lang="en-US" sz="1200" dirty="0"/>
          </a:p>
        </p:txBody>
      </p:sp>
      <p:sp>
        <p:nvSpPr>
          <p:cNvPr id="33" name="pill-bg"/>
          <p:cNvSpPr/>
          <p:nvPr/>
        </p:nvSpPr>
        <p:spPr>
          <a:xfrm>
            <a:off x="10469880" y="5660136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4" name="pill"/>
          <p:cNvSpPr txBox="1"/>
          <p:nvPr/>
        </p:nvSpPr>
        <p:spPr>
          <a:xfrm>
            <a:off x="10469880" y="56601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진행 중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목차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목차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한눈에 보는 결과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600200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핵심 수치</a:t>
            </a:r>
            <a:endParaRPr lang="en-US" sz="1100" dirty="0"/>
          </a:p>
        </p:txBody>
      </p:sp>
      <p:sp>
        <p:nvSpPr>
          <p:cNvPr id="8" name="row-sep"/>
          <p:cNvSpPr/>
          <p:nvPr/>
        </p:nvSpPr>
        <p:spPr>
          <a:xfrm>
            <a:off x="548640" y="2075688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9397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93976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무엇을 만들었나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93976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구성 요소 6가지</a:t>
            </a:r>
            <a:endParaRPr lang="en-US" sz="1100" dirty="0"/>
          </a:p>
        </p:txBody>
      </p:sp>
      <p:sp>
        <p:nvSpPr>
          <p:cNvPr id="12" name="row-sep"/>
          <p:cNvSpPr/>
          <p:nvPr/>
        </p:nvSpPr>
        <p:spPr>
          <a:xfrm>
            <a:off x="548640" y="2569464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877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587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단계별 진행 현황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587752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STEP 0~7</a:t>
            </a:r>
            <a:endParaRPr lang="en-US" sz="1100" dirty="0"/>
          </a:p>
        </p:txBody>
      </p:sp>
      <p:sp>
        <p:nvSpPr>
          <p:cNvPr id="16" name="row-sep"/>
          <p:cNvSpPr/>
          <p:nvPr/>
        </p:nvSpPr>
        <p:spPr>
          <a:xfrm>
            <a:off x="548640" y="3063240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815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08152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주요 성과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0815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아는 것 · 하는 것 · 어느 기기에서나</a:t>
            </a:r>
            <a:endParaRPr lang="en-US" sz="1100" dirty="0"/>
          </a:p>
        </p:txBody>
      </p:sp>
      <p:sp>
        <p:nvSpPr>
          <p:cNvPr id="20" name="row-sep"/>
          <p:cNvSpPr/>
          <p:nvPr/>
        </p:nvSpPr>
        <p:spPr>
          <a:xfrm>
            <a:off x="548640" y="3557016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5753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5753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지금 되는 것 · 아직 아닌 것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575304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한계까지 정직하게</a:t>
            </a:r>
            <a:endParaRPr lang="en-US" sz="1100" dirty="0"/>
          </a:p>
        </p:txBody>
      </p:sp>
      <p:sp>
        <p:nvSpPr>
          <p:cNvPr id="24" name="row-sep"/>
          <p:cNvSpPr/>
          <p:nvPr/>
        </p:nvSpPr>
        <p:spPr>
          <a:xfrm>
            <a:off x="548640" y="4050792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069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069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팀원 셋업 가이드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069080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준비물 · 9단계 · 완료 기준</a:t>
            </a:r>
            <a:endParaRPr lang="en-US" sz="1100" dirty="0"/>
          </a:p>
        </p:txBody>
      </p:sp>
      <p:sp>
        <p:nvSpPr>
          <p:cNvPr id="28" name="row-sep"/>
          <p:cNvSpPr/>
          <p:nvPr/>
        </p:nvSpPr>
        <p:spPr>
          <a:xfrm>
            <a:off x="548640" y="4544568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562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4562856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4562856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점검표 해결표</a:t>
            </a:r>
            <a:endParaRPr lang="en-US" sz="1100" dirty="0"/>
          </a:p>
        </p:txBody>
      </p:sp>
      <p:sp>
        <p:nvSpPr>
          <p:cNvPr id="32" name="row-sep"/>
          <p:cNvSpPr/>
          <p:nvPr/>
        </p:nvSpPr>
        <p:spPr>
          <a:xfrm>
            <a:off x="548640" y="5038344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50566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80160" y="50566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운영 규칙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0" y="5056632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공용 계정이라서</a:t>
            </a:r>
            <a:endParaRPr lang="en-US" sz="1100" dirty="0"/>
          </a:p>
        </p:txBody>
      </p:sp>
      <p:sp>
        <p:nvSpPr>
          <p:cNvPr id="36" name="row-sep"/>
          <p:cNvSpPr/>
          <p:nvPr/>
        </p:nvSpPr>
        <p:spPr>
          <a:xfrm>
            <a:off x="548640" y="5532120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55504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280160" y="555040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남은 일과 결정할 것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555040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다음 순서</a:t>
            </a:r>
            <a:endParaRPr lang="en-US" sz="1100" dirty="0"/>
          </a:p>
        </p:txBody>
      </p:sp>
      <p:sp>
        <p:nvSpPr>
          <p:cNvPr id="40" name="row-sep"/>
          <p:cNvSpPr/>
          <p:nvPr/>
        </p:nvSpPr>
        <p:spPr>
          <a:xfrm>
            <a:off x="548640" y="6025896"/>
            <a:ext cx="11091672" cy="0"/>
          </a:xfrm>
          <a:prstGeom prst="line">
            <a:avLst/>
          </a:prstGeom>
          <a:noFill/>
          <a:ln w="9525">
            <a:solidFill>
              <a:srgbClr val="E3E3EA"/>
            </a:solidFill>
            <a:prstDash val="solid"/>
          </a:ln>
        </p:spPr>
      </p:sp>
      <p:sp>
        <p:nvSpPr>
          <p:cNvPr id="42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한눈에 보는 결과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01  핵심 수치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0~6 완료, 배포 도구까지 완성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셋업이 끝난 기기라면 Claude가 어느 볼트에서든 팀 규칙·기능 사전을 찾아 쓰고, 에디터를 직접 조작합니다.</a:t>
            </a:r>
            <a:endParaRPr lang="en-US" sz="1350" dirty="0"/>
          </a:p>
        </p:txBody>
      </p:sp>
      <p:sp>
        <p:nvSpPr>
          <p:cNvPr id="6" name="kpi-card"/>
          <p:cNvSpPr/>
          <p:nvPr/>
        </p:nvSpPr>
        <p:spPr>
          <a:xfrm>
            <a:off x="548640" y="2011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7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/ 8 단계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STEP 0~6 완료 · STEP 7 배포 도구 완료</a:t>
            </a:r>
            <a:endParaRPr lang="en-US" sz="1250" dirty="0"/>
          </a:p>
        </p:txBody>
      </p:sp>
      <p:sp>
        <p:nvSpPr>
          <p:cNvPr id="9" name="kpi-card"/>
          <p:cNvSpPr/>
          <p:nvPr/>
        </p:nvSpPr>
        <p:spPr>
          <a:xfrm>
            <a:off x="3392424" y="2011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48456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/ 28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648456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세부 체크리스트 완료 (9/27 계획)</a:t>
            </a:r>
            <a:endParaRPr lang="en-US" sz="1250" dirty="0"/>
          </a:p>
        </p:txBody>
      </p:sp>
      <p:sp>
        <p:nvSpPr>
          <p:cNvPr id="12" name="kpi-card"/>
          <p:cNvSpPr/>
          <p:nvPr/>
        </p:nvSpPr>
        <p:spPr>
          <a:xfrm>
            <a:off x="6236208" y="2011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23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/ 23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수용 테스트 통과 (g1 · 10/01)</a:t>
            </a:r>
            <a:endParaRPr lang="en-US" sz="1250" dirty="0"/>
          </a:p>
        </p:txBody>
      </p:sp>
      <p:sp>
        <p:nvSpPr>
          <p:cNvPr id="15" name="kpi-card"/>
          <p:cNvSpPr/>
          <p:nvPr/>
        </p:nvSpPr>
        <p:spPr>
          <a:xfrm>
            <a:off x="9079992" y="2011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36024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28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/ 28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36024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기기 점검표 ✅ (이 맥 · 10/02)</a:t>
            </a:r>
            <a:endParaRPr lang="en-US" sz="1250" dirty="0"/>
          </a:p>
        </p:txBody>
      </p:sp>
      <p:sp>
        <p:nvSpPr>
          <p:cNvPr id="18" name="kpi-card"/>
          <p:cNvSpPr/>
          <p:nvPr/>
        </p:nvSpPr>
        <p:spPr>
          <a:xfrm>
            <a:off x="548640" y="4297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4572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138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건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5486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영상 실측 판정 → 기능 사전 반영</a:t>
            </a:r>
            <a:endParaRPr lang="en-US" sz="1250" dirty="0"/>
          </a:p>
        </p:txBody>
      </p:sp>
      <p:sp>
        <p:nvSpPr>
          <p:cNvPr id="21" name="kpi-card"/>
          <p:cNvSpPr/>
          <p:nvPr/>
        </p:nvSpPr>
        <p:spPr>
          <a:xfrm>
            <a:off x="3392424" y="4297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48456" y="4572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4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/ 4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3648456" y="5486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경로 가이드 확산 (볼트 3 + 허브)</a:t>
            </a:r>
            <a:endParaRPr lang="en-US" sz="1250" dirty="0"/>
          </a:p>
        </p:txBody>
      </p:sp>
      <p:sp>
        <p:nvSpPr>
          <p:cNvPr id="24" name="kpi-card"/>
          <p:cNvSpPr/>
          <p:nvPr/>
        </p:nvSpPr>
        <p:spPr>
          <a:xfrm>
            <a:off x="6236208" y="4297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92240" y="4572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건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486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카드 드라이버 결함 실측 수리 (A4·A8·A9)</a:t>
            </a:r>
            <a:endParaRPr lang="en-US" sz="1250" dirty="0"/>
          </a:p>
        </p:txBody>
      </p:sp>
      <p:sp>
        <p:nvSpPr>
          <p:cNvPr id="27" name="kpi-card"/>
          <p:cNvSpPr/>
          <p:nvPr/>
        </p:nvSpPr>
        <p:spPr>
          <a:xfrm>
            <a:off x="9079992" y="429768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336024" y="4572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명</a:t>
            </a:r>
            <a:endParaRPr lang="en-US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9336024" y="5486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남은 셋업 대상 팀원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무엇을 만들었나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02  구성 요소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세션을 켜는 순간 「어디를 봐라」가 실린다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Claude는 위키링크를 클릭하지 않습니다 — 그래서 필요한 지도를 세션마다 자동으로 싣는 체계를 만들었습니다.</a:t>
            </a:r>
            <a:endParaRPr lang="en-US" sz="1350" dirty="0"/>
          </a:p>
        </p:txBody>
      </p:sp>
      <p:sp>
        <p:nvSpPr>
          <p:cNvPr id="6" name="comp-card"/>
          <p:cNvSpPr/>
          <p:nvPr/>
        </p:nvSpPr>
        <p:spPr>
          <a:xfrm>
            <a:off x="548640" y="2011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7" name="comp-circle"/>
          <p:cNvSpPr/>
          <p:nvPr/>
        </p:nvSpPr>
        <p:spPr>
          <a:xfrm>
            <a:off x="804672" y="2267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com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2409444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304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기능 사전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26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CdBd가 실제로 어떻게 동작하는지 — 영상 판정 138건 기준의 정본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611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design/CdBd 기능 사전 (공통).md</a:t>
            </a:r>
            <a:endParaRPr lang="en-US" sz="950" dirty="0"/>
          </a:p>
        </p:txBody>
      </p:sp>
      <p:sp>
        <p:nvSpPr>
          <p:cNvPr id="12" name="comp-card"/>
          <p:cNvSpPr/>
          <p:nvPr/>
        </p:nvSpPr>
        <p:spPr>
          <a:xfrm>
            <a:off x="4338828" y="2011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3" name="comp-circle"/>
          <p:cNvSpPr/>
          <p:nvPr/>
        </p:nvSpPr>
        <p:spPr>
          <a:xfrm>
            <a:off x="4594860" y="2267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comp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09444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8948" y="2304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허브 규칙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94860" y="2926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되묻기 3갈래 · 💰 공용 계정 규칙 · 기능 → 볼트 라우팅. 하위 볼트 어디서나 자동 로드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594860" y="3611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design/CLAUDE.md</a:t>
            </a:r>
            <a:endParaRPr lang="en-US" sz="950" dirty="0"/>
          </a:p>
        </p:txBody>
      </p:sp>
      <p:sp>
        <p:nvSpPr>
          <p:cNvPr id="18" name="comp-card"/>
          <p:cNvSpPr/>
          <p:nvPr/>
        </p:nvSpPr>
        <p:spPr>
          <a:xfrm>
            <a:off x="8129016" y="2011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comp-circle"/>
          <p:cNvSpPr/>
          <p:nvPr/>
        </p:nvSpPr>
        <p:spPr>
          <a:xfrm>
            <a:off x="8385048" y="2267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comp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2409444"/>
            <a:ext cx="283464" cy="2834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89136" y="2304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볼트별 경로 가이드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85048" y="2926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그 볼트의 「기능 → 파일 · 섹션」 지도. @import로 강제 로드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8385048" y="3611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templates · service · system</a:t>
            </a:r>
            <a:endParaRPr lang="en-US" sz="950" dirty="0"/>
          </a:p>
        </p:txBody>
      </p:sp>
      <p:sp>
        <p:nvSpPr>
          <p:cNvPr id="24" name="comp-card"/>
          <p:cNvSpPr/>
          <p:nvPr/>
        </p:nvSpPr>
        <p:spPr>
          <a:xfrm>
            <a:off x="548640" y="4297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5" name="comp-circle"/>
          <p:cNvSpPr/>
          <p:nvPr/>
        </p:nvSpPr>
        <p:spPr>
          <a:xfrm>
            <a:off x="804672" y="4553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comp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695444"/>
            <a:ext cx="283464" cy="28346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508760" y="4590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 자동화 스킬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" y="5212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헤드리스 브라우저로 에디터 카드를 직접 조작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804672" y="5897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cdbd-card-automation → 전역</a:t>
            </a:r>
            <a:endParaRPr lang="en-US" sz="950" dirty="0"/>
          </a:p>
        </p:txBody>
      </p:sp>
      <p:sp>
        <p:nvSpPr>
          <p:cNvPr id="30" name="comp-card"/>
          <p:cNvSpPr/>
          <p:nvPr/>
        </p:nvSpPr>
        <p:spPr>
          <a:xfrm>
            <a:off x="4338828" y="4297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1" name="comp-circle"/>
          <p:cNvSpPr/>
          <p:nvPr/>
        </p:nvSpPr>
        <p:spPr>
          <a:xfrm>
            <a:off x="4594860" y="4553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comp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469544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98948" y="4590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설치 · 점검 도구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4594860" y="5212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새 기기 셋업 · 점검표 · 동기화 · 세션 시작 경고 · 인증 헬퍼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4594860" y="5897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design/tools/</a:t>
            </a:r>
            <a:endParaRPr lang="en-US" sz="950" dirty="0"/>
          </a:p>
        </p:txBody>
      </p:sp>
      <p:sp>
        <p:nvSpPr>
          <p:cNvPr id="36" name="comp-card"/>
          <p:cNvSpPr/>
          <p:nvPr/>
        </p:nvSpPr>
        <p:spPr>
          <a:xfrm>
            <a:off x="8129016" y="4297680"/>
            <a:ext cx="3511296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7" name="comp-circle"/>
          <p:cNvSpPr/>
          <p:nvPr/>
        </p:nvSpPr>
        <p:spPr>
          <a:xfrm>
            <a:off x="8385048" y="455371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comp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6780" y="4695444"/>
            <a:ext cx="283464" cy="28346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089136" y="459028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수용 테스트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8385048" y="521208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「다 알고 제대로 동작하나」를 자동 채점 · 정답지는 볼트 밖</a:t>
            </a:r>
            <a:endParaRPr lang="en-US" sz="1250" dirty="0"/>
          </a:p>
        </p:txBody>
      </p:sp>
      <p:sp>
        <p:nvSpPr>
          <p:cNvPr id="41" name="Text 33"/>
          <p:cNvSpPr txBox="1"/>
          <p:nvPr/>
        </p:nvSpPr>
        <p:spPr>
          <a:xfrm>
            <a:off x="8385048" y="589788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design/검증/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단계별 진행 현황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03  STEP 0~7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한 곳을 끝까지 → 확산 → 배포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STEP 7은 9/27에 플러그인 대신 설치 스크립트로 변경 — 팀원 모두 저장소를 clone하므로 사본만 늘고 인증 문제도 못 풀기 때문.</a:t>
            </a:r>
            <a:endParaRPr lang="en-US" sz="1350" dirty="0"/>
          </a:p>
        </p:txBody>
      </p:sp>
      <p:sp>
        <p:nvSpPr>
          <p:cNvPr id="6" name="step-card"/>
          <p:cNvSpPr/>
          <p:nvPr/>
        </p:nvSpPr>
        <p:spPr>
          <a:xfrm>
            <a:off x="548640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정의 확정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3분류 · 첫 저장소</a:t>
            </a:r>
            <a:endParaRPr lang="en-US" sz="1000" dirty="0"/>
          </a:p>
        </p:txBody>
      </p:sp>
      <p:sp>
        <p:nvSpPr>
          <p:cNvPr id="10" name="pill-bg"/>
          <p:cNvSpPr/>
          <p:nvPr/>
        </p:nvSpPr>
        <p:spPr>
          <a:xfrm>
            <a:off x="685800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11" name="pill"/>
          <p:cNvSpPr txBox="1"/>
          <p:nvPr/>
        </p:nvSpPr>
        <p:spPr>
          <a:xfrm>
            <a:off x="685800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12" name="step-card"/>
          <p:cNvSpPr/>
          <p:nvPr/>
        </p:nvSpPr>
        <p:spPr>
          <a:xfrm>
            <a:off x="1950415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87575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87575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분류표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087575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기능 ↔ 문서 유무</a:t>
            </a:r>
            <a:endParaRPr lang="en-US" sz="1000" dirty="0"/>
          </a:p>
        </p:txBody>
      </p:sp>
      <p:sp>
        <p:nvSpPr>
          <p:cNvPr id="16" name="pill-bg"/>
          <p:cNvSpPr/>
          <p:nvPr/>
        </p:nvSpPr>
        <p:spPr>
          <a:xfrm>
            <a:off x="2087575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17" name="pill"/>
          <p:cNvSpPr txBox="1"/>
          <p:nvPr/>
        </p:nvSpPr>
        <p:spPr>
          <a:xfrm>
            <a:off x="2087575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18" name="step-card"/>
          <p:cNvSpPr/>
          <p:nvPr/>
        </p:nvSpPr>
        <p:spPr>
          <a:xfrm>
            <a:off x="3352190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89350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89350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경로 가이드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89350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templates 작성</a:t>
            </a:r>
            <a:endParaRPr lang="en-US" sz="1000" dirty="0"/>
          </a:p>
        </p:txBody>
      </p:sp>
      <p:sp>
        <p:nvSpPr>
          <p:cNvPr id="22" name="pill-bg"/>
          <p:cNvSpPr/>
          <p:nvPr/>
        </p:nvSpPr>
        <p:spPr>
          <a:xfrm>
            <a:off x="3489350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23" name="pill"/>
          <p:cNvSpPr txBox="1"/>
          <p:nvPr/>
        </p:nvSpPr>
        <p:spPr>
          <a:xfrm>
            <a:off x="3489350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24" name="step-card"/>
          <p:cNvSpPr/>
          <p:nvPr/>
        </p:nvSpPr>
        <p:spPr>
          <a:xfrm>
            <a:off x="4753966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1126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891126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연결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91126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@import 실제 로드</a:t>
            </a:r>
            <a:endParaRPr lang="en-US" sz="1000" dirty="0"/>
          </a:p>
        </p:txBody>
      </p:sp>
      <p:sp>
        <p:nvSpPr>
          <p:cNvPr id="28" name="pill-bg"/>
          <p:cNvSpPr/>
          <p:nvPr/>
        </p:nvSpPr>
        <p:spPr>
          <a:xfrm>
            <a:off x="4891126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29" name="pill"/>
          <p:cNvSpPr txBox="1"/>
          <p:nvPr/>
        </p:nvSpPr>
        <p:spPr>
          <a:xfrm>
            <a:off x="4891126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30" name="step-card"/>
          <p:cNvSpPr/>
          <p:nvPr/>
        </p:nvSpPr>
        <p:spPr>
          <a:xfrm>
            <a:off x="6155741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92901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4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292901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 · 판독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92901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판정 138건</a:t>
            </a:r>
            <a:endParaRPr lang="en-US" sz="1000" dirty="0"/>
          </a:p>
        </p:txBody>
      </p:sp>
      <p:sp>
        <p:nvSpPr>
          <p:cNvPr id="34" name="pill-bg"/>
          <p:cNvSpPr/>
          <p:nvPr/>
        </p:nvSpPr>
        <p:spPr>
          <a:xfrm>
            <a:off x="6292901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5" name="pill"/>
          <p:cNvSpPr txBox="1"/>
          <p:nvPr/>
        </p:nvSpPr>
        <p:spPr>
          <a:xfrm>
            <a:off x="6292901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36" name="step-card"/>
          <p:cNvSpPr/>
          <p:nvPr/>
        </p:nvSpPr>
        <p:spPr>
          <a:xfrm>
            <a:off x="7557516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694676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5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694676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확산 · 검증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694676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4/4 · 23/23</a:t>
            </a:r>
            <a:endParaRPr lang="en-US" sz="1000" dirty="0"/>
          </a:p>
        </p:txBody>
      </p:sp>
      <p:sp>
        <p:nvSpPr>
          <p:cNvPr id="40" name="pill-bg"/>
          <p:cNvSpPr/>
          <p:nvPr/>
        </p:nvSpPr>
        <p:spPr>
          <a:xfrm>
            <a:off x="7694676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41" name="pill"/>
          <p:cNvSpPr txBox="1"/>
          <p:nvPr/>
        </p:nvSpPr>
        <p:spPr>
          <a:xfrm>
            <a:off x="7694676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42" name="step-card"/>
          <p:cNvSpPr/>
          <p:nvPr/>
        </p:nvSpPr>
        <p:spPr>
          <a:xfrm>
            <a:off x="8959291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096451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STEP 6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096451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스킬 승격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96451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전역 링크</a:t>
            </a:r>
            <a:endParaRPr lang="en-US" sz="1000" dirty="0"/>
          </a:p>
        </p:txBody>
      </p:sp>
      <p:sp>
        <p:nvSpPr>
          <p:cNvPr id="46" name="pill-bg"/>
          <p:cNvSpPr/>
          <p:nvPr/>
        </p:nvSpPr>
        <p:spPr>
          <a:xfrm>
            <a:off x="9096451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47" name="pill"/>
          <p:cNvSpPr txBox="1"/>
          <p:nvPr/>
        </p:nvSpPr>
        <p:spPr>
          <a:xfrm>
            <a:off x="9096451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완료</a:t>
            </a:r>
            <a:endParaRPr lang="en-US" sz="950" dirty="0"/>
          </a:p>
        </p:txBody>
      </p:sp>
      <p:sp>
        <p:nvSpPr>
          <p:cNvPr id="48" name="step-card"/>
          <p:cNvSpPr/>
          <p:nvPr/>
        </p:nvSpPr>
        <p:spPr>
          <a:xfrm>
            <a:off x="10361066" y="2011680"/>
            <a:ext cx="1271016" cy="2011680"/>
          </a:xfrm>
          <a:prstGeom prst="roundRect">
            <a:avLst>
              <a:gd name="adj" fmla="val 8633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498226" y="2194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4"/>
                </a:solidFill>
              </a:rPr>
              <a:t>STEP 7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498226" y="2487168"/>
            <a:ext cx="996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배포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98226" y="3063240"/>
            <a:ext cx="996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도구 ✅ · 팀원 ⏳</a:t>
            </a:r>
            <a:endParaRPr lang="en-US" sz="1000" dirty="0"/>
          </a:p>
        </p:txBody>
      </p:sp>
      <p:sp>
        <p:nvSpPr>
          <p:cNvPr id="52" name="pill-bg"/>
          <p:cNvSpPr/>
          <p:nvPr/>
        </p:nvSpPr>
        <p:spPr>
          <a:xfrm>
            <a:off x="10498226" y="3611880"/>
            <a:ext cx="996696" cy="256032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53" name="pill"/>
          <p:cNvSpPr txBox="1"/>
          <p:nvPr/>
        </p:nvSpPr>
        <p:spPr>
          <a:xfrm>
            <a:off x="10498226" y="3611880"/>
            <a:ext cx="996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진행 중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세부 체크리스트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4663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/ 28 완료</a:t>
            </a:r>
            <a:endParaRPr lang="en-US" sz="3400" dirty="0"/>
          </a:p>
        </p:txBody>
      </p:sp>
      <p:sp>
        <p:nvSpPr>
          <p:cNvPr id="56" name="bar-bg"/>
          <p:cNvSpPr/>
          <p:nvPr/>
        </p:nvSpPr>
        <p:spPr>
          <a:xfrm>
            <a:off x="548640" y="5486400"/>
            <a:ext cx="5120640" cy="20116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57" name="bar-part"/>
          <p:cNvSpPr/>
          <p:nvPr/>
        </p:nvSpPr>
        <p:spPr>
          <a:xfrm>
            <a:off x="548640" y="5486400"/>
            <a:ext cx="3657600" cy="2011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58" name="bar-done"/>
          <p:cNvSpPr/>
          <p:nvPr/>
        </p:nvSpPr>
        <p:spPr>
          <a:xfrm>
            <a:off x="548640" y="5486400"/>
            <a:ext cx="3474720" cy="2011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48640" y="5760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■ 완료 19   ■ 일부 1   ■ 남음 8</a:t>
            </a:r>
            <a:endParaRPr lang="en-US" sz="950" dirty="0"/>
          </a:p>
        </p:txBody>
      </p:sp>
      <p:sp>
        <p:nvSpPr>
          <p:cNvPr id="60" name="remain-card"/>
          <p:cNvSpPr/>
          <p:nvPr/>
        </p:nvSpPr>
        <p:spPr>
          <a:xfrm>
            <a:off x="6172200" y="438912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남은 것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4632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새 기기 리허설 — 문서만 보고 셋업이 끝나는지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문서 정리 3건 (영상 위치 · 제품팀 결함 전달문 · 노트 정정)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팀원 2명 일정 · 전용 테스트 페이지 결정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팀원 2명 셋업 → 수용 테스트 통과 → 🎯 목표 도달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주요 성과 1 / 3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  Claude가 아는 것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무조건 되묻기 → 3갈래로 나눠 23/23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1차 테스트 불합격 8건이 전부 「과잉 되묻기」 — 기능이 특정된 질문에도 묻고, 틀린 전제를 그냥 뒀습니다.</a:t>
            </a:r>
            <a:endParaRPr lang="en-US" sz="1350" dirty="0"/>
          </a:p>
        </p:txBody>
      </p:sp>
      <p:sp>
        <p:nvSpPr>
          <p:cNvPr id="6" name="rule-card"/>
          <p:cNvSpPr/>
          <p:nvPr/>
        </p:nvSpPr>
        <p:spPr>
          <a:xfrm>
            <a:off x="548640" y="2011680"/>
            <a:ext cx="57607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rule-num"/>
          <p:cNvSpPr/>
          <p:nvPr/>
        </p:nvSpPr>
        <p:spPr>
          <a:xfrm>
            <a:off x="777240" y="231343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134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1671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즉시 되묻기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51460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뜻이 갈리는데 단서가 없을 때 — 도구 0회, 첫 응답은 질문 한 줄 (「주소 바꿔줘」 「되돌려줘」)</a:t>
            </a:r>
            <a:endParaRPr lang="en-US" sz="1150" dirty="0"/>
          </a:p>
        </p:txBody>
      </p:sp>
      <p:sp>
        <p:nvSpPr>
          <p:cNvPr id="11" name="rule-card"/>
          <p:cNvSpPr/>
          <p:nvPr/>
        </p:nvSpPr>
        <p:spPr>
          <a:xfrm>
            <a:off x="548640" y="3383280"/>
            <a:ext cx="57607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2" name="rule-num"/>
          <p:cNvSpPr/>
          <p:nvPr/>
        </p:nvSpPr>
        <p:spPr>
          <a:xfrm>
            <a:off x="777240" y="368503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685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되묻지 말고 답하기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88620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기능이 특정되면 바로 정본을 찾아 답 · 틀린 전제는 첫 문장에서 교정 (「아니요, 빈칸으로 나옵니다」)</a:t>
            </a:r>
            <a:endParaRPr lang="en-US" sz="1150" dirty="0"/>
          </a:p>
        </p:txBody>
      </p:sp>
      <p:sp>
        <p:nvSpPr>
          <p:cNvPr id="16" name="rule-card"/>
          <p:cNvSpPr/>
          <p:nvPr/>
        </p:nvSpPr>
        <p:spPr>
          <a:xfrm>
            <a:off x="548640" y="4754880"/>
            <a:ext cx="57607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rule-num"/>
          <p:cNvSpPr/>
          <p:nvPr/>
        </p:nvSpPr>
        <p:spPr>
          <a:xfrm>
            <a:off x="777240" y="505663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056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910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핵심을 담아 묻기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25780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CdBd인지 다른 도구인지 애매하면 「CdBd라면 ~입니다」를 붙여 한 번에 질문</a:t>
            </a:r>
            <a:endParaRPr lang="en-US" sz="1150" dirty="0"/>
          </a:p>
        </p:txBody>
      </p:sp>
      <p:sp>
        <p:nvSpPr>
          <p:cNvPr id="21" name="chart-card"/>
          <p:cNvSpPr/>
          <p:nvPr/>
        </p:nvSpPr>
        <p:spPr>
          <a:xfrm>
            <a:off x="6675120" y="2011680"/>
            <a:ext cx="4965192" cy="4069080"/>
          </a:xfrm>
          <a:prstGeom prst="roundRect">
            <a:avLst>
              <a:gd name="adj" fmla="val 2697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2194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수용 테스트 통과율</a:t>
            </a:r>
            <a:endParaRPr lang="en-US" sz="1300" dirty="0"/>
          </a:p>
        </p:txBody>
      </p:sp>
      <p:sp>
        <p:nvSpPr>
          <p:cNvPr id="23" name="bar"/>
          <p:cNvSpPr/>
          <p:nvPr/>
        </p:nvSpPr>
        <p:spPr>
          <a:xfrm>
            <a:off x="7086600" y="3796748"/>
            <a:ext cx="777240" cy="1461052"/>
          </a:xfrm>
          <a:prstGeom prst="rect">
            <a:avLst/>
          </a:prstGeom>
          <a:solidFill>
            <a:schemeClr val="accent6">
              <a:alpha val="60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03720" y="34127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65%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53309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1차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15/23 · 9/29</a:t>
            </a:r>
            <a:endParaRPr lang="en-US" sz="1100" dirty="0"/>
          </a:p>
        </p:txBody>
      </p:sp>
      <p:sp>
        <p:nvSpPr>
          <p:cNvPr id="26" name="bar"/>
          <p:cNvSpPr/>
          <p:nvPr/>
        </p:nvSpPr>
        <p:spPr>
          <a:xfrm>
            <a:off x="8183880" y="3017520"/>
            <a:ext cx="777240" cy="22402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01000" y="26334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100%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53309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2차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23/23 · 9/29</a:t>
            </a:r>
            <a:endParaRPr lang="en-US" sz="1100" dirty="0"/>
          </a:p>
        </p:txBody>
      </p:sp>
      <p:sp>
        <p:nvSpPr>
          <p:cNvPr id="29" name="bar"/>
          <p:cNvSpPr/>
          <p:nvPr/>
        </p:nvSpPr>
        <p:spPr>
          <a:xfrm>
            <a:off x="9281160" y="3017520"/>
            <a:ext cx="777240" cy="22402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8280" y="26334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100%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53309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MBP 재검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15/15 · 10/01</a:t>
            </a:r>
            <a:endParaRPr lang="en-US" sz="1100" dirty="0"/>
          </a:p>
        </p:txBody>
      </p:sp>
      <p:sp>
        <p:nvSpPr>
          <p:cNvPr id="32" name="bar"/>
          <p:cNvSpPr/>
          <p:nvPr/>
        </p:nvSpPr>
        <p:spPr>
          <a:xfrm>
            <a:off x="10378440" y="3017520"/>
            <a:ext cx="777240" cy="22402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195560" y="26334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100%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0195560" y="53309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g1 회귀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23/23 · 10/01</a:t>
            </a:r>
            <a:endParaRPr lang="en-US" sz="1100" dirty="0"/>
          </a:p>
        </p:txBody>
      </p:sp>
      <p:sp>
        <p:nvSpPr>
          <p:cNvPr id="35" name="baseline"/>
          <p:cNvSpPr/>
          <p:nvPr/>
        </p:nvSpPr>
        <p:spPr>
          <a:xfrm>
            <a:off x="6949440" y="5257800"/>
            <a:ext cx="4389120" cy="0"/>
          </a:xfrm>
          <a:prstGeom prst="line">
            <a:avLst/>
          </a:prstGeom>
          <a:noFill/>
          <a:ln w="12700">
            <a:solidFill>
              <a:srgbClr val="C9C9D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주요 성과 2 / 3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  Claude가 하는 것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에디터를 직접 조작 — 실제 페이지에서 검증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테스트 전용 페이지 2개(원페이지 6530 · 멀티페이지 6550)에서 돌렸고, 크레딧은 쓰지 않았습니다.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21945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확인 항목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원페이지 6530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멀티페이지 6550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카드 순서 읽기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3/3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3/3 (페이지 목록과 구분)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상단 고정 → 판별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"top"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"top"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고정 카드가 있는 채로 순서 변경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이동 · 원복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이동 · 원복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고정 해제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상태 스냅샷(dumpState)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3/3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 3/3 · 빈 페이지 0/0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새로고침 후 원상태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269480" y="201168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실측으로 찾아 고친 것</a:t>
            </a:r>
            <a:endParaRPr lang="en-US" sz="1300" dirty="0"/>
          </a:p>
        </p:txBody>
      </p:sp>
      <p:sp>
        <p:nvSpPr>
          <p:cNvPr id="8" name="fix-card"/>
          <p:cNvSpPr/>
          <p:nvPr/>
        </p:nvSpPr>
        <p:spPr>
          <a:xfrm>
            <a:off x="7269480" y="2450592"/>
            <a:ext cx="437083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ill-bg"/>
          <p:cNvSpPr/>
          <p:nvPr/>
        </p:nvSpPr>
        <p:spPr>
          <a:xfrm>
            <a:off x="7452360" y="272491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10" name="pill"/>
          <p:cNvSpPr txBox="1"/>
          <p:nvPr/>
        </p:nvSpPr>
        <p:spPr>
          <a:xfrm>
            <a:off x="7452360" y="27249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A4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25237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멀티페이지에서 카드 대신 페이지 목록을 잡던 결함 — 수리 확인</a:t>
            </a:r>
            <a:endParaRPr lang="en-US" sz="1150" dirty="0"/>
          </a:p>
        </p:txBody>
      </p:sp>
      <p:sp>
        <p:nvSpPr>
          <p:cNvPr id="12" name="fix-card"/>
          <p:cNvSpPr/>
          <p:nvPr/>
        </p:nvSpPr>
        <p:spPr>
          <a:xfrm>
            <a:off x="7269480" y="3383280"/>
            <a:ext cx="437083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3" name="pill-bg"/>
          <p:cNvSpPr/>
          <p:nvPr/>
        </p:nvSpPr>
        <p:spPr>
          <a:xfrm>
            <a:off x="7452360" y="3657600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14" name="pill"/>
          <p:cNvSpPr txBox="1"/>
          <p:nvPr/>
        </p:nvSpPr>
        <p:spPr>
          <a:xfrm>
            <a:off x="7452360" y="36576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A8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345643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고정 카드가 스냅샷에서 빠짐(3장 중 2/2) — 보드 기준으로 수리</a:t>
            </a:r>
            <a:endParaRPr lang="en-US" sz="1150" dirty="0"/>
          </a:p>
        </p:txBody>
      </p:sp>
      <p:sp>
        <p:nvSpPr>
          <p:cNvPr id="16" name="fix-card"/>
          <p:cNvSpPr/>
          <p:nvPr/>
        </p:nvSpPr>
        <p:spPr>
          <a:xfrm>
            <a:off x="7269480" y="4315968"/>
            <a:ext cx="437083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7" name="pill-bg"/>
          <p:cNvSpPr/>
          <p:nvPr/>
        </p:nvSpPr>
        <p:spPr>
          <a:xfrm>
            <a:off x="7452360" y="4590288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18" name="pill"/>
          <p:cNvSpPr txBox="1"/>
          <p:nvPr/>
        </p:nvSpPr>
        <p:spPr>
          <a:xfrm>
            <a:off x="7452360" y="4590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A9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389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빈 페이지에서 숨은 썸네일의 다른 페이지 카드를 보고 — 수리</a:t>
            </a:r>
            <a:endParaRPr lang="en-US" sz="1150" dirty="0"/>
          </a:p>
        </p:txBody>
      </p:sp>
      <p:sp>
        <p:nvSpPr>
          <p:cNvPr id="20" name="fix-card"/>
          <p:cNvSpPr/>
          <p:nvPr/>
        </p:nvSpPr>
        <p:spPr>
          <a:xfrm>
            <a:off x="7269480" y="5248656"/>
            <a:ext cx="4370832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1" name="pill-bg"/>
          <p:cNvSpPr/>
          <p:nvPr/>
        </p:nvSpPr>
        <p:spPr>
          <a:xfrm>
            <a:off x="7452360" y="5522976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1">
              <a:alpha val="14000"/>
            </a:schemeClr>
          </a:solidFill>
          <a:ln/>
        </p:spPr>
      </p:sp>
      <p:sp>
        <p:nvSpPr>
          <p:cNvPr id="22" name="pill"/>
          <p:cNvSpPr txBox="1"/>
          <p:nvPr/>
        </p:nvSpPr>
        <p:spPr>
          <a:xfrm>
            <a:off x="7452360" y="55229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정정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532180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「고정 상태는 블록에 없다」(9/21) 철회 — fixedPosition: "top" 실측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주요 성과 3 / 3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  어느 기기에서나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설치 한 번, 점검 한 번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새 기기에서 무엇을 해야 하는지를 사람이 기억하지 않아도 되게 — 스크립트가 하고, 점검표가 확인합니다.</a:t>
            </a:r>
            <a:endParaRPr lang="en-US" sz="1350" dirty="0"/>
          </a:p>
        </p:txBody>
      </p:sp>
      <p:sp>
        <p:nvSpPr>
          <p:cNvPr id="6" name="doctor-card"/>
          <p:cNvSpPr/>
          <p:nvPr/>
        </p:nvSpPr>
        <p:spPr>
          <a:xfrm>
            <a:off x="548640" y="2011680"/>
            <a:ext cx="3291840" cy="406908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cdbd-doctor.sh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28</a:t>
            </a:r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 / 28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이 맥 점검 항목 전부 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저장소 6 · 링크 · 폴더 신뢰 6 · Claudian 설정 6 · 인증 · 브라우저</a:t>
            </a:r>
            <a:endParaRPr lang="en-US" sz="1300" dirty="0"/>
          </a:p>
        </p:txBody>
      </p:sp>
      <p:sp>
        <p:nvSpPr>
          <p:cNvPr id="10" name="tool-row"/>
          <p:cNvSpPr/>
          <p:nvPr/>
        </p:nvSpPr>
        <p:spPr>
          <a:xfrm>
            <a:off x="4114800" y="2011680"/>
            <a:ext cx="7525512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1" name="tool-circle"/>
          <p:cNvSpPr/>
          <p:nvPr/>
        </p:nvSpPr>
        <p:spPr>
          <a:xfrm>
            <a:off x="4315968" y="217627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tool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0" y="2318004"/>
            <a:ext cx="283464" cy="28346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074920" y="210312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cdbd-setup.sh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245059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새 기기 셋업을 한 번에 — 저장소 · 스킬 · 인증 헬퍼 연결 · 전역 안내. 다시 실행해도 안전</a:t>
            </a:r>
            <a:endParaRPr lang="en-US" sz="1200" dirty="0"/>
          </a:p>
        </p:txBody>
      </p:sp>
      <p:sp>
        <p:nvSpPr>
          <p:cNvPr id="15" name="tool-row"/>
          <p:cNvSpPr/>
          <p:nvPr/>
        </p:nvSpPr>
        <p:spPr>
          <a:xfrm>
            <a:off x="4114800" y="3044952"/>
            <a:ext cx="7525512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6" name="tool-circle"/>
          <p:cNvSpPr/>
          <p:nvPr/>
        </p:nvSpPr>
        <p:spPr>
          <a:xfrm>
            <a:off x="4315968" y="320954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tool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3351276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074920" y="313639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cdbd-sync.sh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3483864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저장소 6개 한 번에 받기 — 내 미커밋 작업은 건드리지 않음</a:t>
            </a:r>
            <a:endParaRPr lang="en-US" sz="1200" dirty="0"/>
          </a:p>
        </p:txBody>
      </p:sp>
      <p:sp>
        <p:nvSpPr>
          <p:cNvPr id="20" name="tool-row"/>
          <p:cNvSpPr/>
          <p:nvPr/>
        </p:nvSpPr>
        <p:spPr>
          <a:xfrm>
            <a:off x="4114800" y="4078224"/>
            <a:ext cx="7525512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1" name="tool-circle"/>
          <p:cNvSpPr/>
          <p:nvPr/>
        </p:nvSpPr>
        <p:spPr>
          <a:xfrm>
            <a:off x="4315968" y="4242816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tool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4384548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74920" y="416966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세션 시작 점검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074920" y="4517136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Claude를 켤 때 0.02초 점검 — 3일 넘게 안 받았거나 인증 문제면 한 줄 경고</a:t>
            </a:r>
            <a:endParaRPr lang="en-US" sz="1200" dirty="0"/>
          </a:p>
        </p:txBody>
      </p:sp>
      <p:sp>
        <p:nvSpPr>
          <p:cNvPr id="25" name="tool-row"/>
          <p:cNvSpPr/>
          <p:nvPr/>
        </p:nvSpPr>
        <p:spPr>
          <a:xfrm>
            <a:off x="4114800" y="5111496"/>
            <a:ext cx="7525512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6" name="tool-circle"/>
          <p:cNvSpPr/>
          <p:nvPr/>
        </p:nvSpPr>
        <p:spPr>
          <a:xfrm>
            <a:off x="4315968" y="527608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tool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5417820"/>
            <a:ext cx="283464" cy="2834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74920" y="520293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자동 재로그인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074920" y="5550408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토큰이 만료되면 공용 계정으로 스스로 재발급 — 실제로 만료 상태에서 복구됨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지금 되는 것 · 아직 아닌 것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05  정직한 범위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「전부 안다」가 아니라 「찾아 읽는다」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셋업이 끝난 기기에서 확인된 것과, 아직 확인하지 못한 것을 나눠 둡니다.</a:t>
            </a:r>
            <a:endParaRPr lang="en-US" sz="1350" dirty="0"/>
          </a:p>
        </p:txBody>
      </p:sp>
      <p:sp>
        <p:nvSpPr>
          <p:cNvPr id="6" name="can-card"/>
          <p:cNvSpPr/>
          <p:nvPr/>
        </p:nvSpPr>
        <p:spPr>
          <a:xfrm>
            <a:off x="548640" y="2011680"/>
            <a:ext cx="5413248" cy="4069080"/>
          </a:xfrm>
          <a:prstGeom prst="roundRect">
            <a:avLst>
              <a:gd name="adj" fmla="val 2697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7" name="not-card"/>
          <p:cNvSpPr/>
          <p:nvPr/>
        </p:nvSpPr>
        <p:spPr>
          <a:xfrm>
            <a:off x="6227064" y="2011680"/>
            <a:ext cx="5413248" cy="4069080"/>
          </a:xfrm>
          <a:prstGeom prst="roundRect">
            <a:avLst>
              <a:gd name="adj" fmla="val 2697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8" name="pill-bg"/>
          <p:cNvSpPr/>
          <p:nvPr/>
        </p:nvSpPr>
        <p:spPr>
          <a:xfrm>
            <a:off x="822960" y="2286000"/>
            <a:ext cx="914400" cy="256032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9" name="pill"/>
          <p:cNvSpPr txBox="1"/>
          <p:nvPr/>
        </p:nvSpPr>
        <p:spPr>
          <a:xfrm>
            <a:off x="822960" y="22860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확인됨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2402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셋업이 끝난 기기에서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80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어느 볼트에서 켜도 팀 규칙(되묻기 · 💰 과금 확인 · 라우팅)이 실린다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필요한 문서를 다른 볼트까지 찾아 읽고 답한다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design 밖 세션에서도 CdBd 일이면 허브 규칙으로 안내된다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에디터를 직접 조작하고, 로그인 만료 시 스스로 복구한다</a:t>
            </a:r>
            <a:endParaRPr lang="en-US" sz="1500" dirty="0"/>
          </a:p>
        </p:txBody>
      </p:sp>
      <p:sp>
        <p:nvSpPr>
          <p:cNvPr id="12" name="pill-bg"/>
          <p:cNvSpPr/>
          <p:nvPr/>
        </p:nvSpPr>
        <p:spPr>
          <a:xfrm>
            <a:off x="6501384" y="2286000"/>
            <a:ext cx="731520" cy="256032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13" name="pill"/>
          <p:cNvSpPr txBox="1"/>
          <p:nvPr/>
        </p:nvSpPr>
        <p:spPr>
          <a:xfrm>
            <a:off x="6501384" y="2286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아직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2402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· 정리할 것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2880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볼트 간 연결은 Obsidian 링크가 아니라 파일 경로로 읽는 방식 ([[링크]] 이동은 의도적 미지원)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사전의 ⏳ 항목은 「모른다」고 답한다 — 외우는 게 아니라 찾아 읽는다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새 기기에서 처음부터 따라 해 본 적 없음 → 리허설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팀원 기기 검증 전 · g1은 셋업 스크립트 미실행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  전체 흐름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9단계, 약 20~30분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정본 = design/ONBOARDING.md §3-6. 처음 받는 팀원은 §3(SSH 키 · clone · Obsidian · obsidian-git, 30~40분)부터.</a:t>
            </a:r>
            <a:endParaRPr lang="en-US" sz="1350" dirty="0"/>
          </a:p>
        </p:txBody>
      </p:sp>
      <p:sp>
        <p:nvSpPr>
          <p:cNvPr id="6" name="prep-card"/>
          <p:cNvSpPr/>
          <p:nvPr/>
        </p:nvSpPr>
        <p:spPr>
          <a:xfrm>
            <a:off x="548640" y="2011680"/>
            <a:ext cx="3108960" cy="40690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미리 받을 것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GitHub CdBd-in 계정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CdBd 공용 계정 (이메일 · 비밀번호)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내 전용 테스트 페이지 주소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cdbd.env의 Supabase 2줄</a:t>
            </a:r>
            <a:endParaRPr lang="en-US" sz="1250" dirty="0"/>
          </a:p>
        </p:txBody>
      </p:sp>
      <p:sp>
        <p:nvSpPr>
          <p:cNvPr id="9" name="warn-box"/>
          <p:cNvSpPr/>
          <p:nvPr/>
        </p:nvSpPr>
        <p:spPr>
          <a:xfrm>
            <a:off x="731520" y="4480560"/>
            <a:ext cx="2743200" cy="1417320"/>
          </a:xfrm>
          <a:prstGeom prst="roundRect">
            <a:avLst>
              <a:gd name="adj" fmla="val 6452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57200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🔴 credentials.json 복사 금지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토큰이 쓸 때마다 바뀌어 복사본끼리 서로 로그인을 풉니다. 셋업이 내 기기용을 자동으로 받습니다.</a:t>
            </a:r>
            <a:endParaRPr lang="en-US" sz="1100" dirty="0"/>
          </a:p>
        </p:txBody>
      </p:sp>
      <p:sp>
        <p:nvSpPr>
          <p:cNvPr id="11" name="flow-card"/>
          <p:cNvSpPr/>
          <p:nvPr/>
        </p:nvSpPr>
        <p:spPr>
          <a:xfrm>
            <a:off x="3931920" y="201168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12" name="flow-num"/>
          <p:cNvSpPr/>
          <p:nvPr/>
        </p:nvSpPr>
        <p:spPr>
          <a:xfrm>
            <a:off x="4114800" y="235915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14800" y="23591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773168" y="226771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Claude Code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6517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설치 · 로그인</a:t>
            </a:r>
            <a:endParaRPr lang="en-US" sz="1200" dirty="0"/>
          </a:p>
        </p:txBody>
      </p:sp>
      <p:sp>
        <p:nvSpPr>
          <p:cNvPr id="16" name="flow-card"/>
          <p:cNvSpPr/>
          <p:nvPr/>
        </p:nvSpPr>
        <p:spPr>
          <a:xfrm>
            <a:off x="6519672" y="201168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17" name="flow-num"/>
          <p:cNvSpPr/>
          <p:nvPr/>
        </p:nvSpPr>
        <p:spPr>
          <a:xfrm>
            <a:off x="6702552" y="235915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02552" y="23591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226771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Claudian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26517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4개 볼트에 복사</a:t>
            </a:r>
            <a:endParaRPr lang="en-US" sz="1200" dirty="0"/>
          </a:p>
        </p:txBody>
      </p:sp>
      <p:sp>
        <p:nvSpPr>
          <p:cNvPr id="21" name="flow-card"/>
          <p:cNvSpPr/>
          <p:nvPr/>
        </p:nvSpPr>
        <p:spPr>
          <a:xfrm>
            <a:off x="9107424" y="201168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22" name="flow-num"/>
          <p:cNvSpPr/>
          <p:nvPr/>
        </p:nvSpPr>
        <p:spPr>
          <a:xfrm>
            <a:off x="9290304" y="235915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290304" y="23591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948672" y="226771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gstack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948672" y="26517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헤드리스 브라우저</a:t>
            </a:r>
            <a:endParaRPr lang="en-US" sz="1200" dirty="0"/>
          </a:p>
        </p:txBody>
      </p:sp>
      <p:sp>
        <p:nvSpPr>
          <p:cNvPr id="26" name="flow-card"/>
          <p:cNvSpPr/>
          <p:nvPr/>
        </p:nvSpPr>
        <p:spPr>
          <a:xfrm>
            <a:off x="3931920" y="342900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27" name="flow-num"/>
          <p:cNvSpPr/>
          <p:nvPr/>
        </p:nvSpPr>
        <p:spPr>
          <a:xfrm>
            <a:off x="4114800" y="377647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114800" y="3776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773168" y="368503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셋업 스크립트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4773168" y="406908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cdbd-setup.sh</a:t>
            </a:r>
            <a:endParaRPr lang="en-US" sz="1200" dirty="0"/>
          </a:p>
        </p:txBody>
      </p:sp>
      <p:sp>
        <p:nvSpPr>
          <p:cNvPr id="31" name="flow-card"/>
          <p:cNvSpPr/>
          <p:nvPr/>
        </p:nvSpPr>
        <p:spPr>
          <a:xfrm>
            <a:off x="6519672" y="342900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32" name="flow-num"/>
          <p:cNvSpPr/>
          <p:nvPr/>
        </p:nvSpPr>
        <p:spPr>
          <a:xfrm>
            <a:off x="6702552" y="377647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702552" y="3776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68503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cdbd.env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406908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공용 계정 채우기</a:t>
            </a:r>
            <a:endParaRPr lang="en-US" sz="1200" dirty="0"/>
          </a:p>
        </p:txBody>
      </p:sp>
      <p:sp>
        <p:nvSpPr>
          <p:cNvPr id="36" name="flow-card"/>
          <p:cNvSpPr/>
          <p:nvPr/>
        </p:nvSpPr>
        <p:spPr>
          <a:xfrm>
            <a:off x="9107424" y="342900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37" name="flow-num"/>
          <p:cNvSpPr/>
          <p:nvPr/>
        </p:nvSpPr>
        <p:spPr>
          <a:xfrm>
            <a:off x="9290304" y="377647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90304" y="3776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948672" y="368503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폴더 신뢰 승인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9948672" y="406908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볼트 6곳 · 1번씩</a:t>
            </a:r>
            <a:endParaRPr lang="en-US" sz="1200" dirty="0"/>
          </a:p>
        </p:txBody>
      </p:sp>
      <p:sp>
        <p:nvSpPr>
          <p:cNvPr id="41" name="flow-card"/>
          <p:cNvSpPr/>
          <p:nvPr/>
        </p:nvSpPr>
        <p:spPr>
          <a:xfrm>
            <a:off x="3931920" y="484632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42" name="flow-num"/>
          <p:cNvSpPr/>
          <p:nvPr/>
        </p:nvSpPr>
        <p:spPr>
          <a:xfrm>
            <a:off x="4114800" y="519379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114800" y="51937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773168" y="51023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Figma 연결</a:t>
            </a:r>
            <a:endParaRPr lang="en-US" sz="1450" dirty="0"/>
          </a:p>
        </p:txBody>
      </p:sp>
      <p:sp>
        <p:nvSpPr>
          <p:cNvPr id="45" name="Text 43"/>
          <p:cNvSpPr txBox="1"/>
          <p:nvPr/>
        </p:nvSpPr>
        <p:spPr>
          <a:xfrm>
            <a:off x="4773168" y="548640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claude.ai 커넥터</a:t>
            </a:r>
            <a:endParaRPr lang="en-US" sz="1200" dirty="0"/>
          </a:p>
        </p:txBody>
      </p:sp>
      <p:sp>
        <p:nvSpPr>
          <p:cNvPr id="46" name="flow-card"/>
          <p:cNvSpPr/>
          <p:nvPr/>
        </p:nvSpPr>
        <p:spPr>
          <a:xfrm>
            <a:off x="6519672" y="484632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47" name="flow-num"/>
          <p:cNvSpPr/>
          <p:nvPr/>
        </p:nvSpPr>
        <p:spPr>
          <a:xfrm>
            <a:off x="6702552" y="519379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702552" y="51937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360920" y="51023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점검표</a:t>
            </a:r>
            <a:endParaRPr lang="en-US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7360920" y="548640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✅ 28 · ❌ 0</a:t>
            </a:r>
            <a:endParaRPr lang="en-US" sz="1200" dirty="0"/>
          </a:p>
        </p:txBody>
      </p:sp>
      <p:sp>
        <p:nvSpPr>
          <p:cNvPr id="51" name="flow-card"/>
          <p:cNvSpPr/>
          <p:nvPr/>
        </p:nvSpPr>
        <p:spPr>
          <a:xfrm>
            <a:off x="9107424" y="4846320"/>
            <a:ext cx="2496312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52" name="flow-num"/>
          <p:cNvSpPr/>
          <p:nvPr/>
        </p:nvSpPr>
        <p:spPr>
          <a:xfrm>
            <a:off x="9290304" y="519379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290304" y="51937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9948672" y="51023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확인 질문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9948672" y="548640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「대체어 나오죠?」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  Step 1~5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설치와 셋업 스크립트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터미널에 그대로 붙여 넣으면 됩니다. 셋업 스크립트는 몇 번 다시 실행해도 안전합니다.</a:t>
            </a:r>
            <a:endParaRPr lang="en-US" sz="1350" dirty="0"/>
          </a:p>
        </p:txBody>
      </p:sp>
      <p:sp>
        <p:nvSpPr>
          <p:cNvPr id="6" name="code-card"/>
          <p:cNvSpPr/>
          <p:nvPr/>
        </p:nvSpPr>
        <p:spPr>
          <a:xfrm>
            <a:off x="548640" y="2011680"/>
            <a:ext cx="6949440" cy="4069080"/>
          </a:xfrm>
          <a:prstGeom prst="roundRect">
            <a:avLst>
              <a:gd name="adj" fmla="val 2697"/>
            </a:avLst>
          </a:prstGeom>
          <a:solidFill>
            <a:schemeClr val="tx1"/>
          </a:solidFill>
          <a:ln/>
        </p:spPr>
      </p:sp>
      <p:sp>
        <p:nvSpPr>
          <p:cNvPr id="7" name="code"/>
          <p:cNvSpPr txBox="1"/>
          <p:nvPr/>
        </p:nvSpPr>
        <p:spPr>
          <a:xfrm>
            <a:off x="777240" y="2212848"/>
            <a:ext cx="6583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  Claude Code 설치 · 로그인 (끝나면 /exit)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curl -fsSL https://claude.ai/install.sh | bash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2  Claudian 플러그인 — 허브에서 4개 볼트로 복사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v in cdbd-design-system cdbd-marketing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cdbd-templates makevu-qrstp; do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cp -R .obsidian/plugins/realclaudian "$v/.obsidian/plugins/"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3  gstack (Bun 없으면 먼저 설치)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--depth 1 https://github.com/garrytan/gstack.git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~/.claude/skills/gstack &amp;&amp; cd ~/.claude/skills/gstack &amp;&amp; ./setup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4 · 5  셋업 → cdbd.env 채우기 → 셋업 한 번 더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bash ~/Documents/GitHub/design/tools/cdbd-setup.sh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 -e ~/.config/cdbd/cdbd.env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cdbd.env에 넣을 것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395728"/>
          <a:ext cx="38679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719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키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값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CDBD_EMAIL</a:t>
                      </a:r>
                      <a:endParaRPr lang="en-US" sz="9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CDBD_PASSWORD</a:t>
                      </a:r>
                      <a:endParaRPr lang="en-US" sz="9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CdBd 공용 계정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CDBD_SUPABASE_URL</a:t>
                      </a:r>
                      <a:endParaRPr lang="en-US" sz="9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CDBD_SUPABASE_ANON_KEY</a:t>
                      </a:r>
                      <a:endParaRPr lang="en-US" sz="9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담당자 · 다른 팀원 cdbd.env에서 2줄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FIGMA_PAT</a:t>
                      </a:r>
                      <a:endParaRPr lang="en-US" sz="9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비워 둬도 됨 (선택)</a:t>
                      </a:r>
                      <a:endParaRPr lang="en-US" sz="11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ip-box"/>
          <p:cNvSpPr/>
          <p:nvPr/>
        </p:nvSpPr>
        <p:spPr>
          <a:xfrm>
            <a:off x="7772400" y="4846320"/>
            <a:ext cx="3867912" cy="1234440"/>
          </a:xfrm>
          <a:prstGeom prst="roundRect">
            <a:avLst>
              <a:gd name="adj" fmla="val 7407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955280" y="4937760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성공 신호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셋업 스크립트 마지막 줄이 「⚠️ 확인 필요 0」. 처음엔 「cdbd.env 견본을 만들었습니다」가 나오는 게 정상입니다.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팀원 셋업 가이드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  Step 6~9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승인하고, 점검하고, 물어본다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폴더 신뢰 승인 전에는 볼트의 Claude 허용 설정이 무시됩니다 — 10/01에 실제로 확인한 함정입니다.</a:t>
            </a:r>
            <a:endParaRPr lang="en-US" sz="1350" dirty="0"/>
          </a:p>
        </p:txBody>
      </p:sp>
      <p:sp>
        <p:nvSpPr>
          <p:cNvPr id="6" name="s69-card"/>
          <p:cNvSpPr/>
          <p:nvPr/>
        </p:nvSpPr>
        <p:spPr>
          <a:xfrm>
            <a:off x="548640" y="2011680"/>
            <a:ext cx="541324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7" name="s69-num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21284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폴더 신뢰 승인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54203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볼트 6곳에서 한 번씩</a:t>
            </a:r>
            <a:endParaRPr lang="en-US" sz="1200" dirty="0"/>
          </a:p>
        </p:txBody>
      </p:sp>
      <p:sp>
        <p:nvSpPr>
          <p:cNvPr id="11" name="s69-code-bg"/>
          <p:cNvSpPr/>
          <p:nvPr/>
        </p:nvSpPr>
        <p:spPr>
          <a:xfrm>
            <a:off x="777240" y="2971800"/>
            <a:ext cx="4956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017520"/>
            <a:ext cx="4590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~/Documents/GitHub/design &amp;&amp; claude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1. Yes, proceed → /exit</a:t>
            </a:r>
            <a:endParaRPr lang="en-US" sz="1100" dirty="0"/>
          </a:p>
        </p:txBody>
      </p:sp>
      <p:sp>
        <p:nvSpPr>
          <p:cNvPr id="13" name="s69-card"/>
          <p:cNvSpPr/>
          <p:nvPr/>
        </p:nvSpPr>
        <p:spPr>
          <a:xfrm>
            <a:off x="6231636" y="2011680"/>
            <a:ext cx="541324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69-num"/>
          <p:cNvSpPr/>
          <p:nvPr/>
        </p:nvSpPr>
        <p:spPr>
          <a:xfrm>
            <a:off x="6460236" y="2240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023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191756" y="221284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Figma 연결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91756" y="254203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계정 단위 · 기기마다 불필요</a:t>
            </a:r>
            <a:endParaRPr lang="en-US" sz="1200" dirty="0"/>
          </a:p>
        </p:txBody>
      </p:sp>
      <p:sp>
        <p:nvSpPr>
          <p:cNvPr id="18" name="s69-code-bg"/>
          <p:cNvSpPr/>
          <p:nvPr/>
        </p:nvSpPr>
        <p:spPr>
          <a:xfrm>
            <a:off x="6460236" y="2971800"/>
            <a:ext cx="4956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43116" y="3017520"/>
            <a:ext cx="4590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claude.ai → 설정 → 커넥터 → Figma</a:t>
            </a:r>
            <a:endParaRPr lang="en-US" sz="1100" dirty="0"/>
          </a:p>
        </p:txBody>
      </p:sp>
      <p:sp>
        <p:nvSpPr>
          <p:cNvPr id="20" name="s69-card"/>
          <p:cNvSpPr/>
          <p:nvPr/>
        </p:nvSpPr>
        <p:spPr>
          <a:xfrm>
            <a:off x="548640" y="4114800"/>
            <a:ext cx="541324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1" name="s69-num"/>
          <p:cNvSpPr/>
          <p:nvPr/>
        </p:nvSpPr>
        <p:spPr>
          <a:xfrm>
            <a:off x="777240" y="4343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431596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점검표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464515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전부 ✅이면 셋업 끝</a:t>
            </a:r>
            <a:endParaRPr lang="en-US" sz="1200" dirty="0"/>
          </a:p>
        </p:txBody>
      </p:sp>
      <p:sp>
        <p:nvSpPr>
          <p:cNvPr id="25" name="s69-code-bg"/>
          <p:cNvSpPr/>
          <p:nvPr/>
        </p:nvSpPr>
        <p:spPr>
          <a:xfrm>
            <a:off x="777240" y="5074920"/>
            <a:ext cx="4956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0120" y="5120640"/>
            <a:ext cx="4590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bash ~/Documents/GitHub/design/tools/cdbd-doctor.sh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결과 — ✅ 28 · ⚠️ 0 · ❌ 0</a:t>
            </a:r>
            <a:endParaRPr lang="en-US" sz="1100" dirty="0"/>
          </a:p>
        </p:txBody>
      </p:sp>
      <p:sp>
        <p:nvSpPr>
          <p:cNvPr id="27" name="s69-card"/>
          <p:cNvSpPr/>
          <p:nvPr/>
        </p:nvSpPr>
        <p:spPr>
          <a:xfrm>
            <a:off x="6231636" y="4114800"/>
            <a:ext cx="541324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8" name="s69-num"/>
          <p:cNvSpPr/>
          <p:nvPr/>
        </p:nvSpPr>
        <p:spPr>
          <a:xfrm>
            <a:off x="6460236" y="4343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60236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191756" y="431596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확인 질문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91756" y="464515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Claudian에서 아무 볼트나</a:t>
            </a:r>
            <a:endParaRPr lang="en-US" sz="1200" dirty="0"/>
          </a:p>
        </p:txBody>
      </p:sp>
      <p:sp>
        <p:nvSpPr>
          <p:cNvPr id="32" name="s69-code-bg"/>
          <p:cNvSpPr/>
          <p:nvPr/>
        </p:nvSpPr>
        <p:spPr>
          <a:xfrm>
            <a:off x="6460236" y="5074920"/>
            <a:ext cx="4956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43116" y="5120640"/>
            <a:ext cx="4590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「개별 URL에서 이름 칸이 비면 대체어가 나오죠?」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→ 「아니요 … 빈칸으로 나옵니다」면 정상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막혔을 때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07  점검표 해결표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점검표의 ❌마다 할 일이 정해져 있다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Claude를 켰을 때 「⚠️ CdBd 셋업 점검: …」 한 줄이 보이면 세션 시작 점검이 문제를 찾은 것입니다.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834640"/>
                <a:gridCol w="51480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점검표 표시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원인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해결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저장소 「N개 뒤처짐」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최근 변경을 안 받음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bash …/tools/cdbd-sync.sh</a:t>
                      </a:r>
                      <a:endParaRPr lang="en-US" sz="11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저장소 「갈라짐」 · 「미커밋」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내 기기에만 있는 변경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담당자와 확인 후 push (sync는 안전하게 건너뜀)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링크 「없음/깨짐」 · 「옛 사본」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셋업 전 · 옛 헬퍼 남음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bash …/tools/cdbd-setup.sh</a:t>
                      </a:r>
                      <a:endParaRPr lang="en-US" sz="11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폴더 신뢰 「미승인」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 폴더에서 Claude를 안 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6 — cd 폴더 &amp;&amp; claude → Yes, proceed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Claudian 「꺼짐」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「사용자 설정 불러오기」 OFF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Claudian 설정에서 켜기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cdbd.env 「빈 키」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5 미완료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값 채우고 셋업 재실행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 실패 · 「재로그인 거부」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공용 계정 비밀번호 변경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cdbd.env 비밀번호 갱신 (전 기기 공통)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gstack 없음 · browse 실패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Step 3 미완료 · 빌드 문제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cd ~/.claude/skills/gstack &amp;&amp; bun install &amp;&amp; bun run build</a:t>
                      </a:r>
                      <a:endParaRPr lang="en-US" sz="11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clone 실패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SSH 키 미등록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§3-2 · ssh -T git@github.com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운영 규칙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08  공용 계정이라서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계정 하나를 모두가 쓴다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Claude가 이 규칙대로 움직이도록 허브 규칙에 들어 있습니다 — 사람도 같은 기준으로 씁니다.</a:t>
            </a:r>
            <a:endParaRPr lang="en-US" sz="1350" dirty="0"/>
          </a:p>
        </p:txBody>
      </p:sp>
      <p:sp>
        <p:nvSpPr>
          <p:cNvPr id="6" name="rule3-card"/>
          <p:cNvSpPr/>
          <p:nvPr/>
        </p:nvSpPr>
        <p:spPr>
          <a:xfrm>
            <a:off x="548640" y="2011680"/>
            <a:ext cx="3511296" cy="4069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7" name="rule3-circle"/>
          <p:cNvSpPr/>
          <p:nvPr/>
        </p:nvSpPr>
        <p:spPr>
          <a:xfrm>
            <a:off x="822960" y="2286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rule3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24612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과금은 금액을 말하고 승인받는다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0690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게시 · URL 생성/연장 · 개별 URL · 주소 변경 · 팀원 초대 · 예약 카드 · 충전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98348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크레딧 잔액이 모두의 것. 한 사람의 자동화가 전원의 크레딧을 쓴다</a:t>
            </a:r>
            <a:endParaRPr lang="en-US" sz="1200" dirty="0"/>
          </a:p>
        </p:txBody>
      </p:sp>
      <p:sp>
        <p:nvSpPr>
          <p:cNvPr id="12" name="rule3-card"/>
          <p:cNvSpPr/>
          <p:nvPr/>
        </p:nvSpPr>
        <p:spPr>
          <a:xfrm>
            <a:off x="4338828" y="2011680"/>
            <a:ext cx="3511296" cy="4069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13" name="rule3-circle"/>
          <p:cNvSpPr/>
          <p:nvPr/>
        </p:nvSpPr>
        <p:spPr>
          <a:xfrm>
            <a:off x="4613148" y="2286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rule3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4688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3148" y="324612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테스트는 내 전용 페이지에서만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13148" y="40690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남의 작업 페이지는 조작 전에 확인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3148" y="498348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에디터는 자동저장 — 두 세션이 같은 페이지를 만지면 서로 덮어쓴다</a:t>
            </a:r>
            <a:endParaRPr lang="en-US" sz="1200" dirty="0"/>
          </a:p>
        </p:txBody>
      </p:sp>
      <p:sp>
        <p:nvSpPr>
          <p:cNvPr id="18" name="rule3-card"/>
          <p:cNvSpPr/>
          <p:nvPr/>
        </p:nvSpPr>
        <p:spPr>
          <a:xfrm>
            <a:off x="8129016" y="2011680"/>
            <a:ext cx="3511296" cy="4069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sp>
        <p:nvSpPr>
          <p:cNvPr id="19" name="rule3-circle"/>
          <p:cNvSpPr/>
          <p:nvPr/>
        </p:nvSpPr>
        <p:spPr>
          <a:xfrm>
            <a:off x="8403336" y="2286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rule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4688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03336" y="324612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로그인은 기기마다 각자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03336" y="40690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credentials.json 복사 금지 · cdbd.env만 옮긴다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403336" y="498348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회전형 토큰이라 복사본끼리 무효화 — 자동 재로그인이 각자 받아 준다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남은 일과 결정할 것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068312" y="384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09  다음 순서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7665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리허설 → 팀원 2명 → 🎯 목표 도달</a:t>
            </a:r>
            <a:endParaRPr lang="en-US" sz="30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335024"/>
            <a:ext cx="11091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목표 도달 판정 = 팀원 2명의 기기(Claudian)에서 수용 테스트 전 문항 통과.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31520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4251960"/>
                <a:gridCol w="1463040"/>
                <a:gridCol w="1005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순서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할 일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예상</a:t>
                      </a:r>
                      <a:endParaRPr lang="en-US" sz="10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새 기기 리허설 — 이 가이드를 글자 그대로 (설치 Step 1~3 첫 확인)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Claude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45분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g1 맥 셋업 스크립트 실행 · cdbd.env 옮기기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강현이 + Claude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10분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문서 정리 3건 — 영상 위치 · 제품팀 결함 전달문 · 노트 정정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Claude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1~1.5시간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팀원 2명 일정 · 팀원별 전용 테스트 페이지 정하기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강현이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볼트 공유 팀원 셋업 → 점검표 ✅ → 수용 테스트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팀원 + Claude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30~45분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GitHub 공유 팀원 셋업 → 통과 → 🎯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팀원 + Claude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45분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decide-box"/>
          <p:cNvSpPr/>
          <p:nvPr/>
        </p:nvSpPr>
        <p:spPr>
          <a:xfrm>
            <a:off x="8138160" y="1965960"/>
            <a:ext cx="3502152" cy="1325880"/>
          </a:xfrm>
          <a:prstGeom prst="roundRect">
            <a:avLst>
              <a:gd name="adj" fmla="val 8276"/>
            </a:avLst>
          </a:prstGeom>
          <a:solidFill>
            <a:schemeClr val="accent5">
              <a:alpha val="10000"/>
            </a:scheme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66760" y="21031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결정 필요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팀원 2명 일정과 팀원별 전용 테스트 페이지 주소. 공용 계정이라 사람마다 하나씩 필요합니다.</a:t>
            </a:r>
            <a:endParaRPr lang="en-US" sz="1300" dirty="0"/>
          </a:p>
        </p:txBody>
      </p:sp>
      <p:sp>
        <p:nvSpPr>
          <p:cNvPr id="9" name="risk-card"/>
          <p:cNvSpPr/>
          <p:nvPr/>
        </p:nvSpPr>
        <p:spPr>
          <a:xfrm>
            <a:off x="8138160" y="3520440"/>
            <a:ext cx="3502152" cy="25603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66760" y="37033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알려진 위험 · 미해결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40690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blockById()가 멀티페이지에서 다른 페이지 카드를 잡을 수 있음 (미수리)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「알림 설정」 버튼 판정 62 ↔ 123 충돌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AGENTS.md(Codex용) 미갱신 — 보류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DBD Brand">
  <a:themeElements>
    <a:clrScheme name="CDBD Brand">
      <a:dk1>
        <a:srgbClr val="1D1D1F"/>
      </a:dk1>
      <a:lt1>
        <a:srgbClr val="FFFFFF"/>
      </a:lt1>
      <a:dk2>
        <a:srgbClr val="6E6E73"/>
      </a:dk2>
      <a:lt2>
        <a:srgbClr val="F5F5F7"/>
      </a:lt2>
      <a:accent1>
        <a:srgbClr val="6C4CFF"/>
      </a:accent1>
      <a:accent2>
        <a:srgbClr val="EEEAFB"/>
      </a:accent2>
      <a:accent3>
        <a:srgbClr val="1F8A4C"/>
      </a:accent3>
      <a:accent4>
        <a:srgbClr val="D9890F"/>
      </a:accent4>
      <a:accent5>
        <a:srgbClr val="C62F3A"/>
      </a:accent5>
      <a:accent6>
        <a:srgbClr val="9B7DFF"/>
      </a:accent6>
      <a:hlink>
        <a:srgbClr val="6C4CFF"/>
      </a:hlink>
      <a:folHlink>
        <a:srgbClr val="9B7DFF"/>
      </a:folHlink>
    </a:clrScheme>
    <a:fontScheme name="CDBD Brand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CdBd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CdBd 기능별 경로 가이드 — 실행 결과 보고</dc:title>
  <dc:subject>PptxGenJS Presentation</dc:subject>
  <dc:creator>강현이 · Claude</dc:creator>
  <cp:lastModifiedBy>강현이 · Claude</cp:lastModifiedBy>
  <cp:revision>1</cp:revision>
  <dcterms:created xsi:type="dcterms:W3CDTF">2026-10-02T02:49:39Z</dcterms:created>
  <dcterms:modified xsi:type="dcterms:W3CDTF">2026-10-02T02:49:39Z</dcterms:modified>
</cp:coreProperties>
</file>