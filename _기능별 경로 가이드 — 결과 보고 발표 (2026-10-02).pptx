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F"/>
        </a:solidFill>
        <a:effectLst/>
        <a:uFillTx/>
        <a:latin typeface="+mj-lt"/>
        <a:ea typeface="+mj-ea"/>
        <a:cs typeface="+mj-cs"/>
        <a:sym typeface="Pretendard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D3CEFF"/>
          </a:solidFill>
        </a:fill>
      </a:tcStyle>
    </a:wholeTbl>
    <a:band2H>
      <a:tcTxStyle b="def" i="def"/>
      <a:tcStyle>
        <a:tcBdr/>
        <a:fill>
          <a:solidFill>
            <a:srgbClr val="EAE8FF"/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CBD9CE"/>
          </a:solidFill>
        </a:fill>
      </a:tcStyle>
    </a:wholeTbl>
    <a:band2H>
      <a:tcTxStyle b="def" i="def"/>
      <a:tcStyle>
        <a:tcBdr/>
        <a:fill>
          <a:solidFill>
            <a:srgbClr val="E7EDE8"/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DED6FF"/>
          </a:solidFill>
        </a:fill>
      </a:tcStyle>
    </a:wholeTbl>
    <a:band2H>
      <a:tcTxStyle b="def" i="def"/>
      <a:tcStyle>
        <a:tcBdr/>
        <a:fill>
          <a:solidFill>
            <a:srgbClr val="EFECFF"/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chemeClr val="accent2">
              <a:hueOff val="-15247060"/>
              <a:satOff val="-68000"/>
              <a:lumOff val="4901"/>
            </a:schemeClr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rgbClr val="1D1D1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D1D1F"/>
              </a:solidFill>
              <a:prstDash val="solid"/>
              <a:round/>
            </a:ln>
          </a:top>
          <a:bottom>
            <a:ln w="254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hueOff val="-15247060"/>
              <a:satOff val="-68000"/>
              <a:lumOff val="4901"/>
            </a:schemeClr>
          </a:solidFill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D1D1F"/>
              </a:solidFill>
              <a:prstDash val="solid"/>
              <a:round/>
            </a:ln>
          </a:top>
          <a:bottom>
            <a:ln w="254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1D1D1F"/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1D1D1F"/>
          </a:solidFill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chemeClr val="accent2">
          <a:hueOff val="-15247060"/>
          <a:satOff val="-68000"/>
          <a:lumOff val="4901"/>
        </a:schemeClr>
      </a:tcTxStyle>
      <a:tcStyle>
        <a:tcBdr>
          <a:lef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2">
                  <a:hueOff val="-15247060"/>
                  <a:satOff val="-68000"/>
                  <a:lumOff val="4901"/>
                </a:schemeClr>
              </a:solidFill>
              <a:prstDash val="solid"/>
              <a:round/>
            </a:ln>
          </a:insideV>
        </a:tcBdr>
        <a:fill>
          <a:solidFill>
            <a:srgbClr val="1D1D1F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1D1D1F"/>
        </a:fontRef>
        <a:srgbClr val="1D1D1F"/>
      </a:tcTxStyle>
      <a:tcStyle>
        <a:tcBdr>
          <a:left>
            <a:ln w="12700" cap="flat">
              <a:solidFill>
                <a:srgbClr val="1D1D1F"/>
              </a:solidFill>
              <a:prstDash val="solid"/>
              <a:round/>
            </a:ln>
          </a:left>
          <a:right>
            <a:ln w="12700" cap="flat">
              <a:solidFill>
                <a:srgbClr val="1D1D1F"/>
              </a:solidFill>
              <a:prstDash val="solid"/>
              <a:round/>
            </a:ln>
          </a:right>
          <a:top>
            <a:ln w="12700" cap="flat">
              <a:solidFill>
                <a:srgbClr val="1D1D1F"/>
              </a:solidFill>
              <a:prstDash val="solid"/>
              <a:round/>
            </a:ln>
          </a:top>
          <a:bottom>
            <a:ln w="127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solidFill>
                <a:srgbClr val="1D1D1F"/>
              </a:solidFill>
              <a:prstDash val="solid"/>
              <a:round/>
            </a:ln>
          </a:insideH>
          <a:insideV>
            <a:ln w="12700" cap="flat">
              <a:solidFill>
                <a:srgbClr val="1D1D1F"/>
              </a:solidFill>
              <a:prstDash val="solid"/>
              <a:round/>
            </a:ln>
          </a:insideV>
        </a:tcBdr>
        <a:fill>
          <a:solidFill>
            <a:srgbClr val="1D1D1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2">
              <a:hueOff val="-15247060"/>
              <a:satOff val="-68000"/>
              <a:lumOff val="4901"/>
            </a:schemeClr>
          </a:solidFill>
        </a:fill>
      </a:tcStyle>
    </a:band2H>
    <a:firstCol>
      <a:tcTxStyle b="on" i="off">
        <a:font>
          <a:latin typeface="Pretendard Bold"/>
          <a:ea typeface="Pretendard Bold"/>
          <a:cs typeface="Pretendard Bold"/>
        </a:font>
        <a:srgbClr val="1D1D1F"/>
      </a:tcTxStyle>
      <a:tcStyle>
        <a:tcBdr>
          <a:left>
            <a:ln w="12700" cap="flat">
              <a:solidFill>
                <a:srgbClr val="1D1D1F"/>
              </a:solidFill>
              <a:prstDash val="solid"/>
              <a:round/>
            </a:ln>
          </a:left>
          <a:right>
            <a:ln w="12700" cap="flat">
              <a:solidFill>
                <a:srgbClr val="1D1D1F"/>
              </a:solidFill>
              <a:prstDash val="solid"/>
              <a:round/>
            </a:ln>
          </a:right>
          <a:top>
            <a:ln w="12700" cap="flat">
              <a:solidFill>
                <a:srgbClr val="1D1D1F"/>
              </a:solidFill>
              <a:prstDash val="solid"/>
              <a:round/>
            </a:ln>
          </a:top>
          <a:bottom>
            <a:ln w="127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solidFill>
                <a:srgbClr val="1D1D1F"/>
              </a:solidFill>
              <a:prstDash val="solid"/>
              <a:round/>
            </a:ln>
          </a:insideH>
          <a:insideV>
            <a:ln w="12700" cap="flat">
              <a:solidFill>
                <a:srgbClr val="1D1D1F"/>
              </a:solidFill>
              <a:prstDash val="solid"/>
              <a:round/>
            </a:ln>
          </a:insideV>
        </a:tcBdr>
        <a:fill>
          <a:solidFill>
            <a:srgbClr val="1D1D1F">
              <a:alpha val="20000"/>
            </a:srgbClr>
          </a:solidFill>
        </a:fill>
      </a:tcStyle>
    </a:firstCol>
    <a:lastRow>
      <a:tcTxStyle b="on" i="off">
        <a:font>
          <a:latin typeface="Pretendard Bold"/>
          <a:ea typeface="Pretendard Bold"/>
          <a:cs typeface="Pretendard Bold"/>
        </a:font>
        <a:srgbClr val="1D1D1F"/>
      </a:tcTxStyle>
      <a:tcStyle>
        <a:tcBdr>
          <a:left>
            <a:ln w="12700" cap="flat">
              <a:solidFill>
                <a:srgbClr val="1D1D1F"/>
              </a:solidFill>
              <a:prstDash val="solid"/>
              <a:round/>
            </a:ln>
          </a:left>
          <a:right>
            <a:ln w="12700" cap="flat">
              <a:solidFill>
                <a:srgbClr val="1D1D1F"/>
              </a:solidFill>
              <a:prstDash val="solid"/>
              <a:round/>
            </a:ln>
          </a:right>
          <a:top>
            <a:ln w="50800" cap="flat">
              <a:solidFill>
                <a:srgbClr val="1D1D1F"/>
              </a:solidFill>
              <a:prstDash val="solid"/>
              <a:round/>
            </a:ln>
          </a:top>
          <a:bottom>
            <a:ln w="127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solidFill>
                <a:srgbClr val="1D1D1F"/>
              </a:solidFill>
              <a:prstDash val="solid"/>
              <a:round/>
            </a:ln>
          </a:insideH>
          <a:insideV>
            <a:ln w="12700" cap="flat">
              <a:solidFill>
                <a:srgbClr val="1D1D1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etendard Bold"/>
          <a:ea typeface="Pretendard Bold"/>
          <a:cs typeface="Pretendard Bold"/>
        </a:font>
        <a:srgbClr val="1D1D1F"/>
      </a:tcTxStyle>
      <a:tcStyle>
        <a:tcBdr>
          <a:left>
            <a:ln w="12700" cap="flat">
              <a:solidFill>
                <a:srgbClr val="1D1D1F"/>
              </a:solidFill>
              <a:prstDash val="solid"/>
              <a:round/>
            </a:ln>
          </a:left>
          <a:right>
            <a:ln w="12700" cap="flat">
              <a:solidFill>
                <a:srgbClr val="1D1D1F"/>
              </a:solidFill>
              <a:prstDash val="solid"/>
              <a:round/>
            </a:ln>
          </a:right>
          <a:top>
            <a:ln w="12700" cap="flat">
              <a:solidFill>
                <a:srgbClr val="1D1D1F"/>
              </a:solidFill>
              <a:prstDash val="solid"/>
              <a:round/>
            </a:ln>
          </a:top>
          <a:bottom>
            <a:ln w="25400" cap="flat">
              <a:solidFill>
                <a:srgbClr val="1D1D1F"/>
              </a:solidFill>
              <a:prstDash val="solid"/>
              <a:round/>
            </a:ln>
          </a:bottom>
          <a:insideH>
            <a:ln w="12700" cap="flat">
              <a:solidFill>
                <a:srgbClr val="1D1D1F"/>
              </a:solidFill>
              <a:prstDash val="solid"/>
              <a:round/>
            </a:ln>
          </a:insideH>
          <a:insideV>
            <a:ln w="12700" cap="flat">
              <a:solidFill>
                <a:srgbClr val="1D1D1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1pPr>
    <a:lvl2pPr indent="2286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2pPr>
    <a:lvl3pPr indent="4572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3pPr>
    <a:lvl4pPr indent="6858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4pPr>
    <a:lvl5pPr indent="9144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5pPr>
    <a:lvl6pPr indent="11430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6pPr>
    <a:lvl7pPr indent="13716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7pPr>
    <a:lvl8pPr indent="16002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8pPr>
    <a:lvl9pPr indent="1828800" latinLnBrk="0">
      <a:defRPr sz="1200">
        <a:solidFill>
          <a:srgbClr val="1D1D1F"/>
        </a:solidFill>
        <a:latin typeface="+mj-lt"/>
        <a:ea typeface="+mj-ea"/>
        <a:cs typeface="+mj-cs"/>
        <a:sym typeface="Pretendard Regular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오늘은 두 부분입니다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앞부분은 짧게 결과 보고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뒷부분은 팀원분들이 자기 맥에서 직접 셋업하는 방법을 한 단계씩 설명합니다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오른쪽처럼 </a:t>
            </a:r>
            <a:r>
              <a:t>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단계 중 </a:t>
            </a:r>
            <a:r>
              <a:t>7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단계가 끝났고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마지막 단계가 바로 팀원 셋업입니다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 결과 보고는 세 장으로 짧게</a:t>
            </a:r>
            <a:r>
              <a:t>, 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 셋업은 단계마다 한 장씩 자세히 준비했습니다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숫자 네 개만 기억하시면 됩니다. 8단계 중 7단계 완료. Claude가 제대로 아는지 확인하는 질문 23개를 전부 통과했고, 셋업 점검 28개 항목도 전부 통과했습니다. 남은 건 두 분의 셋업입니다. 이 결과의 근거는 아래 줄입니다. 원본 영상 100개를 녹화해 판독했고, 판정 138건이 나왔으며, 이를 바탕으로 CdBd 기능 78개를 11개 영역으로 정의했습니다. 그중 71개는 영상으로 직접 확인한 항목입니다.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달라진 점 네 가지입니다. 첫째, 기능을 물으면 실제 화면을 녹화해서 확인한 기능 사전을 찾아보고 답합니다. 둘째, 애매할 때만 묻고 분명하면 바로 답하며, 우리가 잘못 알고 있으면 첫 문장에서 바로잡아 줍니다. 셋째, 에디터 작업입니다. Claude는 6월부터 에디터를 직접 다룰 수 있었지만, 카드 고정 상태나 멀티페이지에서는 틀린 결과를 성공처럼 내기도 했습니다. 이번에 그 결함들을 실제 테스트 페이지에서 찾아 고쳤고, 여백 수치·표시 켜기/끄기·상단/하단 고정까지 세밀하게 다룹니다. 속도는 7월에 예약 입력을 클릭 대신 직접 넣는 방식으로 바꿔 옵션당 약 5초에서 2초로 줄인 측정이 있습니다. 넷째, 새 맥 세팅은 스크립트와 점검표로 끝납니다. 이게 오늘 2부입니다.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hape 1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남은 건 세 가지입니다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리허설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일정과 연습용 페이지 정하기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그리고 두 분 셋업입니다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세부 할 일은 </a:t>
            </a:r>
            <a:r>
              <a:t>28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중 </a:t>
            </a:r>
            <a:r>
              <a:t>21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완료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제품팀 결함 전달문 한 건은 보류했습니다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오른쪽 아래는 알아 두실 점입니다</a:t>
            </a:r>
            <a:r>
              <a:t>.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기능을 외우지 않고 사전을 찾아보기 때문에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사전에서 아직 확인 안 된 것은 모른다고 답합니다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시작 전에 두 가지만 준비하시면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왼쪽 준비물 네 가지를 담당자에게 받으시고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오른쪽 터미널 쓰는 법만 알면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명령어 뜻을 이해할 필요는 없고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복사해서 붙여넣고 엔터만 누르면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가지 주의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다른 사람의 </a:t>
            </a:r>
            <a:r>
              <a:t>credentials.json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파일은 절대 받지 마세요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서로 로그인이 풀립니다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4" name="Shape 2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어디서부터 시작하는지는 한 가지로 갈립니다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맥에 볼트 여섯 개가 이미 있느냐입니다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없으면 왼쪽 </a:t>
            </a:r>
            <a:r>
              <a:t>A,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온보딩 문서 </a:t>
            </a:r>
            <a:r>
              <a:t>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장과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장을 먼저 하고 </a:t>
            </a:r>
            <a:r>
              <a:t>STEP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넘어옵니다</a:t>
            </a:r>
            <a:r>
              <a:t>. GitHub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계정은 같아도 </a:t>
            </a:r>
            <a:r>
              <a:t>SSH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키는 맥마다 새로 만들어야 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이미 볼트를 쓰고 있는 맥이면 오른쪽 </a:t>
            </a:r>
            <a:r>
              <a:t>B,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위치를 확인하고 최신으로 받은 뒤 바로 </a:t>
            </a:r>
            <a:r>
              <a:t>STEP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부터 하면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이때 허브를 먼저 받아야 동기화 스크립트가 생깁니다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6" name="Shape 3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전체 지도입니다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설치 세 단계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연결 두 단계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확인 네 단계입니다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처음 저장소를 받으시는 분은 그 전에 온보딩 문서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장</a:t>
            </a:r>
            <a:r>
              <a:t>, SSH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키 만들고 저장소 받고 옵시디언에서 여는 과정을 먼저 하시면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이제부터 한 장에 한 단계씩 보겠습니다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7" name="Shape 3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첫 단계는 </a:t>
            </a:r>
            <a:r>
              <a:t>Claude Code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설치입니다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옵시디언 안의 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이 프로그램을 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터미널을 열고 첫 줄을 붙여넣어 설치한 뒤</a:t>
            </a:r>
            <a:r>
              <a:t>,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라고 입력하면 브라우저에서 로그인 창이 뜹니다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로그인하고 터미널로 돌아와 </a:t>
            </a:r>
            <a:r>
              <a:t>/exit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입력하면 끝입니다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5" name="Shape 4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두 번째는 </a:t>
            </a:r>
            <a:r>
              <a:t>Claudian,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옵시디언 안의 </a:t>
            </a: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창입니다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허브 볼트와 서비스 볼트에는 이미 있어서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명령 한 번으로 나머지 네 볼트에 복사합니다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옵시디언을 껐다 켜고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볼트마다 커뮤니티 플러그인에서 </a:t>
            </a:r>
            <a:r>
              <a:t>Claudian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켜져 있는지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사용자 설정 불러오기가 켜져 있는지 확인합니다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3" name="Shape 4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세 번째는 </a:t>
            </a:r>
            <a:r>
              <a:t>gstack,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에디터를 조작할 때 쓰는 브라우저입니다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먼저 </a:t>
            </a:r>
            <a:r>
              <a:t>Bun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이라는 설치 도구가 필요하고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새로 깔았다면 터미널을 새로 열어야 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그다음 </a:t>
            </a:r>
            <a:r>
              <a:t>gstack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받아 설치하고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마지막 줄로 확인합니다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1" name="Shape 5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네 번째는 셋업 스크립트입니다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줄이면 필요한 연결이 전부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처음 실행하면 </a:t>
            </a:r>
            <a:r>
              <a:t>cdbd.env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견본을 만들었다는 노란 경고가 나오는데 정상입니다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다음 단계에서 그 파일을 채웁니다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9" name="Shape 5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다섯 번째는 </a:t>
            </a:r>
            <a:r>
              <a:t>cdbd.env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채우기입니다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첫 줄로 파일을 열고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등호 뒤에 받은 값을 띄어쓰기 없이 붙여 씁니다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저장하고 셋업을 한 번 더 돌리면 확인 필요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나와야 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다시 강조하지만 </a:t>
            </a:r>
            <a:r>
              <a:t>credentials.json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은 복사하지 않습니다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7" name="Shape 5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여섯 번째는 폴더 신뢰 승인입니다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볼트마다 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한 번 켜서 이 폴더를 믿겠다고 승인하는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여섯 줄을 하나씩 붙여넣고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질문이 나오면 </a:t>
            </a:r>
            <a:r>
              <a:t>Yes proceed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 엔터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그리고 </a:t>
            </a:r>
            <a:r>
              <a:t>/exit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입니다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6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5" name="Shape 6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일곱 번째는 </a:t>
            </a:r>
            <a:r>
              <a:t>Figma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연결입니다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터미널이 아니라 브라우저에서 합니다</a:t>
            </a:r>
            <a:r>
              <a:t>. claude.ai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설정의 커넥터에서 </a:t>
            </a:r>
            <a:r>
              <a:t>Figma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연결하면 되고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 단위라 한 번만 하면 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hape 6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3" name="Shape 6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여덟 번째는 점검표입니다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줄이면 </a:t>
            </a:r>
            <a:r>
              <a:t>28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항목을 확인합니다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마지막 줄에 ✅ </a:t>
            </a:r>
            <a:r>
              <a:t>28,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나오면 셋업이 끝난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빨간 표시가 있으면 그 줄에 적힌 안내대로 하시면 됩니다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7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1" name="Shape 7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마지막 아홉 번째는 확인 질문입니다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질문은 일부러 틀린 전제를 담고 있습니다</a:t>
            </a:r>
            <a:r>
              <a:t>.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아니요로 시작해서 빈칸으로 나온다고 바로잡으면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 규칙과 기능 사전이 제대로 실린 것입니다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오늘 이 맥에서도 이렇게 답하는 것을 확인했습니다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7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0" name="Shape 7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막혔을 때는 점검표를 보시면 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빨간 표시마다 이유와 할 일이 정해져 있고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대부분은 해당 단계를 한 번 더 하면 풀립니다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그래도 안 되면 담당자에게 화면을 보내 주세요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7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6" name="Shape 7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운영 규칙은 세 가지입니다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돈이 드는 일은 먼저 묻는다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연습은 내 테스트 페이지에서만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로그인 파일은 각자</a:t>
            </a:r>
            <a:r>
              <a:t>.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도 이 규칙대로 움직입니다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7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0" name="Shape 7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다음 순서입니다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먼저 오늘 안내를 새 맥처럼 따라 하는 리허설로 문서를 다듬고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두 분 일정과 연습용 페이지를 정한 뒤 한 분씩 셋업합니다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두 분 맥에서 확인 질문을 모두 통과하면 목표 도달입니다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여기서 결정이 필요한 건 일정과 테스트 페이지입니다</a:t>
            </a:r>
            <a:r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 txBox="1"/>
          <p:nvPr/>
        </p:nvSpPr>
        <p:spPr>
          <a:xfrm>
            <a:off x="594359" y="6376669"/>
            <a:ext cx="3566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900">
                <a:solidFill>
                  <a:srgbClr val="6E6E73"/>
                </a:solidFill>
              </a:defRPr>
            </a:lvl1pPr>
          </a:lstStyle>
          <a:p>
            <a:pPr/>
            <a:r>
              <a:t>CDBD  ·  HOME.CDBD.IN</a:t>
            </a:r>
          </a:p>
        </p:txBody>
      </p:sp>
      <p:sp>
        <p:nvSpPr>
          <p:cNvPr id="19" name="본문 첫 번째 줄…"/>
          <p:cNvSpPr txBox="1"/>
          <p:nvPr>
            <p:ph type="body" sz="quarter" idx="1" hasCustomPrompt="1"/>
          </p:nvPr>
        </p:nvSpPr>
        <p:spPr>
          <a:xfrm>
            <a:off x="548640" y="384047"/>
            <a:ext cx="6400801" cy="29261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  <a:lvl2pPr marL="569458" indent="-112258">
              <a:spcBef>
                <a:spcPts val="200"/>
              </a:spcBef>
              <a:buFontTx/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2pPr>
            <a:lvl3pPr marL="1019175" indent="-104775">
              <a:spcBef>
                <a:spcPts val="200"/>
              </a:spcBef>
              <a:buFontTx/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3pPr>
            <a:lvl4pPr marL="1497330" indent="-125730">
              <a:spcBef>
                <a:spcPts val="200"/>
              </a:spcBef>
              <a:buFontTx/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4pPr>
            <a:lvl5pPr marL="1954529" indent="-125729">
              <a:spcBef>
                <a:spcPts val="200"/>
              </a:spcBef>
              <a:buFontTx/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" name="Text 1"/>
          <p:cNvSpPr/>
          <p:nvPr>
            <p:ph type="body" sz="quarter" idx="21" hasCustomPrompt="1"/>
          </p:nvPr>
        </p:nvSpPr>
        <p:spPr>
          <a:xfrm>
            <a:off x="7068311" y="384047"/>
            <a:ext cx="4572001" cy="29261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r">
              <a:spcBef>
                <a:spcPts val="200"/>
              </a:spcBef>
              <a:buSzTx/>
              <a:buFontTx/>
              <a:buNone/>
              <a:defRPr sz="1000">
                <a:solidFill>
                  <a:srgbClr val="6E6E73"/>
                </a:solidFill>
              </a:defRPr>
            </a:lvl1pPr>
          </a:lstStyle>
          <a:p>
            <a:pPr/>
            <a:r>
              <a:t>Click to add text</a:t>
            </a:r>
          </a:p>
        </p:txBody>
      </p:sp>
      <p:sp>
        <p:nvSpPr>
          <p:cNvPr id="21" name="Click to add title"/>
          <p:cNvSpPr txBox="1"/>
          <p:nvPr>
            <p:ph type="title" hasCustomPrompt="1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sz="30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22" name="Text 1"/>
          <p:cNvSpPr/>
          <p:nvPr>
            <p:ph type="body" sz="quarter" idx="22" hasCustomPrompt="1"/>
          </p:nvPr>
        </p:nvSpPr>
        <p:spPr>
          <a:xfrm>
            <a:off x="548640" y="1335024"/>
            <a:ext cx="11091672" cy="4206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400">
                <a:solidFill>
                  <a:srgbClr val="6E6E73"/>
                </a:solidFill>
              </a:defRPr>
            </a:lvl1pPr>
          </a:lstStyle>
          <a:p>
            <a:pPr/>
            <a:r>
              <a:t>Click to add text</a:t>
            </a:r>
          </a:p>
        </p:txBody>
      </p:sp>
      <p:sp>
        <p:nvSpPr>
          <p:cNvPr id="23" name="슬라이드 번호"/>
          <p:cNvSpPr txBox="1"/>
          <p:nvPr>
            <p:ph type="sldNum" sz="quarter" idx="2"/>
          </p:nvPr>
        </p:nvSpPr>
        <p:spPr>
          <a:xfrm>
            <a:off x="11417965" y="6355079"/>
            <a:ext cx="222347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lick to add title"/>
          <p:cNvSpPr txBox="1"/>
          <p:nvPr>
            <p:ph type="title" hasCustomPrompt="1"/>
          </p:nvPr>
        </p:nvSpPr>
        <p:spPr>
          <a:xfrm>
            <a:off x="548640" y="1828800"/>
            <a:ext cx="5852160" cy="173736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sz="46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31" name="본문 첫 번째 줄…"/>
          <p:cNvSpPr txBox="1"/>
          <p:nvPr>
            <p:ph type="body" sz="quarter" idx="1" hasCustomPrompt="1"/>
          </p:nvPr>
        </p:nvSpPr>
        <p:spPr>
          <a:xfrm>
            <a:off x="548640" y="3703320"/>
            <a:ext cx="5760721" cy="82296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>
                <a:solidFill>
                  <a:srgbClr val="6E6E73"/>
                </a:solidFill>
              </a:defRPr>
            </a:lvl1pPr>
            <a:lvl2pPr marL="620485" indent="-163285">
              <a:spcBef>
                <a:spcPts val="300"/>
              </a:spcBef>
              <a:buFontTx/>
              <a:defRPr sz="1600">
                <a:solidFill>
                  <a:srgbClr val="6E6E73"/>
                </a:solidFill>
              </a:defRPr>
            </a:lvl2pPr>
            <a:lvl3pPr marL="1066800" indent="-152400">
              <a:spcBef>
                <a:spcPts val="300"/>
              </a:spcBef>
              <a:buFontTx/>
              <a:defRPr sz="1600">
                <a:solidFill>
                  <a:srgbClr val="6E6E73"/>
                </a:solidFill>
              </a:defRPr>
            </a:lvl3pPr>
            <a:lvl4pPr marL="1554480" indent="-182880">
              <a:spcBef>
                <a:spcPts val="300"/>
              </a:spcBef>
              <a:buFontTx/>
              <a:defRPr sz="1600">
                <a:solidFill>
                  <a:srgbClr val="6E6E73"/>
                </a:solidFill>
              </a:defRPr>
            </a:lvl4pPr>
            <a:lvl5pPr marL="2011679" indent="-182879">
              <a:spcBef>
                <a:spcPts val="300"/>
              </a:spcBef>
              <a:buFontTx/>
              <a:defRPr sz="1600">
                <a:solidFill>
                  <a:srgbClr val="6E6E73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2">
            <a:hueOff val="-15247060"/>
            <a:satOff val="-68000"/>
            <a:lumOff val="490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6E6E7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D1D1F"/>
          </a:solidFill>
          <a:uFillTx/>
          <a:latin typeface="+mj-lt"/>
          <a:ea typeface="+mj-ea"/>
          <a:cs typeface="+mj-cs"/>
          <a:sym typeface="Pretendard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Pretendard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rand-pill"/>
          <p:cNvSpPr/>
          <p:nvPr/>
        </p:nvSpPr>
        <p:spPr>
          <a:xfrm>
            <a:off x="548640" y="502919"/>
            <a:ext cx="868681" cy="347473"/>
          </a:xfrm>
          <a:prstGeom prst="roundRect">
            <a:avLst>
              <a:gd name="adj" fmla="val 50000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5875">
            <a:solidFill>
              <a:srgbClr val="1D1D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"/>
          <p:cNvSpPr txBox="1"/>
          <p:nvPr/>
        </p:nvSpPr>
        <p:spPr>
          <a:xfrm>
            <a:off x="548640" y="594105"/>
            <a:ext cx="8686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200" sz="11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CDBD</a:t>
            </a:r>
          </a:p>
        </p:txBody>
      </p:sp>
      <p:sp>
        <p:nvSpPr>
          <p:cNvPr id="43" name="Text 0"/>
          <p:cNvSpPr txBox="1"/>
          <p:nvPr>
            <p:ph type="title"/>
          </p:nvPr>
        </p:nvSpPr>
        <p:spPr>
          <a:xfrm>
            <a:off x="548639" y="1828800"/>
            <a:ext cx="5852162" cy="173736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CdBd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기능별</a:t>
            </a:r>
            <a:endParaRPr b="1"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경로 가이드</a:t>
            </a:r>
          </a:p>
        </p:txBody>
      </p:sp>
      <p:sp>
        <p:nvSpPr>
          <p:cNvPr id="44" name="Text 0"/>
          <p:cNvSpPr txBox="1"/>
          <p:nvPr>
            <p:ph type="body" sz="quarter" idx="1"/>
          </p:nvPr>
        </p:nvSpPr>
        <p:spPr>
          <a:xfrm>
            <a:off x="548639" y="3703320"/>
            <a:ext cx="5760722" cy="82296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결과 보고 </a:t>
            </a:r>
            <a:r>
              <a:t>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셋업 안내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어디까지 왔나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 맥에서 어떻게 시작하나</a:t>
            </a:r>
          </a:p>
        </p:txBody>
      </p:sp>
      <p:sp>
        <p:nvSpPr>
          <p:cNvPr id="45" name="Text 4"/>
          <p:cNvSpPr txBox="1"/>
          <p:nvPr/>
        </p:nvSpPr>
        <p:spPr>
          <a:xfrm>
            <a:off x="548639" y="6114413"/>
            <a:ext cx="6035042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기준일 </a:t>
            </a:r>
            <a:r>
              <a:t>2026-10-02   · 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작성 강현이 </a:t>
            </a:r>
            <a:r>
              <a:t>· Claude</a:t>
            </a:r>
          </a:p>
        </p:txBody>
      </p:sp>
      <p:sp>
        <p:nvSpPr>
          <p:cNvPr id="46" name="progress-panel"/>
          <p:cNvSpPr/>
          <p:nvPr/>
        </p:nvSpPr>
        <p:spPr>
          <a:xfrm>
            <a:off x="6812280" y="502919"/>
            <a:ext cx="4828033" cy="5852161"/>
          </a:xfrm>
          <a:prstGeom prst="roundRect">
            <a:avLst>
              <a:gd name="adj" fmla="val 2273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6"/>
          <p:cNvSpPr txBox="1"/>
          <p:nvPr/>
        </p:nvSpPr>
        <p:spPr>
          <a:xfrm>
            <a:off x="7178040" y="872679"/>
            <a:ext cx="411480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chemeClr val="accent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현재 위치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7178040" y="1125219"/>
            <a:ext cx="420624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4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7</a:t>
            </a:r>
            <a:r>
              <a:rPr sz="1800">
                <a:solidFill>
                  <a:srgbClr val="6E6E73"/>
                </a:solidFill>
              </a:rPr>
              <a:t> / 8 </a:t>
            </a:r>
            <a:r>
              <a:rPr b="1" sz="18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단계 완료</a:t>
            </a:r>
          </a:p>
        </p:txBody>
      </p:sp>
      <p:sp>
        <p:nvSpPr>
          <p:cNvPr id="49" name="step-dot"/>
          <p:cNvSpPr/>
          <p:nvPr/>
        </p:nvSpPr>
        <p:spPr>
          <a:xfrm>
            <a:off x="7223759" y="2258567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tep-link"/>
          <p:cNvSpPr/>
          <p:nvPr/>
        </p:nvSpPr>
        <p:spPr>
          <a:xfrm>
            <a:off x="7360919" y="2532888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0"/>
          <p:cNvSpPr txBox="1"/>
          <p:nvPr/>
        </p:nvSpPr>
        <p:spPr>
          <a:xfrm>
            <a:off x="7635240" y="2300477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0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정의 확정</a:t>
            </a:r>
          </a:p>
        </p:txBody>
      </p:sp>
      <p:sp>
        <p:nvSpPr>
          <p:cNvPr id="52" name="step-dot"/>
          <p:cNvSpPr/>
          <p:nvPr/>
        </p:nvSpPr>
        <p:spPr>
          <a:xfrm>
            <a:off x="7223759" y="2743200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tep-link"/>
          <p:cNvSpPr/>
          <p:nvPr/>
        </p:nvSpPr>
        <p:spPr>
          <a:xfrm>
            <a:off x="7360919" y="3017520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3"/>
          <p:cNvSpPr txBox="1"/>
          <p:nvPr/>
        </p:nvSpPr>
        <p:spPr>
          <a:xfrm>
            <a:off x="7635240" y="2785110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1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분류표</a:t>
            </a:r>
          </a:p>
        </p:txBody>
      </p:sp>
      <p:sp>
        <p:nvSpPr>
          <p:cNvPr id="55" name="step-dot"/>
          <p:cNvSpPr/>
          <p:nvPr/>
        </p:nvSpPr>
        <p:spPr>
          <a:xfrm>
            <a:off x="7223759" y="3227832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tep-link"/>
          <p:cNvSpPr/>
          <p:nvPr/>
        </p:nvSpPr>
        <p:spPr>
          <a:xfrm>
            <a:off x="7360919" y="3502152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6"/>
          <p:cNvSpPr txBox="1"/>
          <p:nvPr/>
        </p:nvSpPr>
        <p:spPr>
          <a:xfrm>
            <a:off x="7635240" y="3269741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2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경로 가이드 작성</a:t>
            </a:r>
          </a:p>
        </p:txBody>
      </p:sp>
      <p:sp>
        <p:nvSpPr>
          <p:cNvPr id="58" name="step-dot"/>
          <p:cNvSpPr/>
          <p:nvPr/>
        </p:nvSpPr>
        <p:spPr>
          <a:xfrm>
            <a:off x="7223759" y="3712464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tep-link"/>
          <p:cNvSpPr/>
          <p:nvPr/>
        </p:nvSpPr>
        <p:spPr>
          <a:xfrm>
            <a:off x="7360919" y="3986784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9"/>
          <p:cNvSpPr txBox="1"/>
          <p:nvPr/>
        </p:nvSpPr>
        <p:spPr>
          <a:xfrm>
            <a:off x="7635240" y="3754373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3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연결 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(@import)</a:t>
            </a:r>
          </a:p>
        </p:txBody>
      </p:sp>
      <p:sp>
        <p:nvSpPr>
          <p:cNvPr id="61" name="step-dot"/>
          <p:cNvSpPr/>
          <p:nvPr/>
        </p:nvSpPr>
        <p:spPr>
          <a:xfrm>
            <a:off x="7223759" y="4197096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tep-link"/>
          <p:cNvSpPr/>
          <p:nvPr/>
        </p:nvSpPr>
        <p:spPr>
          <a:xfrm>
            <a:off x="7360919" y="4471415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22"/>
          <p:cNvSpPr txBox="1"/>
          <p:nvPr/>
        </p:nvSpPr>
        <p:spPr>
          <a:xfrm>
            <a:off x="7635240" y="4239005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4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영상 녹화 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·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판독</a:t>
            </a:r>
          </a:p>
        </p:txBody>
      </p:sp>
      <p:sp>
        <p:nvSpPr>
          <p:cNvPr id="64" name="step-dot"/>
          <p:cNvSpPr/>
          <p:nvPr/>
        </p:nvSpPr>
        <p:spPr>
          <a:xfrm>
            <a:off x="7223759" y="4681728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tep-link"/>
          <p:cNvSpPr/>
          <p:nvPr/>
        </p:nvSpPr>
        <p:spPr>
          <a:xfrm>
            <a:off x="7360919" y="4956047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5"/>
          <p:cNvSpPr txBox="1"/>
          <p:nvPr/>
        </p:nvSpPr>
        <p:spPr>
          <a:xfrm>
            <a:off x="7635240" y="4723638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5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확산 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·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검증</a:t>
            </a:r>
          </a:p>
        </p:txBody>
      </p:sp>
      <p:sp>
        <p:nvSpPr>
          <p:cNvPr id="67" name="step-dot"/>
          <p:cNvSpPr/>
          <p:nvPr/>
        </p:nvSpPr>
        <p:spPr>
          <a:xfrm>
            <a:off x="7223759" y="5166359"/>
            <a:ext cx="274321" cy="274321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tep-link"/>
          <p:cNvSpPr/>
          <p:nvPr/>
        </p:nvSpPr>
        <p:spPr>
          <a:xfrm>
            <a:off x="7360919" y="5440679"/>
            <a:ext cx="1" cy="210313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8"/>
          <p:cNvSpPr txBox="1"/>
          <p:nvPr/>
        </p:nvSpPr>
        <p:spPr>
          <a:xfrm>
            <a:off x="7635240" y="5208270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6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스킬 승격</a:t>
            </a:r>
          </a:p>
        </p:txBody>
      </p:sp>
      <p:sp>
        <p:nvSpPr>
          <p:cNvPr id="70" name="step-dot"/>
          <p:cNvSpPr/>
          <p:nvPr/>
        </p:nvSpPr>
        <p:spPr>
          <a:xfrm>
            <a:off x="7223759" y="5650991"/>
            <a:ext cx="274321" cy="274321"/>
          </a:xfrm>
          <a:prstGeom prst="ellipse">
            <a:avLst/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0"/>
          <p:cNvSpPr txBox="1"/>
          <p:nvPr/>
        </p:nvSpPr>
        <p:spPr>
          <a:xfrm>
            <a:off x="7635240" y="5692902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chemeClr val="accent4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STEP 7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배포 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·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팀원 셋업</a:t>
            </a:r>
          </a:p>
        </p:txBody>
      </p:sp>
      <p:sp>
        <p:nvSpPr>
          <p:cNvPr id="72" name="pill-bg"/>
          <p:cNvSpPr/>
          <p:nvPr/>
        </p:nvSpPr>
        <p:spPr>
          <a:xfrm>
            <a:off x="10469880" y="5660135"/>
            <a:ext cx="868681" cy="256033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pill"/>
          <p:cNvSpPr txBox="1"/>
          <p:nvPr/>
        </p:nvSpPr>
        <p:spPr>
          <a:xfrm>
            <a:off x="10469880" y="5714300"/>
            <a:ext cx="868681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chemeClr val="accent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지금 여기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CONTENTS</a:t>
            </a:r>
          </a:p>
        </p:txBody>
      </p:sp>
      <p:sp>
        <p:nvSpPr>
          <p:cNvPr id="78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목차</a:t>
            </a:r>
          </a:p>
        </p:txBody>
      </p:sp>
      <p:sp>
        <p:nvSpPr>
          <p:cNvPr id="79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목차</a:t>
            </a:r>
          </a:p>
        </p:txBody>
      </p:sp>
      <p:sp>
        <p:nvSpPr>
          <p:cNvPr id="80" name="toc-card"/>
          <p:cNvSpPr/>
          <p:nvPr/>
        </p:nvSpPr>
        <p:spPr>
          <a:xfrm>
            <a:off x="548640" y="1783079"/>
            <a:ext cx="5413248" cy="4343401"/>
          </a:xfrm>
          <a:prstGeom prst="roundRect">
            <a:avLst>
              <a:gd name="adj" fmla="val 252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4"/>
          <p:cNvSpPr txBox="1"/>
          <p:nvPr/>
        </p:nvSpPr>
        <p:spPr>
          <a:xfrm>
            <a:off x="868680" y="206628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PART 1</a:t>
            </a:r>
          </a:p>
        </p:txBody>
      </p:sp>
      <p:sp>
        <p:nvSpPr>
          <p:cNvPr id="82" name="Text 5"/>
          <p:cNvSpPr txBox="1"/>
          <p:nvPr/>
        </p:nvSpPr>
        <p:spPr>
          <a:xfrm>
            <a:off x="868680" y="2362577"/>
            <a:ext cx="4773168" cy="34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결과 보고</a:t>
            </a:r>
          </a:p>
        </p:txBody>
      </p:sp>
      <p:sp>
        <p:nvSpPr>
          <p:cNvPr id="83" name="Text 6"/>
          <p:cNvSpPr txBox="1"/>
          <p:nvPr/>
        </p:nvSpPr>
        <p:spPr>
          <a:xfrm>
            <a:off x="868680" y="31775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1463039" y="31708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한눈에 보는 결과</a:t>
            </a:r>
          </a:p>
        </p:txBody>
      </p:sp>
      <p:sp>
        <p:nvSpPr>
          <p:cNvPr id="85" name="Text 8"/>
          <p:cNvSpPr txBox="1"/>
          <p:nvPr/>
        </p:nvSpPr>
        <p:spPr>
          <a:xfrm>
            <a:off x="868680" y="38633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6" name="Text 9"/>
          <p:cNvSpPr txBox="1"/>
          <p:nvPr/>
        </p:nvSpPr>
        <p:spPr>
          <a:xfrm>
            <a:off x="1463039" y="38566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무엇이 달라졌나</a:t>
            </a:r>
          </a:p>
        </p:txBody>
      </p:sp>
      <p:sp>
        <p:nvSpPr>
          <p:cNvPr id="87" name="Text 10"/>
          <p:cNvSpPr txBox="1"/>
          <p:nvPr/>
        </p:nvSpPr>
        <p:spPr>
          <a:xfrm>
            <a:off x="868680" y="45491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8" name="Text 11"/>
          <p:cNvSpPr txBox="1"/>
          <p:nvPr/>
        </p:nvSpPr>
        <p:spPr>
          <a:xfrm>
            <a:off x="1463039" y="45424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어디까지 왔나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아직 아닌 것</a:t>
            </a:r>
          </a:p>
        </p:txBody>
      </p:sp>
      <p:sp>
        <p:nvSpPr>
          <p:cNvPr id="89" name="toc-card"/>
          <p:cNvSpPr/>
          <p:nvPr/>
        </p:nvSpPr>
        <p:spPr>
          <a:xfrm>
            <a:off x="6231635" y="1783079"/>
            <a:ext cx="5413249" cy="4343401"/>
          </a:xfrm>
          <a:prstGeom prst="roundRect">
            <a:avLst>
              <a:gd name="adj" fmla="val 252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3"/>
          <p:cNvSpPr txBox="1"/>
          <p:nvPr/>
        </p:nvSpPr>
        <p:spPr>
          <a:xfrm>
            <a:off x="6551676" y="206628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91" name="Text 14"/>
          <p:cNvSpPr txBox="1"/>
          <p:nvPr/>
        </p:nvSpPr>
        <p:spPr>
          <a:xfrm>
            <a:off x="6551676" y="2362577"/>
            <a:ext cx="4773169" cy="34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92" name="Text 15"/>
          <p:cNvSpPr txBox="1"/>
          <p:nvPr/>
        </p:nvSpPr>
        <p:spPr>
          <a:xfrm>
            <a:off x="6551676" y="31775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93" name="Text 16"/>
          <p:cNvSpPr txBox="1"/>
          <p:nvPr/>
        </p:nvSpPr>
        <p:spPr>
          <a:xfrm>
            <a:off x="7146035" y="31708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시작 전에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준비물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터미널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어디서부터</a:t>
            </a:r>
          </a:p>
        </p:txBody>
      </p:sp>
      <p:sp>
        <p:nvSpPr>
          <p:cNvPr id="94" name="Text 17"/>
          <p:cNvSpPr txBox="1"/>
          <p:nvPr/>
        </p:nvSpPr>
        <p:spPr>
          <a:xfrm>
            <a:off x="6551676" y="38633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5" name="Text 18"/>
          <p:cNvSpPr txBox="1"/>
          <p:nvPr/>
        </p:nvSpPr>
        <p:spPr>
          <a:xfrm>
            <a:off x="7146035" y="38566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/>
            </a:pPr>
            <a:r>
              <a:t>STEP 1~9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장에 한 단계</a:t>
            </a:r>
          </a:p>
        </p:txBody>
      </p:sp>
      <p:sp>
        <p:nvSpPr>
          <p:cNvPr id="96" name="Text 19"/>
          <p:cNvSpPr txBox="1"/>
          <p:nvPr/>
        </p:nvSpPr>
        <p:spPr>
          <a:xfrm>
            <a:off x="6551676" y="45491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97" name="Text 20"/>
          <p:cNvSpPr txBox="1"/>
          <p:nvPr/>
        </p:nvSpPr>
        <p:spPr>
          <a:xfrm>
            <a:off x="7146035" y="45424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막혔을 때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운영 규칙</a:t>
            </a:r>
          </a:p>
        </p:txBody>
      </p:sp>
      <p:sp>
        <p:nvSpPr>
          <p:cNvPr id="98" name="Text 21"/>
          <p:cNvSpPr txBox="1"/>
          <p:nvPr/>
        </p:nvSpPr>
        <p:spPr>
          <a:xfrm>
            <a:off x="6551676" y="5234940"/>
            <a:ext cx="548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99" name="Text 22"/>
          <p:cNvSpPr txBox="1"/>
          <p:nvPr/>
        </p:nvSpPr>
        <p:spPr>
          <a:xfrm>
            <a:off x="7146035" y="5228270"/>
            <a:ext cx="4224530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다음 순서</a:t>
            </a:r>
          </a:p>
        </p:txBody>
      </p:sp>
      <p:sp>
        <p:nvSpPr>
          <p:cNvPr id="100" name="Slide Number Placeholder 0"/>
          <p:cNvSpPr txBox="1"/>
          <p:nvPr>
            <p:ph type="sldNum" sz="quarter" idx="4294967295"/>
          </p:nvPr>
        </p:nvSpPr>
        <p:spPr>
          <a:xfrm>
            <a:off x="11469087" y="6355079"/>
            <a:ext cx="171225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1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결과 보고</a:t>
            </a:r>
          </a:p>
        </p:txBody>
      </p:sp>
      <p:sp>
        <p:nvSpPr>
          <p:cNvPr id="105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01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한눈에</a:t>
            </a:r>
          </a:p>
        </p:txBody>
      </p:sp>
      <p:sp>
        <p:nvSpPr>
          <p:cNvPr id="106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Claude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가 </a:t>
            </a:r>
            <a:r>
              <a:t>CdBd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를 「알고</a:t>
            </a:r>
            <a:r>
              <a:t>,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직접 하는」 단계까지 왔습니다</a:t>
            </a:r>
          </a:p>
        </p:txBody>
      </p:sp>
      <p:sp>
        <p:nvSpPr>
          <p:cNvPr id="107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이제 남은 건 팀원분들 맥에 똑같은 환경을 만드는 것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오늘 </a:t>
            </a:r>
            <a:r>
              <a:t>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부에서 그 방법을 설명합니다</a:t>
            </a:r>
            <a:r>
              <a:t>.</a:t>
            </a:r>
          </a:p>
        </p:txBody>
      </p:sp>
      <p:sp>
        <p:nvSpPr>
          <p:cNvPr id="108" name="kpi-card"/>
          <p:cNvSpPr/>
          <p:nvPr/>
        </p:nvSpPr>
        <p:spPr>
          <a:xfrm>
            <a:off x="548640" y="2103120"/>
            <a:ext cx="2560321" cy="35661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5"/>
          <p:cNvSpPr txBox="1"/>
          <p:nvPr/>
        </p:nvSpPr>
        <p:spPr>
          <a:xfrm>
            <a:off x="822960" y="2683510"/>
            <a:ext cx="21031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6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7</a:t>
            </a:r>
            <a:r>
              <a:rPr sz="1600">
                <a:solidFill>
                  <a:srgbClr val="6E6E73"/>
                </a:solidFill>
              </a:rPr>
              <a:t>  / 8 </a:t>
            </a:r>
            <a:r>
              <a:rPr b="1" sz="16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단계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822960" y="3931920"/>
            <a:ext cx="20574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계획 단계 완료</a:t>
            </a:r>
          </a:p>
        </p:txBody>
      </p:sp>
      <p:sp>
        <p:nvSpPr>
          <p:cNvPr id="111" name="Text 7"/>
          <p:cNvSpPr txBox="1"/>
          <p:nvPr/>
        </p:nvSpPr>
        <p:spPr>
          <a:xfrm>
            <a:off x="822960" y="4434840"/>
            <a:ext cx="2057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마지막 단계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셋업</a:t>
            </a:r>
          </a:p>
        </p:txBody>
      </p:sp>
      <p:sp>
        <p:nvSpPr>
          <p:cNvPr id="112" name="kpi-card"/>
          <p:cNvSpPr/>
          <p:nvPr/>
        </p:nvSpPr>
        <p:spPr>
          <a:xfrm>
            <a:off x="3392423" y="2103120"/>
            <a:ext cx="2560322" cy="35661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9"/>
          <p:cNvSpPr txBox="1"/>
          <p:nvPr/>
        </p:nvSpPr>
        <p:spPr>
          <a:xfrm>
            <a:off x="3666744" y="2683510"/>
            <a:ext cx="21031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6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23</a:t>
            </a:r>
            <a:r>
              <a:rPr sz="1600">
                <a:solidFill>
                  <a:srgbClr val="6E6E73"/>
                </a:solidFill>
              </a:rPr>
              <a:t>  / 23</a:t>
            </a:r>
          </a:p>
        </p:txBody>
      </p:sp>
      <p:sp>
        <p:nvSpPr>
          <p:cNvPr id="114" name="Text 10"/>
          <p:cNvSpPr txBox="1"/>
          <p:nvPr/>
        </p:nvSpPr>
        <p:spPr>
          <a:xfrm>
            <a:off x="3666744" y="3931920"/>
            <a:ext cx="20574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확인 질문 전부 통과</a:t>
            </a:r>
          </a:p>
        </p:txBody>
      </p:sp>
      <p:sp>
        <p:nvSpPr>
          <p:cNvPr id="115" name="Text 11"/>
          <p:cNvSpPr txBox="1"/>
          <p:nvPr/>
        </p:nvSpPr>
        <p:spPr>
          <a:xfrm>
            <a:off x="3666744" y="4434840"/>
            <a:ext cx="20574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제대로 아는가」 자동 채점</a:t>
            </a:r>
          </a:p>
        </p:txBody>
      </p:sp>
      <p:sp>
        <p:nvSpPr>
          <p:cNvPr id="116" name="kpi-card"/>
          <p:cNvSpPr/>
          <p:nvPr/>
        </p:nvSpPr>
        <p:spPr>
          <a:xfrm>
            <a:off x="6236208" y="2103120"/>
            <a:ext cx="2560321" cy="35661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3"/>
          <p:cNvSpPr txBox="1"/>
          <p:nvPr/>
        </p:nvSpPr>
        <p:spPr>
          <a:xfrm>
            <a:off x="6510528" y="2683510"/>
            <a:ext cx="21031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6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28</a:t>
            </a:r>
            <a:r>
              <a:rPr sz="1600">
                <a:solidFill>
                  <a:srgbClr val="6E6E73"/>
                </a:solidFill>
              </a:rPr>
              <a:t>  / 28</a:t>
            </a:r>
          </a:p>
        </p:txBody>
      </p:sp>
      <p:sp>
        <p:nvSpPr>
          <p:cNvPr id="118" name="Text 14"/>
          <p:cNvSpPr txBox="1"/>
          <p:nvPr/>
        </p:nvSpPr>
        <p:spPr>
          <a:xfrm>
            <a:off x="6510528" y="3931920"/>
            <a:ext cx="20574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기기 점검 항목 통과</a:t>
            </a:r>
          </a:p>
        </p:txBody>
      </p:sp>
      <p:sp>
        <p:nvSpPr>
          <p:cNvPr id="119" name="Text 15"/>
          <p:cNvSpPr txBox="1"/>
          <p:nvPr/>
        </p:nvSpPr>
        <p:spPr>
          <a:xfrm>
            <a:off x="6510528" y="4434840"/>
            <a:ext cx="2057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셋업이 제대로 됐는지 자동 점검</a:t>
            </a:r>
          </a:p>
        </p:txBody>
      </p:sp>
      <p:sp>
        <p:nvSpPr>
          <p:cNvPr id="120" name="kpi-card"/>
          <p:cNvSpPr/>
          <p:nvPr/>
        </p:nvSpPr>
        <p:spPr>
          <a:xfrm>
            <a:off x="9079992" y="2103120"/>
            <a:ext cx="2560321" cy="35661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7"/>
          <p:cNvSpPr txBox="1"/>
          <p:nvPr/>
        </p:nvSpPr>
        <p:spPr>
          <a:xfrm>
            <a:off x="9354311" y="2683510"/>
            <a:ext cx="210312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5600">
                <a:solidFill>
                  <a:schemeClr val="accent4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2</a:t>
            </a:r>
            <a:r>
              <a:rPr b="1" sz="16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  명</a:t>
            </a:r>
          </a:p>
        </p:txBody>
      </p:sp>
      <p:sp>
        <p:nvSpPr>
          <p:cNvPr id="122" name="Text 18"/>
          <p:cNvSpPr txBox="1"/>
          <p:nvPr/>
        </p:nvSpPr>
        <p:spPr>
          <a:xfrm>
            <a:off x="9354311" y="3931920"/>
            <a:ext cx="20574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셋업만 남은 팀원</a:t>
            </a:r>
          </a:p>
        </p:txBody>
      </p:sp>
      <p:sp>
        <p:nvSpPr>
          <p:cNvPr id="123" name="Text 19"/>
          <p:cNvSpPr txBox="1"/>
          <p:nvPr/>
        </p:nvSpPr>
        <p:spPr>
          <a:xfrm>
            <a:off x="9354311" y="4434840"/>
            <a:ext cx="2057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각 </a:t>
            </a:r>
            <a:r>
              <a:t>30~45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124" name="Slide Number Placeholder 0"/>
          <p:cNvSpPr txBox="1"/>
          <p:nvPr>
            <p:ph type="sldNum" sz="quarter" idx="4294967295"/>
          </p:nvPr>
        </p:nvSpPr>
        <p:spPr>
          <a:xfrm>
            <a:off x="11465627" y="6355079"/>
            <a:ext cx="174685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" name="이 결과의 근거   녹화 영상 100개  ·  영상 판독 판정 138건  ·  정의된 CdBd 기능 78개 (11개 영역 · 그중 71개 영상 실측)"/>
          <p:cNvSpPr txBox="1"/>
          <p:nvPr/>
        </p:nvSpPr>
        <p:spPr>
          <a:xfrm>
            <a:off x="546100" y="5791200"/>
            <a:ext cx="11099800" cy="264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rPr b="1" sz="1050">
                <a:solidFill>
                  <a:srgbClr val="806AFF"/>
                </a:solidFill>
                <a:latin typeface="+mn-lt"/>
                <a:ea typeface="+mn-ea"/>
                <a:cs typeface="+mn-cs"/>
                <a:sym typeface="Helvetica"/>
              </a:rPr>
              <a:t>이</a:t>
            </a:r>
            <a:r>
              <a:rPr sz="1050">
                <a:solidFill>
                  <a:srgbClr val="806AFF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b="1" sz="1050">
                <a:solidFill>
                  <a:srgbClr val="806AFF"/>
                </a:solidFill>
                <a:latin typeface="+mn-lt"/>
                <a:ea typeface="+mn-ea"/>
                <a:cs typeface="+mn-cs"/>
                <a:sym typeface="Helvetica"/>
              </a:rPr>
              <a:t>결과의</a:t>
            </a:r>
            <a:r>
              <a:rPr sz="1050">
                <a:solidFill>
                  <a:srgbClr val="806AFF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 </a:t>
            </a:r>
            <a:r>
              <a:rPr b="1" sz="1050">
                <a:solidFill>
                  <a:srgbClr val="806AFF"/>
                </a:solidFill>
                <a:latin typeface="+mn-lt"/>
                <a:ea typeface="+mn-ea"/>
                <a:cs typeface="+mn-cs"/>
                <a:sym typeface="Helvetica"/>
              </a:rPr>
              <a:t>근거</a:t>
            </a:r>
            <a:r>
              <a:rPr sz="1050">
                <a:solidFill>
                  <a:srgbClr val="6E6E73"/>
                </a:solidFill>
              </a:rPr>
              <a:t>  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녹화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영상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latin typeface="Pretendard Bold"/>
                <a:ea typeface="Pretendard Bold"/>
                <a:cs typeface="Pretendard Bold"/>
                <a:sym typeface="Pretendard Bold"/>
              </a:rPr>
              <a:t>100</a:t>
            </a:r>
            <a:r>
              <a:rPr b="1" sz="1050">
                <a:latin typeface="+mn-lt"/>
                <a:ea typeface="+mn-ea"/>
                <a:cs typeface="+mn-cs"/>
                <a:sym typeface="Helvetica"/>
              </a:rPr>
              <a:t>개</a:t>
            </a:r>
            <a:r>
              <a:rPr sz="1050">
                <a:solidFill>
                  <a:srgbClr val="6E6E73"/>
                </a:solidFill>
              </a:rPr>
              <a:t>  · 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영상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판독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판정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latin typeface="Pretendard Bold"/>
                <a:ea typeface="Pretendard Bold"/>
                <a:cs typeface="Pretendard Bold"/>
                <a:sym typeface="Pretendard Bold"/>
              </a:rPr>
              <a:t>138</a:t>
            </a:r>
            <a:r>
              <a:rPr b="1" sz="1050">
                <a:latin typeface="+mn-lt"/>
                <a:ea typeface="+mn-ea"/>
                <a:cs typeface="+mn-cs"/>
                <a:sym typeface="Helvetica"/>
              </a:rPr>
              <a:t>건</a:t>
            </a:r>
            <a:r>
              <a:rPr sz="1050">
                <a:solidFill>
                  <a:srgbClr val="6E6E73"/>
                </a:solidFill>
              </a:rPr>
              <a:t>  · 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정의된</a:t>
            </a:r>
            <a:r>
              <a:rPr sz="1050">
                <a:solidFill>
                  <a:srgbClr val="6E6E73"/>
                </a:solidFill>
              </a:rPr>
              <a:t> CdBd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기능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latin typeface="Pretendard Bold"/>
                <a:ea typeface="Pretendard Bold"/>
                <a:cs typeface="Pretendard Bold"/>
                <a:sym typeface="Pretendard Bold"/>
              </a:rPr>
              <a:t>78</a:t>
            </a:r>
            <a:r>
              <a:rPr b="1" sz="1050">
                <a:latin typeface="+mn-lt"/>
                <a:ea typeface="+mn-ea"/>
                <a:cs typeface="+mn-cs"/>
                <a:sym typeface="Helvetica"/>
              </a:rPr>
              <a:t>개</a:t>
            </a:r>
            <a:r>
              <a:rPr sz="1050">
                <a:solidFill>
                  <a:srgbClr val="6E6E73"/>
                </a:solidFill>
              </a:rPr>
              <a:t> (11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개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영역</a:t>
            </a:r>
            <a:r>
              <a:rPr sz="1050">
                <a:solidFill>
                  <a:srgbClr val="6E6E73"/>
                </a:solidFill>
              </a:rPr>
              <a:t> ·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그중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latin typeface="Pretendard Bold"/>
                <a:ea typeface="Pretendard Bold"/>
                <a:cs typeface="Pretendard Bold"/>
                <a:sym typeface="Pretendard Bold"/>
              </a:rPr>
              <a:t>71</a:t>
            </a:r>
            <a:r>
              <a:rPr b="1" sz="1050">
                <a:latin typeface="+mn-lt"/>
                <a:ea typeface="+mn-ea"/>
                <a:cs typeface="+mn-cs"/>
                <a:sym typeface="Helvetica"/>
              </a:rPr>
              <a:t>개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영상</a:t>
            </a:r>
            <a:r>
              <a:rPr sz="1050">
                <a:solidFill>
                  <a:srgbClr val="6E6E73"/>
                </a:solidFill>
              </a:rPr>
              <a:t> </a:t>
            </a:r>
            <a:r>
              <a:rPr sz="105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실측</a:t>
            </a:r>
            <a:r>
              <a:rPr sz="1050">
                <a:solidFill>
                  <a:srgbClr val="6E6E73"/>
                </a:solidFill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1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결과 보고</a:t>
            </a:r>
          </a:p>
        </p:txBody>
      </p:sp>
      <p:sp>
        <p:nvSpPr>
          <p:cNvPr id="130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02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무엇이 달라졌나</a:t>
            </a:r>
          </a:p>
        </p:txBody>
      </p:sp>
      <p:sp>
        <p:nvSpPr>
          <p:cNvPr id="131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전에는 이랬고</a:t>
            </a:r>
            <a:r>
              <a:t>,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지금은 이렇습니다</a:t>
            </a:r>
          </a:p>
        </p:txBody>
      </p:sp>
      <p:sp>
        <p:nvSpPr>
          <p:cNvPr id="132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어려운 말 없이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입장에서 체감되는 변화 네 가지</a:t>
            </a:r>
            <a:r>
              <a:t>.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3794759" y="1916430"/>
            <a:ext cx="32918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전에는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7452359" y="1916430"/>
            <a:ext cx="40233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chemeClr val="accent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지금은</a:t>
            </a:r>
          </a:p>
        </p:txBody>
      </p:sp>
      <p:sp>
        <p:nvSpPr>
          <p:cNvPr id="135" name="ba-row"/>
          <p:cNvSpPr/>
          <p:nvPr/>
        </p:nvSpPr>
        <p:spPr>
          <a:xfrm>
            <a:off x="548640" y="2240279"/>
            <a:ext cx="11091672" cy="868681"/>
          </a:xfrm>
          <a:prstGeom prst="roundRect">
            <a:avLst>
              <a:gd name="adj" fmla="val 12632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ba-circle"/>
          <p:cNvSpPr/>
          <p:nvPr/>
        </p:nvSpPr>
        <p:spPr>
          <a:xfrm>
            <a:off x="731519" y="2395727"/>
            <a:ext cx="566929" cy="5669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7" name="ba-icon" descr="ba-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3252" y="2537460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 8"/>
          <p:cNvSpPr txBox="1"/>
          <p:nvPr/>
        </p:nvSpPr>
        <p:spPr>
          <a:xfrm>
            <a:off x="1463039" y="2560445"/>
            <a:ext cx="219456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CdBd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기능을 물으면</a:t>
            </a:r>
          </a:p>
        </p:txBody>
      </p:sp>
      <p:sp>
        <p:nvSpPr>
          <p:cNvPr id="139" name="Text 9"/>
          <p:cNvSpPr txBox="1"/>
          <p:nvPr/>
        </p:nvSpPr>
        <p:spPr>
          <a:xfrm>
            <a:off x="3794759" y="2579369"/>
            <a:ext cx="32918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옛 문서나 기억으로 답해서 틀릴 때가 있었다</a:t>
            </a:r>
          </a:p>
        </p:txBody>
      </p:sp>
      <p:sp>
        <p:nvSpPr>
          <p:cNvPr id="140" name="Text 10"/>
          <p:cNvSpPr txBox="1"/>
          <p:nvPr/>
        </p:nvSpPr>
        <p:spPr>
          <a:xfrm>
            <a:off x="7086600" y="2553969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1" name="Text 11"/>
          <p:cNvSpPr txBox="1"/>
          <p:nvPr/>
        </p:nvSpPr>
        <p:spPr>
          <a:xfrm>
            <a:off x="7452359" y="2579369"/>
            <a:ext cx="40233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실제 화면을 녹화해 확인한 「기능 사전」을 찾아보고 답한다</a:t>
            </a:r>
          </a:p>
        </p:txBody>
      </p:sp>
      <p:sp>
        <p:nvSpPr>
          <p:cNvPr id="142" name="ba-row"/>
          <p:cNvSpPr/>
          <p:nvPr/>
        </p:nvSpPr>
        <p:spPr>
          <a:xfrm>
            <a:off x="548640" y="3236976"/>
            <a:ext cx="11091672" cy="868681"/>
          </a:xfrm>
          <a:prstGeom prst="roundRect">
            <a:avLst>
              <a:gd name="adj" fmla="val 12632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ba-circle"/>
          <p:cNvSpPr/>
          <p:nvPr/>
        </p:nvSpPr>
        <p:spPr>
          <a:xfrm>
            <a:off x="731519" y="3392423"/>
            <a:ext cx="566929" cy="5669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4" name="ba-icon" descr="ba-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3252" y="3534155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14"/>
          <p:cNvSpPr txBox="1"/>
          <p:nvPr/>
        </p:nvSpPr>
        <p:spPr>
          <a:xfrm>
            <a:off x="1463039" y="3557141"/>
            <a:ext cx="2194561" cy="228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애매한 부탁을 하면</a:t>
            </a:r>
          </a:p>
        </p:txBody>
      </p:sp>
      <p:sp>
        <p:nvSpPr>
          <p:cNvPr id="146" name="Text 15"/>
          <p:cNvSpPr txBox="1"/>
          <p:nvPr/>
        </p:nvSpPr>
        <p:spPr>
          <a:xfrm>
            <a:off x="3794759" y="3576066"/>
            <a:ext cx="32918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넘겨짚거나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뻔한 질문에도 되물었다</a:t>
            </a:r>
          </a:p>
        </p:txBody>
      </p:sp>
      <p:sp>
        <p:nvSpPr>
          <p:cNvPr id="147" name="Text 16"/>
          <p:cNvSpPr txBox="1"/>
          <p:nvPr/>
        </p:nvSpPr>
        <p:spPr>
          <a:xfrm>
            <a:off x="7086600" y="3550666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8" name="Text 17"/>
          <p:cNvSpPr txBox="1"/>
          <p:nvPr/>
        </p:nvSpPr>
        <p:spPr>
          <a:xfrm>
            <a:off x="7452359" y="3480816"/>
            <a:ext cx="402336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헷갈릴 때만 한 번 묻고</a:t>
            </a:r>
            <a:r>
              <a:t>,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분명하면 바로 답한다 </a:t>
            </a:r>
            <a:r>
              <a:t>—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잘못 알고 있으면 첫 문장에서 바로잡아 준다</a:t>
            </a:r>
          </a:p>
        </p:txBody>
      </p:sp>
      <p:sp>
        <p:nvSpPr>
          <p:cNvPr id="149" name="ba-row"/>
          <p:cNvSpPr/>
          <p:nvPr/>
        </p:nvSpPr>
        <p:spPr>
          <a:xfrm>
            <a:off x="548640" y="4233671"/>
            <a:ext cx="11091672" cy="868681"/>
          </a:xfrm>
          <a:prstGeom prst="roundRect">
            <a:avLst>
              <a:gd name="adj" fmla="val 12632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ba-circle"/>
          <p:cNvSpPr/>
          <p:nvPr/>
        </p:nvSpPr>
        <p:spPr>
          <a:xfrm>
            <a:off x="731519" y="4389120"/>
            <a:ext cx="566929" cy="5669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1" name="ba-icon" descr="ba-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3252" y="4530852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 20"/>
          <p:cNvSpPr txBox="1"/>
          <p:nvPr/>
        </p:nvSpPr>
        <p:spPr>
          <a:xfrm>
            <a:off x="1463039" y="4553837"/>
            <a:ext cx="219456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에디터 작업은</a:t>
            </a:r>
          </a:p>
        </p:txBody>
      </p:sp>
      <p:sp>
        <p:nvSpPr>
          <p:cNvPr id="153" name="Text 21"/>
          <p:cNvSpPr txBox="1"/>
          <p:nvPr/>
        </p:nvSpPr>
        <p:spPr>
          <a:xfrm>
            <a:off x="3794759" y="4477511"/>
            <a:ext cx="32918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다룰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수는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있었지만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고정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상태</a:t>
            </a:r>
            <a:r>
              <a:t>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멀티페이지에서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틀린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결과를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「성공」처럼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내기도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했다</a:t>
            </a:r>
          </a:p>
        </p:txBody>
      </p:sp>
      <p:sp>
        <p:nvSpPr>
          <p:cNvPr id="154" name="Text 22"/>
          <p:cNvSpPr txBox="1"/>
          <p:nvPr/>
        </p:nvSpPr>
        <p:spPr>
          <a:xfrm>
            <a:off x="7086600" y="4547361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5" name="Text 23"/>
          <p:cNvSpPr txBox="1"/>
          <p:nvPr/>
        </p:nvSpPr>
        <p:spPr>
          <a:xfrm>
            <a:off x="7452359" y="4382261"/>
            <a:ext cx="402336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여백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수치</a:t>
            </a:r>
            <a:r>
              <a:t>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표시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켜기</a:t>
            </a:r>
            <a:r>
              <a:t>/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끄기</a:t>
            </a:r>
            <a:r>
              <a:t>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상단</a:t>
            </a:r>
            <a:r>
              <a:t>/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하단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고정</a:t>
            </a:r>
            <a:r>
              <a:t>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멀티페이지까지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더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세밀하고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정확하게</a:t>
            </a:r>
            <a:r>
              <a:t> —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테스트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페이지에서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  <a:r>
              <a:t>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예약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입력은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옵션당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약</a:t>
            </a:r>
            <a:r>
              <a:t> 5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초</a:t>
            </a:r>
            <a:r>
              <a:t> → 2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초</a:t>
            </a:r>
          </a:p>
        </p:txBody>
      </p:sp>
      <p:sp>
        <p:nvSpPr>
          <p:cNvPr id="156" name="ba-row"/>
          <p:cNvSpPr/>
          <p:nvPr/>
        </p:nvSpPr>
        <p:spPr>
          <a:xfrm>
            <a:off x="548640" y="5230367"/>
            <a:ext cx="11091672" cy="868681"/>
          </a:xfrm>
          <a:prstGeom prst="roundRect">
            <a:avLst>
              <a:gd name="adj" fmla="val 12632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ba-circle"/>
          <p:cNvSpPr/>
          <p:nvPr/>
        </p:nvSpPr>
        <p:spPr>
          <a:xfrm>
            <a:off x="731519" y="5385815"/>
            <a:ext cx="566929" cy="5669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8" name="ba-icon" descr="ba-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73252" y="5527547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26"/>
          <p:cNvSpPr txBox="1"/>
          <p:nvPr/>
        </p:nvSpPr>
        <p:spPr>
          <a:xfrm>
            <a:off x="1463039" y="5550533"/>
            <a:ext cx="219456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새 맥을 세팅할 때</a:t>
            </a:r>
          </a:p>
        </p:txBody>
      </p:sp>
      <p:sp>
        <p:nvSpPr>
          <p:cNvPr id="160" name="Text 27"/>
          <p:cNvSpPr txBox="1"/>
          <p:nvPr/>
        </p:nvSpPr>
        <p:spPr>
          <a:xfrm>
            <a:off x="3794759" y="5569458"/>
            <a:ext cx="32918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무엇을 깔고 연결해야 하는지 기억에 의존했다</a:t>
            </a:r>
          </a:p>
        </p:txBody>
      </p:sp>
      <p:sp>
        <p:nvSpPr>
          <p:cNvPr id="161" name="Text 28"/>
          <p:cNvSpPr txBox="1"/>
          <p:nvPr/>
        </p:nvSpPr>
        <p:spPr>
          <a:xfrm>
            <a:off x="7086600" y="5544058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2" name="Text 29"/>
          <p:cNvSpPr txBox="1"/>
          <p:nvPr/>
        </p:nvSpPr>
        <p:spPr>
          <a:xfrm>
            <a:off x="7452359" y="5569458"/>
            <a:ext cx="40233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스크립트 한 번 </a:t>
            </a:r>
            <a:r>
              <a:t>+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점검표 한 번이면 끝 </a:t>
            </a:r>
            <a:r>
              <a:t>—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오늘 </a:t>
            </a:r>
            <a:r>
              <a:t>2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부 내용</a:t>
            </a:r>
          </a:p>
        </p:txBody>
      </p:sp>
      <p:sp>
        <p:nvSpPr>
          <p:cNvPr id="163" name="Slide Number Placeholder 0"/>
          <p:cNvSpPr txBox="1"/>
          <p:nvPr>
            <p:ph type="sldNum" sz="quarter" idx="4294967295"/>
          </p:nvPr>
        </p:nvSpPr>
        <p:spPr>
          <a:xfrm>
            <a:off x="11464846" y="6355079"/>
            <a:ext cx="175466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1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결과 보고</a:t>
            </a:r>
          </a:p>
        </p:txBody>
      </p:sp>
      <p:sp>
        <p:nvSpPr>
          <p:cNvPr id="168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03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어디까지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아직</a:t>
            </a:r>
          </a:p>
        </p:txBody>
      </p:sp>
      <p:sp>
        <p:nvSpPr>
          <p:cNvPr id="169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남은 건 리허설과 팀원 셋업</a:t>
            </a:r>
          </a:p>
        </p:txBody>
      </p:sp>
      <p:sp>
        <p:nvSpPr>
          <p:cNvPr id="170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세부 할 일 </a:t>
            </a:r>
            <a:r>
              <a:t>28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중 </a:t>
            </a:r>
            <a:r>
              <a:t>21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완료 </a:t>
            </a:r>
            <a:r>
              <a:t>·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보류 </a:t>
            </a:r>
            <a:r>
              <a:t>· 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남음</a:t>
            </a:r>
            <a:r>
              <a:t>.</a:t>
            </a:r>
          </a:p>
        </p:txBody>
      </p:sp>
      <p:sp>
        <p:nvSpPr>
          <p:cNvPr id="171" name="remain-card"/>
          <p:cNvSpPr/>
          <p:nvPr/>
        </p:nvSpPr>
        <p:spPr>
          <a:xfrm>
            <a:off x="548640" y="1874520"/>
            <a:ext cx="5413248" cy="4206241"/>
          </a:xfrm>
          <a:prstGeom prst="roundRect">
            <a:avLst>
              <a:gd name="adj" fmla="val 2609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남은 순서</a:t>
            </a:r>
          </a:p>
        </p:txBody>
      </p:sp>
      <p:sp>
        <p:nvSpPr>
          <p:cNvPr id="173" name="num"/>
          <p:cNvSpPr/>
          <p:nvPr/>
        </p:nvSpPr>
        <p:spPr>
          <a:xfrm>
            <a:off x="822960" y="2651760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7"/>
          <p:cNvSpPr txBox="1"/>
          <p:nvPr/>
        </p:nvSpPr>
        <p:spPr>
          <a:xfrm>
            <a:off x="822960" y="2778760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Text 8"/>
          <p:cNvSpPr txBox="1"/>
          <p:nvPr/>
        </p:nvSpPr>
        <p:spPr>
          <a:xfrm>
            <a:off x="1463039" y="2674745"/>
            <a:ext cx="42976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새 기기 리허설</a:t>
            </a:r>
          </a:p>
        </p:txBody>
      </p:sp>
      <p:sp>
        <p:nvSpPr>
          <p:cNvPr id="176" name="Text 9"/>
          <p:cNvSpPr txBox="1"/>
          <p:nvPr/>
        </p:nvSpPr>
        <p:spPr>
          <a:xfrm>
            <a:off x="1463039" y="2990088"/>
            <a:ext cx="4297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오늘 </a:t>
            </a:r>
            <a:r>
              <a:t>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 안내를 새 맥처럼 처음부터 따라 해 보고 막히는 곳을 고친다</a:t>
            </a:r>
          </a:p>
        </p:txBody>
      </p:sp>
      <p:sp>
        <p:nvSpPr>
          <p:cNvPr id="177" name="num"/>
          <p:cNvSpPr/>
          <p:nvPr/>
        </p:nvSpPr>
        <p:spPr>
          <a:xfrm>
            <a:off x="822960" y="3767328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1"/>
          <p:cNvSpPr txBox="1"/>
          <p:nvPr/>
        </p:nvSpPr>
        <p:spPr>
          <a:xfrm>
            <a:off x="822960" y="3894328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9" name="Text 12"/>
          <p:cNvSpPr txBox="1"/>
          <p:nvPr/>
        </p:nvSpPr>
        <p:spPr>
          <a:xfrm>
            <a:off x="1463039" y="3790313"/>
            <a:ext cx="42976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팀원 일정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전용 테스트 페이지</a:t>
            </a:r>
          </a:p>
        </p:txBody>
      </p:sp>
      <p:sp>
        <p:nvSpPr>
          <p:cNvPr id="180" name="Text 13"/>
          <p:cNvSpPr txBox="1"/>
          <p:nvPr/>
        </p:nvSpPr>
        <p:spPr>
          <a:xfrm>
            <a:off x="1463039" y="4105655"/>
            <a:ext cx="4297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공용 계정이라 사람마다 연습용 페이지가 하나씩 필요</a:t>
            </a:r>
          </a:p>
        </p:txBody>
      </p:sp>
      <p:sp>
        <p:nvSpPr>
          <p:cNvPr id="181" name="num"/>
          <p:cNvSpPr/>
          <p:nvPr/>
        </p:nvSpPr>
        <p:spPr>
          <a:xfrm>
            <a:off x="822960" y="4882896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5"/>
          <p:cNvSpPr txBox="1"/>
          <p:nvPr/>
        </p:nvSpPr>
        <p:spPr>
          <a:xfrm>
            <a:off x="822960" y="5009896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3" name="Text 16"/>
          <p:cNvSpPr txBox="1"/>
          <p:nvPr/>
        </p:nvSpPr>
        <p:spPr>
          <a:xfrm>
            <a:off x="1463039" y="4905881"/>
            <a:ext cx="42976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팀원 </a:t>
            </a:r>
            <a:r>
              <a:t>2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명 셋업</a:t>
            </a:r>
          </a:p>
        </p:txBody>
      </p:sp>
      <p:sp>
        <p:nvSpPr>
          <p:cNvPr id="184" name="Text 17"/>
          <p:cNvSpPr txBox="1"/>
          <p:nvPr/>
        </p:nvSpPr>
        <p:spPr>
          <a:xfrm>
            <a:off x="1463039" y="5221223"/>
            <a:ext cx="42976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셋업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점검표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확인 질문 통과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🎯 목표 도달</a:t>
            </a:r>
          </a:p>
        </p:txBody>
      </p:sp>
      <p:sp>
        <p:nvSpPr>
          <p:cNvPr id="185" name="bar-card"/>
          <p:cNvSpPr/>
          <p:nvPr/>
        </p:nvSpPr>
        <p:spPr>
          <a:xfrm>
            <a:off x="6227064" y="1874520"/>
            <a:ext cx="5413248" cy="1417321"/>
          </a:xfrm>
          <a:prstGeom prst="roundRect">
            <a:avLst>
              <a:gd name="adj" fmla="val 7742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9"/>
          <p:cNvSpPr txBox="1"/>
          <p:nvPr/>
        </p:nvSpPr>
        <p:spPr>
          <a:xfrm>
            <a:off x="6501384" y="2052827"/>
            <a:ext cx="2743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0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21</a:t>
            </a:r>
            <a:r>
              <a:rPr sz="1400">
                <a:solidFill>
                  <a:srgbClr val="6E6E73"/>
                </a:solidFill>
              </a:rPr>
              <a:t> / 28 </a:t>
            </a:r>
            <a:r>
              <a:rPr b="1" sz="14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완료</a:t>
            </a:r>
          </a:p>
        </p:txBody>
      </p:sp>
      <p:sp>
        <p:nvSpPr>
          <p:cNvPr id="187" name="bar-bg"/>
          <p:cNvSpPr/>
          <p:nvPr/>
        </p:nvSpPr>
        <p:spPr>
          <a:xfrm>
            <a:off x="6501384" y="2651760"/>
            <a:ext cx="4864609" cy="182881"/>
          </a:xfrm>
          <a:prstGeom prst="roundRect">
            <a:avLst>
              <a:gd name="adj" fmla="val 50000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bar-hold"/>
          <p:cNvSpPr/>
          <p:nvPr/>
        </p:nvSpPr>
        <p:spPr>
          <a:xfrm>
            <a:off x="6501384" y="2651760"/>
            <a:ext cx="3822193" cy="182881"/>
          </a:xfrm>
          <a:prstGeom prst="roundRect">
            <a:avLst>
              <a:gd name="adj" fmla="val 50000"/>
            </a:avLst>
          </a:prstGeom>
          <a:solidFill>
            <a:srgbClr val="6E6E73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bar-done"/>
          <p:cNvSpPr/>
          <p:nvPr/>
        </p:nvSpPr>
        <p:spPr>
          <a:xfrm>
            <a:off x="6501384" y="2651760"/>
            <a:ext cx="3648457" cy="18288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23"/>
          <p:cNvSpPr txBox="1"/>
          <p:nvPr/>
        </p:nvSpPr>
        <p:spPr>
          <a:xfrm>
            <a:off x="6501384" y="2964305"/>
            <a:ext cx="4864609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E6E73"/>
                </a:solidFill>
              </a:defRPr>
            </a:pPr>
            <a:r>
              <a:t>■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완료 </a:t>
            </a:r>
            <a:r>
              <a:t>21   ■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보류 </a:t>
            </a:r>
            <a:r>
              <a:t>1 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제품팀 결함 전달문</a:t>
            </a:r>
            <a:r>
              <a:t>)   ■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남음 </a:t>
            </a:r>
            <a:r>
              <a:t>6</a:t>
            </a:r>
          </a:p>
        </p:txBody>
      </p:sp>
      <p:sp>
        <p:nvSpPr>
          <p:cNvPr id="191" name="notyet-card"/>
          <p:cNvSpPr/>
          <p:nvPr/>
        </p:nvSpPr>
        <p:spPr>
          <a:xfrm>
            <a:off x="6227064" y="3474720"/>
            <a:ext cx="5413248" cy="2606041"/>
          </a:xfrm>
          <a:prstGeom prst="roundRect">
            <a:avLst>
              <a:gd name="adj" fmla="val 4211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solidFill>
              <a:srgbClr val="E3E3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pill-bg"/>
          <p:cNvSpPr/>
          <p:nvPr/>
        </p:nvSpPr>
        <p:spPr>
          <a:xfrm>
            <a:off x="6501384" y="3685032"/>
            <a:ext cx="731521" cy="256033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pill"/>
          <p:cNvSpPr txBox="1"/>
          <p:nvPr/>
        </p:nvSpPr>
        <p:spPr>
          <a:xfrm>
            <a:off x="6501384" y="3739196"/>
            <a:ext cx="731521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chemeClr val="accent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알아 둘 점</a:t>
            </a:r>
          </a:p>
        </p:txBody>
      </p:sp>
      <p:sp>
        <p:nvSpPr>
          <p:cNvPr id="194" name="Text 27"/>
          <p:cNvSpPr txBox="1"/>
          <p:nvPr/>
        </p:nvSpPr>
        <p:spPr>
          <a:xfrm>
            <a:off x="6501384" y="4069079"/>
            <a:ext cx="4864609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볼트끼리는 </a:t>
            </a:r>
            <a:r>
              <a:t>Obsidian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링크가 아니라</a:t>
            </a:r>
            <a:r>
              <a:t>,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파일을 찾아 읽는 방식으로 이어진다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200"/>
            </a:pP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기능을 외우는 게 아니라 사전을 찾아본다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사전에 「미확인」인 것은 모른다고 답한다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새 맥에서 처음부터 따라 해 보는 리허설과 팀원 기기 확인은 이제부터</a:t>
            </a:r>
          </a:p>
        </p:txBody>
      </p:sp>
      <p:sp>
        <p:nvSpPr>
          <p:cNvPr id="195" name="Slide Number Placeholder 0"/>
          <p:cNvSpPr txBox="1"/>
          <p:nvPr>
            <p:ph type="sldNum" sz="quarter" idx="4294967295"/>
          </p:nvPr>
        </p:nvSpPr>
        <p:spPr>
          <a:xfrm>
            <a:off x="11467971" y="6355079"/>
            <a:ext cx="172341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200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04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시작 전에</a:t>
            </a:r>
          </a:p>
        </p:txBody>
      </p:sp>
      <p:sp>
        <p:nvSpPr>
          <p:cNvPr id="201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준비물 </a:t>
            </a:r>
            <a:r>
              <a:t>4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가지</a:t>
            </a:r>
            <a:r>
              <a:t>,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그리고 터미널 쓰는 법</a:t>
            </a:r>
          </a:p>
        </p:txBody>
      </p:sp>
      <p:sp>
        <p:nvSpPr>
          <p:cNvPr id="202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20~30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명령어는 이해할 필요 없이 「복사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붙여넣기 </a:t>
            </a:r>
            <a:r>
              <a:t>→ Enter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」만 하면 됩니다</a:t>
            </a:r>
            <a:r>
              <a:t>.</a:t>
            </a:r>
          </a:p>
        </p:txBody>
      </p:sp>
      <p:sp>
        <p:nvSpPr>
          <p:cNvPr id="203" name="prep-card"/>
          <p:cNvSpPr/>
          <p:nvPr/>
        </p:nvSpPr>
        <p:spPr>
          <a:xfrm>
            <a:off x="548640" y="1874520"/>
            <a:ext cx="5413248" cy="4206241"/>
          </a:xfrm>
          <a:prstGeom prst="roundRect">
            <a:avLst>
              <a:gd name="adj" fmla="val 2609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5"/>
          <p:cNvSpPr txBox="1"/>
          <p:nvPr/>
        </p:nvSpPr>
        <p:spPr>
          <a:xfrm>
            <a:off x="822960" y="2123882"/>
            <a:ext cx="484632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담당자에게 미리 받을 것</a:t>
            </a:r>
          </a:p>
        </p:txBody>
      </p:sp>
      <p:sp>
        <p:nvSpPr>
          <p:cNvPr id="205" name="num"/>
          <p:cNvSpPr/>
          <p:nvPr/>
        </p:nvSpPr>
        <p:spPr>
          <a:xfrm>
            <a:off x="822960" y="2615183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7"/>
          <p:cNvSpPr txBox="1"/>
          <p:nvPr/>
        </p:nvSpPr>
        <p:spPr>
          <a:xfrm>
            <a:off x="822960" y="2718307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7" name="Text 8"/>
          <p:cNvSpPr txBox="1"/>
          <p:nvPr/>
        </p:nvSpPr>
        <p:spPr>
          <a:xfrm>
            <a:off x="1371600" y="2605024"/>
            <a:ext cx="43891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GitHub CdBd-in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계정</a:t>
            </a:r>
          </a:p>
        </p:txBody>
      </p:sp>
      <p:sp>
        <p:nvSpPr>
          <p:cNvPr id="208" name="Text 9"/>
          <p:cNvSpPr txBox="1"/>
          <p:nvPr/>
        </p:nvSpPr>
        <p:spPr>
          <a:xfrm>
            <a:off x="1371600" y="2911791"/>
            <a:ext cx="43891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저장소를 받기 위한 팀 공용 계정</a:t>
            </a:r>
          </a:p>
        </p:txBody>
      </p:sp>
      <p:sp>
        <p:nvSpPr>
          <p:cNvPr id="209" name="num"/>
          <p:cNvSpPr/>
          <p:nvPr/>
        </p:nvSpPr>
        <p:spPr>
          <a:xfrm>
            <a:off x="822960" y="33009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11"/>
          <p:cNvSpPr txBox="1"/>
          <p:nvPr/>
        </p:nvSpPr>
        <p:spPr>
          <a:xfrm>
            <a:off x="822960" y="34041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1" name="Text 12"/>
          <p:cNvSpPr txBox="1"/>
          <p:nvPr/>
        </p:nvSpPr>
        <p:spPr>
          <a:xfrm>
            <a:off x="1371600" y="3285043"/>
            <a:ext cx="438912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CdBd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공용 계정</a:t>
            </a:r>
          </a:p>
        </p:txBody>
      </p:sp>
      <p:sp>
        <p:nvSpPr>
          <p:cNvPr id="212" name="Text 13"/>
          <p:cNvSpPr txBox="1"/>
          <p:nvPr/>
        </p:nvSpPr>
        <p:spPr>
          <a:xfrm>
            <a:off x="1371600" y="3597591"/>
            <a:ext cx="43891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이메일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비밀번호 </a:t>
            </a:r>
            <a:r>
              <a:t>(1Password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 안전한 방법으로</a:t>
            </a:r>
            <a:r>
              <a:t>)</a:t>
            </a:r>
          </a:p>
        </p:txBody>
      </p:sp>
      <p:sp>
        <p:nvSpPr>
          <p:cNvPr id="213" name="num"/>
          <p:cNvSpPr/>
          <p:nvPr/>
        </p:nvSpPr>
        <p:spPr>
          <a:xfrm>
            <a:off x="822960" y="39867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5"/>
          <p:cNvSpPr txBox="1"/>
          <p:nvPr/>
        </p:nvSpPr>
        <p:spPr>
          <a:xfrm>
            <a:off x="822960" y="40899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5" name="Text 16"/>
          <p:cNvSpPr txBox="1"/>
          <p:nvPr/>
        </p:nvSpPr>
        <p:spPr>
          <a:xfrm>
            <a:off x="1371600" y="3970843"/>
            <a:ext cx="438912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내 전용 테스트 페이지</a:t>
            </a:r>
          </a:p>
        </p:txBody>
      </p:sp>
      <p:sp>
        <p:nvSpPr>
          <p:cNvPr id="216" name="Text 17"/>
          <p:cNvSpPr txBox="1"/>
          <p:nvPr/>
        </p:nvSpPr>
        <p:spPr>
          <a:xfrm>
            <a:off x="1371600" y="4283391"/>
            <a:ext cx="43891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cdbd.in/editor/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숫자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연습은 여기서만</a:t>
            </a:r>
          </a:p>
        </p:txBody>
      </p:sp>
      <p:sp>
        <p:nvSpPr>
          <p:cNvPr id="217" name="num"/>
          <p:cNvSpPr/>
          <p:nvPr/>
        </p:nvSpPr>
        <p:spPr>
          <a:xfrm>
            <a:off x="822960" y="46725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9"/>
          <p:cNvSpPr txBox="1"/>
          <p:nvPr/>
        </p:nvSpPr>
        <p:spPr>
          <a:xfrm>
            <a:off x="822960" y="47757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9" name="Text 20"/>
          <p:cNvSpPr txBox="1"/>
          <p:nvPr/>
        </p:nvSpPr>
        <p:spPr>
          <a:xfrm>
            <a:off x="1371600" y="4656643"/>
            <a:ext cx="438912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cdbd.env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Supabase 2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줄</a:t>
            </a:r>
          </a:p>
        </p:txBody>
      </p:sp>
      <p:sp>
        <p:nvSpPr>
          <p:cNvPr id="220" name="Text 21"/>
          <p:cNvSpPr txBox="1"/>
          <p:nvPr/>
        </p:nvSpPr>
        <p:spPr>
          <a:xfrm>
            <a:off x="1371600" y="4969191"/>
            <a:ext cx="43891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다른 팀원 파일에서 그대로 옮겨도 됨</a:t>
            </a:r>
          </a:p>
        </p:txBody>
      </p:sp>
      <p:sp>
        <p:nvSpPr>
          <p:cNvPr id="221" name="box-red"/>
          <p:cNvSpPr/>
          <p:nvPr/>
        </p:nvSpPr>
        <p:spPr>
          <a:xfrm>
            <a:off x="777240" y="5349240"/>
            <a:ext cx="4956048" cy="594361"/>
          </a:xfrm>
          <a:prstGeom prst="roundRect">
            <a:avLst>
              <a:gd name="adj" fmla="val 15385"/>
            </a:avLst>
          </a:prstGeom>
          <a:solidFill>
            <a:schemeClr val="accent5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box-text"/>
          <p:cNvSpPr txBox="1"/>
          <p:nvPr/>
        </p:nvSpPr>
        <p:spPr>
          <a:xfrm>
            <a:off x="978408" y="5538121"/>
            <a:ext cx="455371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chemeClr val="accent5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🔴 다른 사람의 </a:t>
            </a:r>
            <a:r>
              <a:t>credentials.json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은 받지 마세요</a:t>
            </a:r>
          </a:p>
        </p:txBody>
      </p:sp>
      <p:sp>
        <p:nvSpPr>
          <p:cNvPr id="223" name="term-card"/>
          <p:cNvSpPr/>
          <p:nvPr/>
        </p:nvSpPr>
        <p:spPr>
          <a:xfrm>
            <a:off x="6227064" y="1874520"/>
            <a:ext cx="5413248" cy="4206241"/>
          </a:xfrm>
          <a:prstGeom prst="roundRect">
            <a:avLst>
              <a:gd name="adj" fmla="val 2609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solidFill>
              <a:srgbClr val="E3E3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25"/>
          <p:cNvSpPr txBox="1"/>
          <p:nvPr/>
        </p:nvSpPr>
        <p:spPr>
          <a:xfrm>
            <a:off x="6492240" y="2123882"/>
            <a:ext cx="493776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터미널 쓰는 법 </a:t>
            </a:r>
            <a:r>
              <a:t>(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이것만 알면 됩니다</a:t>
            </a:r>
            <a:r>
              <a:t>)</a:t>
            </a:r>
          </a:p>
        </p:txBody>
      </p:sp>
      <p:sp>
        <p:nvSpPr>
          <p:cNvPr id="225" name="num"/>
          <p:cNvSpPr/>
          <p:nvPr/>
        </p:nvSpPr>
        <p:spPr>
          <a:xfrm>
            <a:off x="6492240" y="2606039"/>
            <a:ext cx="384049" cy="38404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27"/>
          <p:cNvSpPr txBox="1"/>
          <p:nvPr/>
        </p:nvSpPr>
        <p:spPr>
          <a:xfrm>
            <a:off x="6492240" y="270916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" name="Text 28"/>
          <p:cNvSpPr txBox="1"/>
          <p:nvPr/>
        </p:nvSpPr>
        <p:spPr>
          <a:xfrm>
            <a:off x="7040880" y="2617531"/>
            <a:ext cx="443484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⌘ + Space →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「터미널」 입력 </a:t>
            </a:r>
            <a:r>
              <a:t>→ Enter</a:t>
            </a:r>
          </a:p>
        </p:txBody>
      </p:sp>
      <p:sp>
        <p:nvSpPr>
          <p:cNvPr id="228" name="Text 29"/>
          <p:cNvSpPr txBox="1"/>
          <p:nvPr/>
        </p:nvSpPr>
        <p:spPr>
          <a:xfrm>
            <a:off x="7040880" y="2966655"/>
            <a:ext cx="443484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검은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또는 흰</a:t>
            </a:r>
            <a:r>
              <a:t>)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창이 열리면 준비 끝</a:t>
            </a:r>
          </a:p>
        </p:txBody>
      </p:sp>
      <p:sp>
        <p:nvSpPr>
          <p:cNvPr id="229" name="num"/>
          <p:cNvSpPr/>
          <p:nvPr/>
        </p:nvSpPr>
        <p:spPr>
          <a:xfrm>
            <a:off x="6492240" y="3456432"/>
            <a:ext cx="384049" cy="38404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31"/>
          <p:cNvSpPr txBox="1"/>
          <p:nvPr/>
        </p:nvSpPr>
        <p:spPr>
          <a:xfrm>
            <a:off x="6492240" y="3559555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1" name="Text 32"/>
          <p:cNvSpPr txBox="1"/>
          <p:nvPr/>
        </p:nvSpPr>
        <p:spPr>
          <a:xfrm>
            <a:off x="7040880" y="3467923"/>
            <a:ext cx="443484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 자료의 명령을 통째로 복사 </a:t>
            </a:r>
            <a:r>
              <a:t>(⌘C)</a:t>
            </a:r>
          </a:p>
        </p:txBody>
      </p:sp>
      <p:sp>
        <p:nvSpPr>
          <p:cNvPr id="232" name="Text 33"/>
          <p:cNvSpPr txBox="1"/>
          <p:nvPr/>
        </p:nvSpPr>
        <p:spPr>
          <a:xfrm>
            <a:off x="7040880" y="3817047"/>
            <a:ext cx="44348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여러 줄이어도 한 번에 복사해도 됩니다</a:t>
            </a:r>
          </a:p>
        </p:txBody>
      </p:sp>
      <p:sp>
        <p:nvSpPr>
          <p:cNvPr id="233" name="num"/>
          <p:cNvSpPr/>
          <p:nvPr/>
        </p:nvSpPr>
        <p:spPr>
          <a:xfrm>
            <a:off x="6492240" y="4306823"/>
            <a:ext cx="384049" cy="38404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35"/>
          <p:cNvSpPr txBox="1"/>
          <p:nvPr/>
        </p:nvSpPr>
        <p:spPr>
          <a:xfrm>
            <a:off x="6492240" y="4409947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5" name="Text 36"/>
          <p:cNvSpPr txBox="1"/>
          <p:nvPr/>
        </p:nvSpPr>
        <p:spPr>
          <a:xfrm>
            <a:off x="7040880" y="4318315"/>
            <a:ext cx="443484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터미널에 붙여넣기 </a:t>
            </a:r>
            <a:r>
              <a:t>(⌘V) → Enter</a:t>
            </a:r>
          </a:p>
        </p:txBody>
      </p:sp>
      <p:sp>
        <p:nvSpPr>
          <p:cNvPr id="236" name="Text 37"/>
          <p:cNvSpPr txBox="1"/>
          <p:nvPr/>
        </p:nvSpPr>
        <p:spPr>
          <a:xfrm>
            <a:off x="7040880" y="4667439"/>
            <a:ext cx="44348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끝나면 다시 맨 아래에 입력 줄</a:t>
            </a:r>
            <a:r>
              <a:t>(%)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나옵니다</a:t>
            </a:r>
          </a:p>
        </p:txBody>
      </p:sp>
      <p:sp>
        <p:nvSpPr>
          <p:cNvPr id="237" name="num"/>
          <p:cNvSpPr/>
          <p:nvPr/>
        </p:nvSpPr>
        <p:spPr>
          <a:xfrm>
            <a:off x="6492240" y="5157215"/>
            <a:ext cx="384049" cy="38404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39"/>
          <p:cNvSpPr txBox="1"/>
          <p:nvPr/>
        </p:nvSpPr>
        <p:spPr>
          <a:xfrm>
            <a:off x="6492240" y="52603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9" name="Text 40"/>
          <p:cNvSpPr txBox="1"/>
          <p:nvPr/>
        </p:nvSpPr>
        <p:spPr>
          <a:xfrm>
            <a:off x="7040880" y="5168707"/>
            <a:ext cx="443484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비밀번호를 물으면 맥 로그인 비밀번호</a:t>
            </a:r>
          </a:p>
        </p:txBody>
      </p:sp>
      <p:sp>
        <p:nvSpPr>
          <p:cNvPr id="240" name="Text 41"/>
          <p:cNvSpPr txBox="1"/>
          <p:nvPr/>
        </p:nvSpPr>
        <p:spPr>
          <a:xfrm>
            <a:off x="7040880" y="5517830"/>
            <a:ext cx="443484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입력해도 화면에 안 보이는 게 정상</a:t>
            </a:r>
          </a:p>
        </p:txBody>
      </p:sp>
      <p:sp>
        <p:nvSpPr>
          <p:cNvPr id="241" name="Slide Number Placeholder 0"/>
          <p:cNvSpPr txBox="1"/>
          <p:nvPr>
            <p:ph type="sldNum" sz="quarter" idx="4294967295"/>
          </p:nvPr>
        </p:nvSpPr>
        <p:spPr>
          <a:xfrm>
            <a:off x="11466073" y="6355079"/>
            <a:ext cx="17423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246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04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어디서부터</a:t>
            </a:r>
          </a:p>
        </p:txBody>
      </p:sp>
      <p:sp>
        <p:nvSpPr>
          <p:cNvPr id="247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어디서부터 시작하나요</a:t>
            </a:r>
            <a:r>
              <a:t>?</a:t>
            </a:r>
          </a:p>
        </p:txBody>
      </p:sp>
      <p:sp>
        <p:nvSpPr>
          <p:cNvPr id="248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GitHub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계정이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같아도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맥에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볼트가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없으면</a:t>
            </a:r>
            <a:r>
              <a:t> 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부터</a:t>
            </a:r>
            <a:r>
              <a:t> — STEP 2·4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안의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파일을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쓰기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때문입니다</a:t>
            </a:r>
            <a:r>
              <a:t>.</a:t>
            </a:r>
          </a:p>
        </p:txBody>
      </p:sp>
      <p:sp>
        <p:nvSpPr>
          <p:cNvPr id="249" name="path-card"/>
          <p:cNvSpPr/>
          <p:nvPr/>
        </p:nvSpPr>
        <p:spPr>
          <a:xfrm>
            <a:off x="548640" y="1874520"/>
            <a:ext cx="5413248" cy="3657601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num"/>
          <p:cNvSpPr/>
          <p:nvPr/>
        </p:nvSpPr>
        <p:spPr>
          <a:xfrm>
            <a:off x="822960" y="2103120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6"/>
          <p:cNvSpPr txBox="1"/>
          <p:nvPr/>
        </p:nvSpPr>
        <p:spPr>
          <a:xfrm>
            <a:off x="822960" y="2240279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52" name="Text 7"/>
          <p:cNvSpPr txBox="1"/>
          <p:nvPr/>
        </p:nvSpPr>
        <p:spPr>
          <a:xfrm>
            <a:off x="1463039" y="2112515"/>
            <a:ext cx="3218689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 맥에 볼트가 아직 없다</a:t>
            </a:r>
          </a:p>
        </p:txBody>
      </p:sp>
      <p:sp>
        <p:nvSpPr>
          <p:cNvPr id="253" name="Text 8"/>
          <p:cNvSpPr txBox="1"/>
          <p:nvPr/>
        </p:nvSpPr>
        <p:spPr>
          <a:xfrm>
            <a:off x="1463039" y="2454591"/>
            <a:ext cx="4224530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새 맥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볼트를 받아 본 적 없는 팀원</a:t>
            </a:r>
          </a:p>
        </p:txBody>
      </p:sp>
      <p:sp>
        <p:nvSpPr>
          <p:cNvPr id="254" name="pill-bg"/>
          <p:cNvSpPr/>
          <p:nvPr/>
        </p:nvSpPr>
        <p:spPr>
          <a:xfrm>
            <a:off x="4727447" y="2121407"/>
            <a:ext cx="960121" cy="256033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pill"/>
          <p:cNvSpPr txBox="1"/>
          <p:nvPr/>
        </p:nvSpPr>
        <p:spPr>
          <a:xfrm>
            <a:off x="4727447" y="2175572"/>
            <a:ext cx="960121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1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시간</a:t>
            </a:r>
          </a:p>
        </p:txBody>
      </p:sp>
      <p:sp>
        <p:nvSpPr>
          <p:cNvPr id="256" name="Text 11"/>
          <p:cNvSpPr txBox="1"/>
          <p:nvPr/>
        </p:nvSpPr>
        <p:spPr>
          <a:xfrm>
            <a:off x="868680" y="30200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7" name="Text 12"/>
          <p:cNvSpPr txBox="1"/>
          <p:nvPr/>
        </p:nvSpPr>
        <p:spPr>
          <a:xfrm>
            <a:off x="1188719" y="2903981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옵시디언 설치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준비물 받기</a:t>
            </a:r>
          </a:p>
        </p:txBody>
      </p:sp>
      <p:sp>
        <p:nvSpPr>
          <p:cNvPr id="258" name="Text 13"/>
          <p:cNvSpPr txBox="1"/>
          <p:nvPr/>
        </p:nvSpPr>
        <p:spPr>
          <a:xfrm>
            <a:off x="1188719" y="3156204"/>
            <a:ext cx="45445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E6E73"/>
                </a:solidFill>
              </a:defRPr>
            </a:lvl1pPr>
          </a:lstStyle>
          <a:p>
            <a:pPr/>
            <a:r>
              <a:t>ONBOARDING §2</a:t>
            </a:r>
          </a:p>
        </p:txBody>
      </p:sp>
      <p:sp>
        <p:nvSpPr>
          <p:cNvPr id="259" name="Text 14"/>
          <p:cNvSpPr txBox="1"/>
          <p:nvPr/>
        </p:nvSpPr>
        <p:spPr>
          <a:xfrm>
            <a:off x="868680" y="3541267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0" name="Text 15"/>
          <p:cNvSpPr txBox="1"/>
          <p:nvPr/>
        </p:nvSpPr>
        <p:spPr>
          <a:xfrm>
            <a:off x="1188719" y="3425189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SSH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키 만들기 </a:t>
            </a:r>
            <a:r>
              <a:t>→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공용 </a:t>
            </a:r>
            <a:r>
              <a:t>GitHub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계정에 등록</a:t>
            </a:r>
          </a:p>
        </p:txBody>
      </p:sp>
      <p:sp>
        <p:nvSpPr>
          <p:cNvPr id="261" name="Text 16"/>
          <p:cNvSpPr txBox="1"/>
          <p:nvPr/>
        </p:nvSpPr>
        <p:spPr>
          <a:xfrm>
            <a:off x="1188719" y="3672965"/>
            <a:ext cx="4544569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E6E73"/>
                </a:solidFill>
              </a:defRPr>
            </a:pPr>
            <a:r>
              <a:t>§3-1 · §3-2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맥마다 새로 만들어요</a:t>
            </a:r>
          </a:p>
        </p:txBody>
      </p:sp>
      <p:sp>
        <p:nvSpPr>
          <p:cNvPr id="262" name="Text 17"/>
          <p:cNvSpPr txBox="1"/>
          <p:nvPr/>
        </p:nvSpPr>
        <p:spPr>
          <a:xfrm>
            <a:off x="868680" y="4062476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3" name="Text 18"/>
          <p:cNvSpPr txBox="1"/>
          <p:nvPr/>
        </p:nvSpPr>
        <p:spPr>
          <a:xfrm>
            <a:off x="1188719" y="3946397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저장소 </a:t>
            </a:r>
            <a:r>
              <a:t>6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개 받기</a:t>
            </a:r>
          </a:p>
        </p:txBody>
      </p:sp>
      <p:sp>
        <p:nvSpPr>
          <p:cNvPr id="264" name="Text 19"/>
          <p:cNvSpPr txBox="1"/>
          <p:nvPr/>
        </p:nvSpPr>
        <p:spPr>
          <a:xfrm>
            <a:off x="1188719" y="4194173"/>
            <a:ext cx="4544569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E6E73"/>
                </a:solidFill>
              </a:defRPr>
            </a:pPr>
            <a:r>
              <a:t>§3-3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꼭 </a:t>
            </a:r>
            <a:r>
              <a:t>~/Documents/GitHub/design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안에</a:t>
            </a:r>
          </a:p>
        </p:txBody>
      </p:sp>
      <p:sp>
        <p:nvSpPr>
          <p:cNvPr id="265" name="Text 20"/>
          <p:cNvSpPr txBox="1"/>
          <p:nvPr/>
        </p:nvSpPr>
        <p:spPr>
          <a:xfrm>
            <a:off x="868680" y="4583684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6" name="Text 21"/>
          <p:cNvSpPr txBox="1"/>
          <p:nvPr/>
        </p:nvSpPr>
        <p:spPr>
          <a:xfrm>
            <a:off x="1188719" y="4467605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옵시디언에서 볼트 </a:t>
            </a:r>
            <a:r>
              <a:t>6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개 열기 </a:t>
            </a:r>
            <a:r>
              <a:t>· obsidian-git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설정</a:t>
            </a:r>
          </a:p>
        </p:txBody>
      </p:sp>
      <p:sp>
        <p:nvSpPr>
          <p:cNvPr id="267" name="Text 22"/>
          <p:cNvSpPr txBox="1"/>
          <p:nvPr/>
        </p:nvSpPr>
        <p:spPr>
          <a:xfrm>
            <a:off x="1188719" y="4719828"/>
            <a:ext cx="454456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E6E73"/>
                </a:solidFill>
              </a:defRPr>
            </a:lvl1pPr>
          </a:lstStyle>
          <a:p>
            <a:pPr/>
            <a:r>
              <a:t>§3-4 · §3-5</a:t>
            </a:r>
          </a:p>
        </p:txBody>
      </p:sp>
      <p:sp>
        <p:nvSpPr>
          <p:cNvPr id="268" name="Text 23"/>
          <p:cNvSpPr txBox="1"/>
          <p:nvPr/>
        </p:nvSpPr>
        <p:spPr>
          <a:xfrm>
            <a:off x="868680" y="5104891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9" name="Text 24"/>
          <p:cNvSpPr txBox="1"/>
          <p:nvPr/>
        </p:nvSpPr>
        <p:spPr>
          <a:xfrm>
            <a:off x="1188719" y="4995163"/>
            <a:ext cx="454456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STEP 1~9</a:t>
            </a:r>
          </a:p>
        </p:txBody>
      </p:sp>
      <p:sp>
        <p:nvSpPr>
          <p:cNvPr id="270" name="Text 25"/>
          <p:cNvSpPr txBox="1"/>
          <p:nvPr/>
        </p:nvSpPr>
        <p:spPr>
          <a:xfrm>
            <a:off x="1188719" y="5236589"/>
            <a:ext cx="4544569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E6E73"/>
                </a:solidFill>
              </a:defRPr>
            </a:pP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셋업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다음 장부터</a:t>
            </a:r>
          </a:p>
        </p:txBody>
      </p:sp>
      <p:sp>
        <p:nvSpPr>
          <p:cNvPr id="271" name="path-card"/>
          <p:cNvSpPr/>
          <p:nvPr/>
        </p:nvSpPr>
        <p:spPr>
          <a:xfrm>
            <a:off x="6231635" y="1874520"/>
            <a:ext cx="5413249" cy="3657601"/>
          </a:xfrm>
          <a:prstGeom prst="roundRect">
            <a:avLst>
              <a:gd name="adj" fmla="val 3000"/>
            </a:avLst>
          </a:prstGeom>
          <a:solidFill>
            <a:schemeClr val="accent3">
              <a:alpha val="8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num"/>
          <p:cNvSpPr/>
          <p:nvPr/>
        </p:nvSpPr>
        <p:spPr>
          <a:xfrm>
            <a:off x="6505956" y="2103120"/>
            <a:ext cx="502921" cy="502921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28"/>
          <p:cNvSpPr txBox="1"/>
          <p:nvPr/>
        </p:nvSpPr>
        <p:spPr>
          <a:xfrm>
            <a:off x="6505956" y="2240279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74" name="Text 29"/>
          <p:cNvSpPr txBox="1"/>
          <p:nvPr/>
        </p:nvSpPr>
        <p:spPr>
          <a:xfrm>
            <a:off x="7146035" y="2112515"/>
            <a:ext cx="3218689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6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볼트 </a:t>
            </a:r>
            <a:r>
              <a:t>6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개가 이미 이 맥에 있다</a:t>
            </a:r>
          </a:p>
        </p:txBody>
      </p:sp>
      <p:sp>
        <p:nvSpPr>
          <p:cNvPr id="275" name="Text 30"/>
          <p:cNvSpPr txBox="1"/>
          <p:nvPr/>
        </p:nvSpPr>
        <p:spPr>
          <a:xfrm>
            <a:off x="7146035" y="2454591"/>
            <a:ext cx="4224530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같은 </a:t>
            </a:r>
            <a:r>
              <a:t>GitHub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계정으로 볼트를 쓰고 있는 맥</a:t>
            </a:r>
          </a:p>
        </p:txBody>
      </p:sp>
      <p:sp>
        <p:nvSpPr>
          <p:cNvPr id="276" name="pill-bg"/>
          <p:cNvSpPr/>
          <p:nvPr/>
        </p:nvSpPr>
        <p:spPr>
          <a:xfrm>
            <a:off x="10410443" y="2121407"/>
            <a:ext cx="960121" cy="256033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pill"/>
          <p:cNvSpPr txBox="1"/>
          <p:nvPr/>
        </p:nvSpPr>
        <p:spPr>
          <a:xfrm>
            <a:off x="10410443" y="2175572"/>
            <a:ext cx="960121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30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278" name="Text 33"/>
          <p:cNvSpPr txBox="1"/>
          <p:nvPr/>
        </p:nvSpPr>
        <p:spPr>
          <a:xfrm>
            <a:off x="6551676" y="30200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79" name="Text 34"/>
          <p:cNvSpPr txBox="1"/>
          <p:nvPr/>
        </p:nvSpPr>
        <p:spPr>
          <a:xfrm>
            <a:off x="6871716" y="2903981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볼트 위치 확인</a:t>
            </a:r>
          </a:p>
        </p:txBody>
      </p:sp>
      <p:sp>
        <p:nvSpPr>
          <p:cNvPr id="280" name="Text 35"/>
          <p:cNvSpPr txBox="1"/>
          <p:nvPr/>
        </p:nvSpPr>
        <p:spPr>
          <a:xfrm>
            <a:off x="6871716" y="3162554"/>
            <a:ext cx="45445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ls ~/Documents/GitHub/design → 폴더 5개 + 허브 파일</a:t>
            </a:r>
          </a:p>
        </p:txBody>
      </p:sp>
      <p:sp>
        <p:nvSpPr>
          <p:cNvPr id="281" name="Text 36"/>
          <p:cNvSpPr txBox="1"/>
          <p:nvPr/>
        </p:nvSpPr>
        <p:spPr>
          <a:xfrm>
            <a:off x="6551676" y="3541267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2" name="Text 37"/>
          <p:cNvSpPr txBox="1"/>
          <p:nvPr/>
        </p:nvSpPr>
        <p:spPr>
          <a:xfrm>
            <a:off x="6871716" y="3425189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허브부터 최신으로 받기</a:t>
            </a:r>
          </a:p>
        </p:txBody>
      </p:sp>
      <p:sp>
        <p:nvSpPr>
          <p:cNvPr id="283" name="Text 38"/>
          <p:cNvSpPr txBox="1"/>
          <p:nvPr/>
        </p:nvSpPr>
        <p:spPr>
          <a:xfrm>
            <a:off x="6871716" y="3690111"/>
            <a:ext cx="4544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cd ~/Documents/GitHub/design &amp;&amp; git pull</a:t>
            </a:r>
          </a:p>
        </p:txBody>
      </p:sp>
      <p:sp>
        <p:nvSpPr>
          <p:cNvPr id="284" name="Text 39"/>
          <p:cNvSpPr txBox="1"/>
          <p:nvPr/>
        </p:nvSpPr>
        <p:spPr>
          <a:xfrm>
            <a:off x="6551676" y="4062476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5" name="Text 40"/>
          <p:cNvSpPr txBox="1"/>
          <p:nvPr/>
        </p:nvSpPr>
        <p:spPr>
          <a:xfrm>
            <a:off x="6871716" y="3946397"/>
            <a:ext cx="454456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나머지 </a:t>
            </a:r>
            <a:r>
              <a:t>5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개도 한 번에 받기</a:t>
            </a:r>
          </a:p>
        </p:txBody>
      </p:sp>
      <p:sp>
        <p:nvSpPr>
          <p:cNvPr id="286" name="Text 41"/>
          <p:cNvSpPr txBox="1"/>
          <p:nvPr/>
        </p:nvSpPr>
        <p:spPr>
          <a:xfrm>
            <a:off x="6871716" y="4204970"/>
            <a:ext cx="45445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bash tools/cdbd-sync.sh → 「전부 최신」</a:t>
            </a:r>
          </a:p>
        </p:txBody>
      </p:sp>
      <p:sp>
        <p:nvSpPr>
          <p:cNvPr id="287" name="Text 42"/>
          <p:cNvSpPr txBox="1"/>
          <p:nvPr/>
        </p:nvSpPr>
        <p:spPr>
          <a:xfrm>
            <a:off x="6551676" y="4583684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88" name="Text 43"/>
          <p:cNvSpPr txBox="1"/>
          <p:nvPr/>
        </p:nvSpPr>
        <p:spPr>
          <a:xfrm>
            <a:off x="6871716" y="4473955"/>
            <a:ext cx="454456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STEP 1~9</a:t>
            </a:r>
          </a:p>
        </p:txBody>
      </p:sp>
      <p:sp>
        <p:nvSpPr>
          <p:cNvPr id="289" name="Text 44"/>
          <p:cNvSpPr txBox="1"/>
          <p:nvPr/>
        </p:nvSpPr>
        <p:spPr>
          <a:xfrm>
            <a:off x="6871716" y="4715381"/>
            <a:ext cx="4544569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이미 깔린 건 확인만 하고 넘어가도 돼요</a:t>
            </a:r>
          </a:p>
        </p:txBody>
      </p:sp>
      <p:sp>
        <p:nvSpPr>
          <p:cNvPr id="290" name="box-no"/>
          <p:cNvSpPr/>
          <p:nvPr/>
        </p:nvSpPr>
        <p:spPr>
          <a:xfrm>
            <a:off x="548640" y="5669279"/>
            <a:ext cx="11091672" cy="457201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47"/>
          <p:cNvSpPr txBox="1"/>
          <p:nvPr/>
        </p:nvSpPr>
        <p:spPr>
          <a:xfrm>
            <a:off x="777239" y="5810848"/>
            <a:ext cx="10698482" cy="174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어느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쪽인지</a:t>
            </a:r>
            <a:r>
              <a:t>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모르겠다면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터미널에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ssh -T git@github.com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 → 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successfully authenticated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」면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GitHub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연결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완료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→ A-2(SSH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키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)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는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건너뛰고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,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볼트가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있는지는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B-1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로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 </a:t>
            </a:r>
            <a:r>
              <a:rPr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rPr>
              <a:t>확인하세요</a:t>
            </a:r>
            <a:r>
              <a:rPr>
                <a:solidFill>
                  <a:srgbClr val="6E6E73"/>
                </a:solidFill>
                <a:latin typeface="+mj-lt"/>
                <a:ea typeface="+mj-ea"/>
                <a:cs typeface="+mj-cs"/>
                <a:sym typeface="Pretendard Regular"/>
              </a:rPr>
              <a:t>.</a:t>
            </a:r>
          </a:p>
        </p:txBody>
      </p:sp>
      <p:sp>
        <p:nvSpPr>
          <p:cNvPr id="292" name="Slide Number Placeholder 0"/>
          <p:cNvSpPr txBox="1"/>
          <p:nvPr>
            <p:ph type="sldNum" sz="quarter" idx="4294967295"/>
          </p:nvPr>
        </p:nvSpPr>
        <p:spPr>
          <a:xfrm>
            <a:off x="11473106" y="6355079"/>
            <a:ext cx="167206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297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04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 지도</a:t>
            </a:r>
          </a:p>
        </p:txBody>
      </p:sp>
      <p:sp>
        <p:nvSpPr>
          <p:cNvPr id="298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9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단계 </a:t>
            </a:r>
            <a:r>
              <a:t>=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 </a:t>
            </a:r>
            <a:r>
              <a:t>3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연결 </a:t>
            </a:r>
            <a:r>
              <a:t>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 </a:t>
            </a:r>
            <a:r>
              <a:t>4</a:t>
            </a:r>
          </a:p>
        </p:txBody>
      </p:sp>
      <p:sp>
        <p:nvSpPr>
          <p:cNvPr id="299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앞 장의 </a:t>
            </a:r>
            <a:r>
              <a:t>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ONBOARDING §2~§3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마친 뒤</a:t>
            </a:r>
            <a:r>
              <a:t>, B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최신으로 받은 뒤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둘 다 여기 </a:t>
            </a:r>
            <a:r>
              <a:t>STEP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부터 같습니다</a:t>
            </a:r>
            <a:r>
              <a:t>.</a:t>
            </a:r>
          </a:p>
        </p:txBody>
      </p:sp>
      <p:sp>
        <p:nvSpPr>
          <p:cNvPr id="300" name="group-card"/>
          <p:cNvSpPr/>
          <p:nvPr/>
        </p:nvSpPr>
        <p:spPr>
          <a:xfrm>
            <a:off x="548640" y="1965960"/>
            <a:ext cx="3291841" cy="4114801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5"/>
          <p:cNvSpPr txBox="1"/>
          <p:nvPr/>
        </p:nvSpPr>
        <p:spPr>
          <a:xfrm>
            <a:off x="822960" y="2198369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설치</a:t>
            </a:r>
          </a:p>
        </p:txBody>
      </p:sp>
      <p:sp>
        <p:nvSpPr>
          <p:cNvPr id="302" name="Text 6"/>
          <p:cNvSpPr txBox="1"/>
          <p:nvPr/>
        </p:nvSpPr>
        <p:spPr>
          <a:xfrm>
            <a:off x="2377439" y="2244279"/>
            <a:ext cx="11887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10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303" name="map-item"/>
          <p:cNvSpPr/>
          <p:nvPr/>
        </p:nvSpPr>
        <p:spPr>
          <a:xfrm>
            <a:off x="731519" y="2697479"/>
            <a:ext cx="2926081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num"/>
          <p:cNvSpPr/>
          <p:nvPr/>
        </p:nvSpPr>
        <p:spPr>
          <a:xfrm>
            <a:off x="868680" y="2834639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9"/>
          <p:cNvSpPr txBox="1"/>
          <p:nvPr/>
        </p:nvSpPr>
        <p:spPr>
          <a:xfrm>
            <a:off x="868680" y="295249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6" name="Text 10"/>
          <p:cNvSpPr txBox="1"/>
          <p:nvPr/>
        </p:nvSpPr>
        <p:spPr>
          <a:xfrm>
            <a:off x="1463039" y="2821686"/>
            <a:ext cx="21031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Claude Code</a:t>
            </a:r>
          </a:p>
        </p:txBody>
      </p:sp>
      <p:sp>
        <p:nvSpPr>
          <p:cNvPr id="307" name="Text 11"/>
          <p:cNvSpPr txBox="1"/>
          <p:nvPr/>
        </p:nvSpPr>
        <p:spPr>
          <a:xfrm>
            <a:off x="1463039" y="3122103"/>
            <a:ext cx="210312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프로그램 설치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로그인</a:t>
            </a:r>
          </a:p>
        </p:txBody>
      </p:sp>
      <p:sp>
        <p:nvSpPr>
          <p:cNvPr id="308" name="map-item"/>
          <p:cNvSpPr/>
          <p:nvPr/>
        </p:nvSpPr>
        <p:spPr>
          <a:xfrm>
            <a:off x="731519" y="3520440"/>
            <a:ext cx="2926081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num"/>
          <p:cNvSpPr/>
          <p:nvPr/>
        </p:nvSpPr>
        <p:spPr>
          <a:xfrm>
            <a:off x="868680" y="36576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4"/>
          <p:cNvSpPr txBox="1"/>
          <p:nvPr/>
        </p:nvSpPr>
        <p:spPr>
          <a:xfrm>
            <a:off x="868680" y="377545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1" name="Text 15"/>
          <p:cNvSpPr txBox="1"/>
          <p:nvPr/>
        </p:nvSpPr>
        <p:spPr>
          <a:xfrm>
            <a:off x="1463039" y="3644645"/>
            <a:ext cx="21031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Claudian</a:t>
            </a:r>
          </a:p>
        </p:txBody>
      </p:sp>
      <p:sp>
        <p:nvSpPr>
          <p:cNvPr id="312" name="Text 16"/>
          <p:cNvSpPr txBox="1"/>
          <p:nvPr/>
        </p:nvSpPr>
        <p:spPr>
          <a:xfrm>
            <a:off x="1463039" y="3945062"/>
            <a:ext cx="2103122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옵시디언 안의 </a:t>
            </a: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창</a:t>
            </a:r>
          </a:p>
        </p:txBody>
      </p:sp>
      <p:sp>
        <p:nvSpPr>
          <p:cNvPr id="313" name="map-item"/>
          <p:cNvSpPr/>
          <p:nvPr/>
        </p:nvSpPr>
        <p:spPr>
          <a:xfrm>
            <a:off x="731519" y="4343400"/>
            <a:ext cx="2926081" cy="713232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num"/>
          <p:cNvSpPr/>
          <p:nvPr/>
        </p:nvSpPr>
        <p:spPr>
          <a:xfrm>
            <a:off x="868680" y="4480559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19"/>
          <p:cNvSpPr txBox="1"/>
          <p:nvPr/>
        </p:nvSpPr>
        <p:spPr>
          <a:xfrm>
            <a:off x="868680" y="459841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6" name="Text 20"/>
          <p:cNvSpPr txBox="1"/>
          <p:nvPr/>
        </p:nvSpPr>
        <p:spPr>
          <a:xfrm>
            <a:off x="1463039" y="4467605"/>
            <a:ext cx="21031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gstack</a:t>
            </a:r>
          </a:p>
        </p:txBody>
      </p:sp>
      <p:sp>
        <p:nvSpPr>
          <p:cNvPr id="317" name="Text 21"/>
          <p:cNvSpPr txBox="1"/>
          <p:nvPr/>
        </p:nvSpPr>
        <p:spPr>
          <a:xfrm>
            <a:off x="1463039" y="4768022"/>
            <a:ext cx="2103122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쓰는 브라우저</a:t>
            </a:r>
          </a:p>
        </p:txBody>
      </p:sp>
      <p:sp>
        <p:nvSpPr>
          <p:cNvPr id="318" name="group-card"/>
          <p:cNvSpPr/>
          <p:nvPr/>
        </p:nvSpPr>
        <p:spPr>
          <a:xfrm>
            <a:off x="4114800" y="1965960"/>
            <a:ext cx="3291841" cy="4114801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3"/>
          <p:cNvSpPr txBox="1"/>
          <p:nvPr/>
        </p:nvSpPr>
        <p:spPr>
          <a:xfrm>
            <a:off x="4389120" y="2198369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연결</a:t>
            </a:r>
          </a:p>
        </p:txBody>
      </p:sp>
      <p:sp>
        <p:nvSpPr>
          <p:cNvPr id="320" name="Text 24"/>
          <p:cNvSpPr txBox="1"/>
          <p:nvPr/>
        </p:nvSpPr>
        <p:spPr>
          <a:xfrm>
            <a:off x="5943600" y="2244279"/>
            <a:ext cx="1188720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321" name="map-item"/>
          <p:cNvSpPr/>
          <p:nvPr/>
        </p:nvSpPr>
        <p:spPr>
          <a:xfrm>
            <a:off x="4297679" y="2697479"/>
            <a:ext cx="2926081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num"/>
          <p:cNvSpPr/>
          <p:nvPr/>
        </p:nvSpPr>
        <p:spPr>
          <a:xfrm>
            <a:off x="4434840" y="2834639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27"/>
          <p:cNvSpPr txBox="1"/>
          <p:nvPr/>
        </p:nvSpPr>
        <p:spPr>
          <a:xfrm>
            <a:off x="4434840" y="2952495"/>
            <a:ext cx="43891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4" name="Text 28"/>
          <p:cNvSpPr txBox="1"/>
          <p:nvPr/>
        </p:nvSpPr>
        <p:spPr>
          <a:xfrm>
            <a:off x="5029200" y="2809555"/>
            <a:ext cx="210312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셋업 스크립트</a:t>
            </a:r>
          </a:p>
        </p:txBody>
      </p:sp>
      <p:sp>
        <p:nvSpPr>
          <p:cNvPr id="325" name="Text 29"/>
          <p:cNvSpPr txBox="1"/>
          <p:nvPr/>
        </p:nvSpPr>
        <p:spPr>
          <a:xfrm>
            <a:off x="5029200" y="3122103"/>
            <a:ext cx="21031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필요한 연결을 한 번에</a:t>
            </a:r>
          </a:p>
        </p:txBody>
      </p:sp>
      <p:sp>
        <p:nvSpPr>
          <p:cNvPr id="326" name="map-item"/>
          <p:cNvSpPr/>
          <p:nvPr/>
        </p:nvSpPr>
        <p:spPr>
          <a:xfrm>
            <a:off x="4297679" y="3520440"/>
            <a:ext cx="2926081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num"/>
          <p:cNvSpPr/>
          <p:nvPr/>
        </p:nvSpPr>
        <p:spPr>
          <a:xfrm>
            <a:off x="4434840" y="3657600"/>
            <a:ext cx="438913" cy="43891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32"/>
          <p:cNvSpPr txBox="1"/>
          <p:nvPr/>
        </p:nvSpPr>
        <p:spPr>
          <a:xfrm>
            <a:off x="4434840" y="3775455"/>
            <a:ext cx="43891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9" name="Text 33"/>
          <p:cNvSpPr txBox="1"/>
          <p:nvPr/>
        </p:nvSpPr>
        <p:spPr>
          <a:xfrm>
            <a:off x="5029200" y="3644645"/>
            <a:ext cx="21031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cdbd.env</a:t>
            </a:r>
          </a:p>
        </p:txBody>
      </p:sp>
      <p:sp>
        <p:nvSpPr>
          <p:cNvPr id="330" name="Text 34"/>
          <p:cNvSpPr txBox="1"/>
          <p:nvPr/>
        </p:nvSpPr>
        <p:spPr>
          <a:xfrm>
            <a:off x="5029200" y="3945062"/>
            <a:ext cx="210312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CdBd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공용 계정 넣기</a:t>
            </a:r>
          </a:p>
        </p:txBody>
      </p:sp>
      <p:sp>
        <p:nvSpPr>
          <p:cNvPr id="331" name="group-card"/>
          <p:cNvSpPr/>
          <p:nvPr/>
        </p:nvSpPr>
        <p:spPr>
          <a:xfrm>
            <a:off x="7680959" y="1965960"/>
            <a:ext cx="3959353" cy="4114801"/>
          </a:xfrm>
          <a:prstGeom prst="roundRect">
            <a:avLst>
              <a:gd name="adj" fmla="val 2771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36"/>
          <p:cNvSpPr txBox="1"/>
          <p:nvPr/>
        </p:nvSpPr>
        <p:spPr>
          <a:xfrm>
            <a:off x="7955280" y="2198369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  <p:sp>
        <p:nvSpPr>
          <p:cNvPr id="333" name="Text 37"/>
          <p:cNvSpPr txBox="1"/>
          <p:nvPr/>
        </p:nvSpPr>
        <p:spPr>
          <a:xfrm>
            <a:off x="10177271" y="2244279"/>
            <a:ext cx="11887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10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334" name="map-item"/>
          <p:cNvSpPr/>
          <p:nvPr/>
        </p:nvSpPr>
        <p:spPr>
          <a:xfrm>
            <a:off x="7863840" y="2697479"/>
            <a:ext cx="3593593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num"/>
          <p:cNvSpPr/>
          <p:nvPr/>
        </p:nvSpPr>
        <p:spPr>
          <a:xfrm>
            <a:off x="8001000" y="2834639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40"/>
          <p:cNvSpPr txBox="1"/>
          <p:nvPr/>
        </p:nvSpPr>
        <p:spPr>
          <a:xfrm>
            <a:off x="8001000" y="295249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37" name="Text 41"/>
          <p:cNvSpPr txBox="1"/>
          <p:nvPr/>
        </p:nvSpPr>
        <p:spPr>
          <a:xfrm>
            <a:off x="8595359" y="2809555"/>
            <a:ext cx="2770633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폴더 신뢰 승인</a:t>
            </a:r>
          </a:p>
        </p:txBody>
      </p:sp>
      <p:sp>
        <p:nvSpPr>
          <p:cNvPr id="338" name="Text 42"/>
          <p:cNvSpPr txBox="1"/>
          <p:nvPr/>
        </p:nvSpPr>
        <p:spPr>
          <a:xfrm>
            <a:off x="8595359" y="3122103"/>
            <a:ext cx="277063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볼트 </a:t>
            </a:r>
            <a:r>
              <a:t>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곳 한 번씩</a:t>
            </a:r>
          </a:p>
        </p:txBody>
      </p:sp>
      <p:sp>
        <p:nvSpPr>
          <p:cNvPr id="339" name="map-item"/>
          <p:cNvSpPr/>
          <p:nvPr/>
        </p:nvSpPr>
        <p:spPr>
          <a:xfrm>
            <a:off x="7863840" y="3520440"/>
            <a:ext cx="3593593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num"/>
          <p:cNvSpPr/>
          <p:nvPr/>
        </p:nvSpPr>
        <p:spPr>
          <a:xfrm>
            <a:off x="8001000" y="36576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45"/>
          <p:cNvSpPr txBox="1"/>
          <p:nvPr/>
        </p:nvSpPr>
        <p:spPr>
          <a:xfrm>
            <a:off x="8001000" y="377545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2" name="Text 46"/>
          <p:cNvSpPr txBox="1"/>
          <p:nvPr/>
        </p:nvSpPr>
        <p:spPr>
          <a:xfrm>
            <a:off x="8595359" y="3638295"/>
            <a:ext cx="277063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Figma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연결</a:t>
            </a:r>
          </a:p>
        </p:txBody>
      </p:sp>
      <p:sp>
        <p:nvSpPr>
          <p:cNvPr id="343" name="Text 47"/>
          <p:cNvSpPr txBox="1"/>
          <p:nvPr/>
        </p:nvSpPr>
        <p:spPr>
          <a:xfrm>
            <a:off x="8595359" y="3945062"/>
            <a:ext cx="2770633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계정에 한 번만</a:t>
            </a:r>
          </a:p>
        </p:txBody>
      </p:sp>
      <p:sp>
        <p:nvSpPr>
          <p:cNvPr id="344" name="map-item"/>
          <p:cNvSpPr/>
          <p:nvPr/>
        </p:nvSpPr>
        <p:spPr>
          <a:xfrm>
            <a:off x="7863840" y="4343400"/>
            <a:ext cx="3593593" cy="713232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num"/>
          <p:cNvSpPr/>
          <p:nvPr/>
        </p:nvSpPr>
        <p:spPr>
          <a:xfrm>
            <a:off x="8001000" y="4480559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50"/>
          <p:cNvSpPr txBox="1"/>
          <p:nvPr/>
        </p:nvSpPr>
        <p:spPr>
          <a:xfrm>
            <a:off x="8001000" y="4598415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47" name="Text 51"/>
          <p:cNvSpPr txBox="1"/>
          <p:nvPr/>
        </p:nvSpPr>
        <p:spPr>
          <a:xfrm>
            <a:off x="8595359" y="4461255"/>
            <a:ext cx="277063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점검표</a:t>
            </a:r>
          </a:p>
        </p:txBody>
      </p:sp>
      <p:sp>
        <p:nvSpPr>
          <p:cNvPr id="348" name="Text 52"/>
          <p:cNvSpPr txBox="1"/>
          <p:nvPr/>
        </p:nvSpPr>
        <p:spPr>
          <a:xfrm>
            <a:off x="8595359" y="4741163"/>
            <a:ext cx="277063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전부 ✅인지</a:t>
            </a:r>
          </a:p>
        </p:txBody>
      </p:sp>
      <p:sp>
        <p:nvSpPr>
          <p:cNvPr id="349" name="map-item"/>
          <p:cNvSpPr/>
          <p:nvPr/>
        </p:nvSpPr>
        <p:spPr>
          <a:xfrm>
            <a:off x="7863840" y="5166359"/>
            <a:ext cx="3593593" cy="713233"/>
          </a:xfrm>
          <a:prstGeom prst="roundRect">
            <a:avLst>
              <a:gd name="adj" fmla="val 15385"/>
            </a:avLst>
          </a:prstGeom>
          <a:solidFill>
            <a:schemeClr val="accent2">
              <a:hueOff val="-15247060"/>
              <a:satOff val="-68000"/>
              <a:lumOff val="490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num"/>
          <p:cNvSpPr/>
          <p:nvPr/>
        </p:nvSpPr>
        <p:spPr>
          <a:xfrm>
            <a:off x="8001000" y="5303520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55"/>
          <p:cNvSpPr txBox="1"/>
          <p:nvPr/>
        </p:nvSpPr>
        <p:spPr>
          <a:xfrm>
            <a:off x="8001000" y="5421376"/>
            <a:ext cx="4389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52" name="Text 56"/>
          <p:cNvSpPr txBox="1"/>
          <p:nvPr/>
        </p:nvSpPr>
        <p:spPr>
          <a:xfrm>
            <a:off x="8595359" y="5278435"/>
            <a:ext cx="2770633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확인 질문</a:t>
            </a:r>
          </a:p>
        </p:txBody>
      </p:sp>
      <p:sp>
        <p:nvSpPr>
          <p:cNvPr id="353" name="Text 57"/>
          <p:cNvSpPr txBox="1"/>
          <p:nvPr/>
        </p:nvSpPr>
        <p:spPr>
          <a:xfrm>
            <a:off x="8595359" y="5590983"/>
            <a:ext cx="277063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에게 물어보기</a:t>
            </a:r>
          </a:p>
        </p:txBody>
      </p:sp>
      <p:sp>
        <p:nvSpPr>
          <p:cNvPr id="354" name="Slide Number Placeholder 0"/>
          <p:cNvSpPr txBox="1"/>
          <p:nvPr>
            <p:ph type="sldNum" sz="quarter" idx="4294967295"/>
          </p:nvPr>
        </p:nvSpPr>
        <p:spPr>
          <a:xfrm>
            <a:off x="11466855" y="6355079"/>
            <a:ext cx="173457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</a:t>
            </a:r>
          </a:p>
        </p:txBody>
      </p:sp>
      <p:sp>
        <p:nvSpPr>
          <p:cNvPr id="359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1 / 9</a:t>
            </a:r>
          </a:p>
        </p:txBody>
      </p:sp>
      <p:sp>
        <p:nvSpPr>
          <p:cNvPr id="360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1.  Claude Code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로그인</a:t>
            </a:r>
          </a:p>
        </p:txBody>
      </p:sp>
      <p:sp>
        <p:nvSpPr>
          <p:cNvPr id="361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옵시디언 안의 </a:t>
            </a:r>
            <a:r>
              <a:t>Claude(Claudian)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내부에서 이 프로그램을 씁니다</a:t>
            </a:r>
            <a:r>
              <a:t>.</a:t>
            </a:r>
          </a:p>
        </p:txBody>
      </p:sp>
      <p:sp>
        <p:nvSpPr>
          <p:cNvPr id="362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364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6" name="Text 8"/>
          <p:cNvSpPr txBox="1"/>
          <p:nvPr/>
        </p:nvSpPr>
        <p:spPr>
          <a:xfrm>
            <a:off x="1371599" y="2726182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터미널을 연다 </a:t>
            </a:r>
            <a:r>
              <a:t>(⌘ + Space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터미널</a:t>
            </a:r>
            <a:r>
              <a:t>)</a:t>
            </a:r>
          </a:p>
        </p:txBody>
      </p:sp>
      <p:sp>
        <p:nvSpPr>
          <p:cNvPr id="367" name="num"/>
          <p:cNvSpPr/>
          <p:nvPr/>
        </p:nvSpPr>
        <p:spPr>
          <a:xfrm>
            <a:off x="822960" y="3319271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10"/>
          <p:cNvSpPr txBox="1"/>
          <p:nvPr/>
        </p:nvSpPr>
        <p:spPr>
          <a:xfrm>
            <a:off x="822960" y="3422395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9" name="Text 11"/>
          <p:cNvSpPr txBox="1"/>
          <p:nvPr/>
        </p:nvSpPr>
        <p:spPr>
          <a:xfrm>
            <a:off x="1371599" y="3402838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첫 줄을 붙여넣고 </a:t>
            </a:r>
            <a:r>
              <a:t>Enter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설치가 끝날 때까지 기다린다</a:t>
            </a:r>
          </a:p>
        </p:txBody>
      </p:sp>
      <p:sp>
        <p:nvSpPr>
          <p:cNvPr id="370" name="num"/>
          <p:cNvSpPr/>
          <p:nvPr/>
        </p:nvSpPr>
        <p:spPr>
          <a:xfrm>
            <a:off x="822960" y="3995928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ext 13"/>
          <p:cNvSpPr txBox="1"/>
          <p:nvPr/>
        </p:nvSpPr>
        <p:spPr>
          <a:xfrm>
            <a:off x="822960" y="4099052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2" name="Text 14"/>
          <p:cNvSpPr txBox="1"/>
          <p:nvPr/>
        </p:nvSpPr>
        <p:spPr>
          <a:xfrm>
            <a:off x="1371599" y="407949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입력하고 </a:t>
            </a:r>
            <a:r>
              <a:t>Enter</a:t>
            </a:r>
          </a:p>
        </p:txBody>
      </p:sp>
      <p:sp>
        <p:nvSpPr>
          <p:cNvPr id="373" name="num"/>
          <p:cNvSpPr/>
          <p:nvPr/>
        </p:nvSpPr>
        <p:spPr>
          <a:xfrm>
            <a:off x="822960" y="46725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16"/>
          <p:cNvSpPr txBox="1"/>
          <p:nvPr/>
        </p:nvSpPr>
        <p:spPr>
          <a:xfrm>
            <a:off x="822960" y="47757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5" name="Text 17"/>
          <p:cNvSpPr txBox="1"/>
          <p:nvPr/>
        </p:nvSpPr>
        <p:spPr>
          <a:xfrm>
            <a:off x="1371599" y="4756150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브라우저가 열리면 </a:t>
            </a: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계정으로 로그인</a:t>
            </a:r>
          </a:p>
        </p:txBody>
      </p:sp>
      <p:sp>
        <p:nvSpPr>
          <p:cNvPr id="376" name="num"/>
          <p:cNvSpPr/>
          <p:nvPr/>
        </p:nvSpPr>
        <p:spPr>
          <a:xfrm>
            <a:off x="822960" y="5349240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Text 19"/>
          <p:cNvSpPr txBox="1"/>
          <p:nvPr/>
        </p:nvSpPr>
        <p:spPr>
          <a:xfrm>
            <a:off x="822960" y="5452364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8" name="Text 20"/>
          <p:cNvSpPr txBox="1"/>
          <p:nvPr/>
        </p:nvSpPr>
        <p:spPr>
          <a:xfrm>
            <a:off x="1371599" y="543280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터미널에 입력창이 나오면 </a:t>
            </a:r>
            <a:r>
              <a:t>/exit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입력 </a:t>
            </a:r>
            <a:r>
              <a:t>→ Enter</a:t>
            </a:r>
          </a:p>
        </p:txBody>
      </p:sp>
      <p:sp>
        <p:nvSpPr>
          <p:cNvPr id="379" name="terminal"/>
          <p:cNvSpPr/>
          <p:nvPr/>
        </p:nvSpPr>
        <p:spPr>
          <a:xfrm>
            <a:off x="6035040" y="1920239"/>
            <a:ext cx="5605272" cy="1100329"/>
          </a:xfrm>
          <a:prstGeom prst="roundRect">
            <a:avLst>
              <a:gd name="adj" fmla="val 6648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rminal-text"/>
          <p:cNvSpPr txBox="1"/>
          <p:nvPr/>
        </p:nvSpPr>
        <p:spPr>
          <a:xfrm>
            <a:off x="6217920" y="2066544"/>
            <a:ext cx="5239513" cy="669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curl -fsSL https://claude.ai/install.sh | bash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claude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로그인 후 → /exit</a:t>
            </a:r>
          </a:p>
        </p:txBody>
      </p:sp>
      <p:sp>
        <p:nvSpPr>
          <p:cNvPr id="381" name="box-ok"/>
          <p:cNvSpPr/>
          <p:nvPr/>
        </p:nvSpPr>
        <p:spPr>
          <a:xfrm>
            <a:off x="6035040" y="3249167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box-text"/>
          <p:cNvSpPr txBox="1"/>
          <p:nvPr/>
        </p:nvSpPr>
        <p:spPr>
          <a:xfrm>
            <a:off x="6236208" y="3377184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t>claude --version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입력하면 버전 번호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예</a:t>
            </a:r>
            <a:r>
              <a:t>: 2.1.x)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나온다</a:t>
            </a:r>
          </a:p>
        </p:txBody>
      </p:sp>
      <p:sp>
        <p:nvSpPr>
          <p:cNvPr id="383" name="box-no"/>
          <p:cNvSpPr/>
          <p:nvPr/>
        </p:nvSpPr>
        <p:spPr>
          <a:xfrm>
            <a:off x="6035040" y="4575047"/>
            <a:ext cx="5605272" cy="1505713"/>
          </a:xfrm>
          <a:prstGeom prst="roundRect">
            <a:avLst>
              <a:gd name="adj" fmla="val 6073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box-text"/>
          <p:cNvSpPr txBox="1"/>
          <p:nvPr/>
        </p:nvSpPr>
        <p:spPr>
          <a:xfrm>
            <a:off x="6236208" y="4703064"/>
            <a:ext cx="52029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t>command not found: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터미널을 닫고 새로 연 뒤 다시 </a:t>
            </a:r>
            <a:r>
              <a:t>claude</a:t>
            </a:r>
          </a:p>
        </p:txBody>
      </p:sp>
      <p:sp>
        <p:nvSpPr>
          <p:cNvPr id="385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36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 / 9</a:t>
            </a:r>
          </a:p>
        </p:txBody>
      </p:sp>
      <p:sp>
        <p:nvSpPr>
          <p:cNvPr id="395" name="Slide Number Placeholder 0"/>
          <p:cNvSpPr txBox="1"/>
          <p:nvPr>
            <p:ph type="sldNum" sz="quarter" idx="4294967295"/>
          </p:nvPr>
        </p:nvSpPr>
        <p:spPr>
          <a:xfrm>
            <a:off x="11466073" y="6355079"/>
            <a:ext cx="17423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</a:t>
            </a:r>
          </a:p>
        </p:txBody>
      </p:sp>
      <p:sp>
        <p:nvSpPr>
          <p:cNvPr id="400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2 / 9</a:t>
            </a:r>
          </a:p>
        </p:txBody>
      </p:sp>
      <p:sp>
        <p:nvSpPr>
          <p:cNvPr id="401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2.  Claudian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플러그인 넣기</a:t>
            </a:r>
          </a:p>
        </p:txBody>
      </p:sp>
      <p:sp>
        <p:nvSpPr>
          <p:cNvPr id="402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옵시디언 안에서 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와 대화하는 창입니다</a:t>
            </a:r>
            <a:r>
              <a:t>. 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볼트 모두에 있어야 합니다</a:t>
            </a:r>
            <a:r>
              <a:t>.</a:t>
            </a:r>
          </a:p>
        </p:txBody>
      </p:sp>
      <p:sp>
        <p:nvSpPr>
          <p:cNvPr id="403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405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7" name="Text 8"/>
          <p:cNvSpPr txBox="1"/>
          <p:nvPr/>
        </p:nvSpPr>
        <p:spPr>
          <a:xfrm>
            <a:off x="1371599" y="2569464"/>
            <a:ext cx="4206242" cy="429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명령을 통째로 붙여넣고 </a:t>
            </a:r>
            <a:r>
              <a:t>Enter 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허브에 있는 플러그인을 나머지 </a:t>
            </a:r>
            <a:r>
              <a:t>4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볼트로 복사</a:t>
            </a:r>
            <a:r>
              <a:t>)</a:t>
            </a:r>
          </a:p>
        </p:txBody>
      </p:sp>
      <p:sp>
        <p:nvSpPr>
          <p:cNvPr id="408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0" name="Text 11"/>
          <p:cNvSpPr txBox="1"/>
          <p:nvPr/>
        </p:nvSpPr>
        <p:spPr>
          <a:xfrm>
            <a:off x="1371599" y="3495547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옵시디언을 완전히 종료</a:t>
            </a:r>
            <a:r>
              <a:t>(⌘Q)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했다가 다시 연다</a:t>
            </a:r>
          </a:p>
        </p:txBody>
      </p:sp>
      <p:sp>
        <p:nvSpPr>
          <p:cNvPr id="411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3" name="Text 14"/>
          <p:cNvSpPr txBox="1"/>
          <p:nvPr/>
        </p:nvSpPr>
        <p:spPr>
          <a:xfrm>
            <a:off x="1371599" y="4233424"/>
            <a:ext cx="4206242" cy="429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볼트마다 설정</a:t>
            </a:r>
            <a:r>
              <a:t>(⌘,)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커뮤니티 플러그인 </a:t>
            </a:r>
            <a:r>
              <a:t>→ Claudian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켜져 있는지 확인</a:t>
            </a:r>
          </a:p>
        </p:txBody>
      </p:sp>
      <p:sp>
        <p:nvSpPr>
          <p:cNvPr id="414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6" name="Text 17"/>
          <p:cNvSpPr txBox="1"/>
          <p:nvPr/>
        </p:nvSpPr>
        <p:spPr>
          <a:xfrm>
            <a:off x="1371599" y="5019808"/>
            <a:ext cx="4206242" cy="429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Claudian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설정의 「사용자 설정 불러오기」가 켜져 있는지 확인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기본값 켜짐</a:t>
            </a:r>
            <a:r>
              <a:t>)</a:t>
            </a:r>
          </a:p>
        </p:txBody>
      </p:sp>
      <p:sp>
        <p:nvSpPr>
          <p:cNvPr id="417" name="terminal"/>
          <p:cNvSpPr/>
          <p:nvPr/>
        </p:nvSpPr>
        <p:spPr>
          <a:xfrm>
            <a:off x="6035040" y="1920239"/>
            <a:ext cx="5605272" cy="1678687"/>
          </a:xfrm>
          <a:prstGeom prst="roundRect">
            <a:avLst>
              <a:gd name="adj" fmla="val 4358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rminal-text"/>
          <p:cNvSpPr txBox="1"/>
          <p:nvPr/>
        </p:nvSpPr>
        <p:spPr>
          <a:xfrm>
            <a:off x="6217920" y="2066544"/>
            <a:ext cx="5239513" cy="115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for v in cdbd-design-system cdbd-marketing \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cdbd-templates makevu-qrstp; do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mkdir -p "$v/.obsidian/plugins"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cp -R .obsidian/plugins/realclaudian \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"$v/.obsidian/plugins/"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done</a:t>
            </a:r>
          </a:p>
        </p:txBody>
      </p:sp>
      <p:sp>
        <p:nvSpPr>
          <p:cNvPr id="419" name="box-ok"/>
          <p:cNvSpPr/>
          <p:nvPr/>
        </p:nvSpPr>
        <p:spPr>
          <a:xfrm>
            <a:off x="6035040" y="3827526"/>
            <a:ext cx="5605272" cy="1126618"/>
          </a:xfrm>
          <a:prstGeom prst="roundRect">
            <a:avLst>
              <a:gd name="adj" fmla="val 8116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box-text"/>
          <p:cNvSpPr txBox="1"/>
          <p:nvPr/>
        </p:nvSpPr>
        <p:spPr>
          <a:xfrm>
            <a:off x="6236208" y="3955541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t>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볼트 모두 커뮤니티 플러그인 목록에 </a:t>
            </a:r>
            <a:r>
              <a:t>Claudian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켜져 있다</a:t>
            </a:r>
          </a:p>
        </p:txBody>
      </p:sp>
      <p:sp>
        <p:nvSpPr>
          <p:cNvPr id="421" name="box-no"/>
          <p:cNvSpPr/>
          <p:nvPr/>
        </p:nvSpPr>
        <p:spPr>
          <a:xfrm>
            <a:off x="6035040" y="5137022"/>
            <a:ext cx="5605272" cy="943738"/>
          </a:xfrm>
          <a:prstGeom prst="roundRect">
            <a:avLst>
              <a:gd name="adj" fmla="val 9689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box-text"/>
          <p:cNvSpPr txBox="1"/>
          <p:nvPr/>
        </p:nvSpPr>
        <p:spPr>
          <a:xfrm>
            <a:off x="6236208" y="5265039"/>
            <a:ext cx="520293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커뮤니티 플러그인이 꺼져 있으면 「커뮤니티 플러그인 켜기」를 먼저 </a:t>
            </a:r>
            <a:r>
              <a:t>(ONBOARDING §3-5)</a:t>
            </a:r>
          </a:p>
        </p:txBody>
      </p:sp>
      <p:sp>
        <p:nvSpPr>
          <p:cNvPr id="423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8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 / 9</a:t>
            </a:r>
          </a:p>
        </p:txBody>
      </p:sp>
      <p:sp>
        <p:nvSpPr>
          <p:cNvPr id="433" name="Slide Number Placeholder 0"/>
          <p:cNvSpPr txBox="1"/>
          <p:nvPr>
            <p:ph type="sldNum" sz="quarter" idx="4294967295"/>
          </p:nvPr>
        </p:nvSpPr>
        <p:spPr>
          <a:xfrm>
            <a:off x="11417965" y="6355079"/>
            <a:ext cx="222347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</a:t>
            </a:r>
          </a:p>
        </p:txBody>
      </p:sp>
      <p:sp>
        <p:nvSpPr>
          <p:cNvPr id="438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3 / 9</a:t>
            </a:r>
          </a:p>
        </p:txBody>
      </p:sp>
      <p:sp>
        <p:nvSpPr>
          <p:cNvPr id="439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3.  gstack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설치 </a:t>
            </a:r>
            <a:r>
              <a:t>(Claude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용 브라우저</a:t>
            </a:r>
            <a:r>
              <a:t>)</a:t>
            </a:r>
          </a:p>
        </p:txBody>
      </p:sp>
      <p:sp>
        <p:nvSpPr>
          <p:cNvPr id="440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</a:t>
            </a:r>
            <a:r>
              <a:t>CdBd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에디터를 화면 없이 직접 조작할 때 쓰는 브라우저입니다</a:t>
            </a:r>
            <a:r>
              <a:t>.</a:t>
            </a:r>
          </a:p>
        </p:txBody>
      </p:sp>
      <p:sp>
        <p:nvSpPr>
          <p:cNvPr id="441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443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5" name="Text 8"/>
          <p:cNvSpPr txBox="1"/>
          <p:nvPr/>
        </p:nvSpPr>
        <p:spPr>
          <a:xfrm>
            <a:off x="1371599" y="271354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첫 줄 붙여넣기 </a:t>
            </a:r>
            <a:r>
              <a:t>— Bun(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설치 도구</a:t>
            </a:r>
            <a:r>
              <a:t>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없으면 설치된다</a:t>
            </a:r>
          </a:p>
        </p:txBody>
      </p:sp>
      <p:sp>
        <p:nvSpPr>
          <p:cNvPr id="446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8" name="Text 11"/>
          <p:cNvSpPr txBox="1"/>
          <p:nvPr/>
        </p:nvSpPr>
        <p:spPr>
          <a:xfrm>
            <a:off x="1371599" y="3499927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Bun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새로 설치했다면 터미널을 닫고 새로 연다</a:t>
            </a:r>
          </a:p>
        </p:txBody>
      </p:sp>
      <p:sp>
        <p:nvSpPr>
          <p:cNvPr id="449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1" name="Text 14"/>
          <p:cNvSpPr txBox="1"/>
          <p:nvPr/>
        </p:nvSpPr>
        <p:spPr>
          <a:xfrm>
            <a:off x="1371599" y="4286312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나머지 두 줄을 붙여넣고 </a:t>
            </a:r>
            <a:r>
              <a:t>Enter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몇 분 걸릴 수 있다</a:t>
            </a:r>
          </a:p>
        </p:txBody>
      </p:sp>
      <p:sp>
        <p:nvSpPr>
          <p:cNvPr id="452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54" name="Text 17"/>
          <p:cNvSpPr txBox="1"/>
          <p:nvPr/>
        </p:nvSpPr>
        <p:spPr>
          <a:xfrm>
            <a:off x="1371599" y="507269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끝나면 마지막 줄로 설치를 확인한다</a:t>
            </a:r>
          </a:p>
        </p:txBody>
      </p:sp>
      <p:sp>
        <p:nvSpPr>
          <p:cNvPr id="455" name="terminal"/>
          <p:cNvSpPr/>
          <p:nvPr/>
        </p:nvSpPr>
        <p:spPr>
          <a:xfrm>
            <a:off x="6035040" y="1920239"/>
            <a:ext cx="5605272" cy="1385317"/>
          </a:xfrm>
          <a:prstGeom prst="roundRect">
            <a:avLst>
              <a:gd name="adj" fmla="val 5281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rminal-text"/>
          <p:cNvSpPr txBox="1"/>
          <p:nvPr/>
        </p:nvSpPr>
        <p:spPr>
          <a:xfrm>
            <a:off x="6217920" y="2066544"/>
            <a:ext cx="5239513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command -v bun || curl -fsSL https://bun.sh/install | bash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git clone --depth 1 https://github.com/garrytan/gstack.git \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~/.claude/skills/gstack &amp;&amp; cd ~/.claude/skills/gstack &amp;&amp; ./setup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ls ~/.claude/skills/gstack/browse/dist/browse   # 확인</a:t>
            </a:r>
          </a:p>
        </p:txBody>
      </p:sp>
      <p:sp>
        <p:nvSpPr>
          <p:cNvPr id="457" name="box-ok"/>
          <p:cNvSpPr/>
          <p:nvPr/>
        </p:nvSpPr>
        <p:spPr>
          <a:xfrm>
            <a:off x="6035040" y="3534155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box-text"/>
          <p:cNvSpPr txBox="1"/>
          <p:nvPr/>
        </p:nvSpPr>
        <p:spPr>
          <a:xfrm>
            <a:off x="6236208" y="3662171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마지막 줄을 실행하면 「</a:t>
            </a:r>
            <a:r>
              <a:t>…/browse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경로가 그대로 출력된다</a:t>
            </a:r>
          </a:p>
        </p:txBody>
      </p:sp>
      <p:sp>
        <p:nvSpPr>
          <p:cNvPr id="459" name="box-no"/>
          <p:cNvSpPr/>
          <p:nvPr/>
        </p:nvSpPr>
        <p:spPr>
          <a:xfrm>
            <a:off x="6035040" y="4860035"/>
            <a:ext cx="5605272" cy="1220725"/>
          </a:xfrm>
          <a:prstGeom prst="roundRect">
            <a:avLst>
              <a:gd name="adj" fmla="val 7491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box-text"/>
          <p:cNvSpPr txBox="1"/>
          <p:nvPr/>
        </p:nvSpPr>
        <p:spPr>
          <a:xfrm>
            <a:off x="6236208" y="4988052"/>
            <a:ext cx="52029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t>No such file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</a:t>
            </a:r>
            <a:r>
              <a:t>→ cd ~/.claude/skills/gstack &amp;&amp; bun install &amp;&amp; bun run build</a:t>
            </a:r>
          </a:p>
        </p:txBody>
      </p:sp>
      <p:sp>
        <p:nvSpPr>
          <p:cNvPr id="461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5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 / 9</a:t>
            </a:r>
          </a:p>
        </p:txBody>
      </p:sp>
      <p:sp>
        <p:nvSpPr>
          <p:cNvPr id="471" name="Slide Number Placeholder 0"/>
          <p:cNvSpPr txBox="1"/>
          <p:nvPr>
            <p:ph type="sldNum" sz="quarter" idx="4294967295"/>
          </p:nvPr>
        </p:nvSpPr>
        <p:spPr>
          <a:xfrm>
            <a:off x="11435936" y="6355079"/>
            <a:ext cx="204376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연결</a:t>
            </a:r>
          </a:p>
        </p:txBody>
      </p:sp>
      <p:sp>
        <p:nvSpPr>
          <p:cNvPr id="476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4 / 9</a:t>
            </a:r>
          </a:p>
        </p:txBody>
      </p:sp>
      <p:sp>
        <p:nvSpPr>
          <p:cNvPr id="477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4. 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셋업 스크립트 실행</a:t>
            </a:r>
          </a:p>
        </p:txBody>
      </p:sp>
      <p:sp>
        <p:nvSpPr>
          <p:cNvPr id="478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카드 자동화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로그인 도구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 안내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시작 점검을 한 번에 연결합니다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몇 번 실행해도 안전합니다</a:t>
            </a:r>
            <a:r>
              <a:t>.</a:t>
            </a:r>
          </a:p>
        </p:txBody>
      </p:sp>
      <p:sp>
        <p:nvSpPr>
          <p:cNvPr id="479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481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83" name="Text 8"/>
          <p:cNvSpPr txBox="1"/>
          <p:nvPr/>
        </p:nvSpPr>
        <p:spPr>
          <a:xfrm>
            <a:off x="1371599" y="271354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한 줄을 붙여넣고 </a:t>
            </a:r>
            <a:r>
              <a:t>Enter</a:t>
            </a:r>
          </a:p>
        </p:txBody>
      </p:sp>
      <p:sp>
        <p:nvSpPr>
          <p:cNvPr id="484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86" name="Text 11"/>
          <p:cNvSpPr txBox="1"/>
          <p:nvPr/>
        </p:nvSpPr>
        <p:spPr>
          <a:xfrm>
            <a:off x="1371599" y="3499927"/>
            <a:ext cx="42062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1~8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번 항목이 차례로 ✅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🔧 로 찍힌다</a:t>
            </a:r>
          </a:p>
        </p:txBody>
      </p:sp>
      <p:sp>
        <p:nvSpPr>
          <p:cNvPr id="487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9" name="Text 14"/>
          <p:cNvSpPr txBox="1"/>
          <p:nvPr/>
        </p:nvSpPr>
        <p:spPr>
          <a:xfrm>
            <a:off x="1371599" y="4286312"/>
            <a:ext cx="42062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처음에는 「⚠️ </a:t>
            </a:r>
            <a:r>
              <a:t>cdbd.env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견본을 만들었습니다」가 나온다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정상</a:t>
            </a:r>
          </a:p>
        </p:txBody>
      </p:sp>
      <p:sp>
        <p:nvSpPr>
          <p:cNvPr id="490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1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2" name="Text 17"/>
          <p:cNvSpPr txBox="1"/>
          <p:nvPr/>
        </p:nvSpPr>
        <p:spPr>
          <a:xfrm>
            <a:off x="1371599" y="507269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그대로 </a:t>
            </a:r>
            <a:r>
              <a:t>STEP 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넘어간다</a:t>
            </a:r>
          </a:p>
        </p:txBody>
      </p:sp>
      <p:sp>
        <p:nvSpPr>
          <p:cNvPr id="493" name="terminal"/>
          <p:cNvSpPr/>
          <p:nvPr/>
        </p:nvSpPr>
        <p:spPr>
          <a:xfrm>
            <a:off x="6035040" y="1920239"/>
            <a:ext cx="5605272" cy="1485901"/>
          </a:xfrm>
          <a:prstGeom prst="roundRect">
            <a:avLst>
              <a:gd name="adj" fmla="val 4923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rminal-text"/>
          <p:cNvSpPr txBox="1"/>
          <p:nvPr/>
        </p:nvSpPr>
        <p:spPr>
          <a:xfrm>
            <a:off x="6217920" y="2066544"/>
            <a:ext cx="5239513" cy="1190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bash ~/Documents/GitHub/design/tools/cdbd-setup.sh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첫 실행 결과 예시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✅ cdbd-templates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🔧 cdbd-card-automation — 링크 생성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⚠️  cdbd.env 견본을 만들었습니다 → …</a:t>
            </a:r>
          </a:p>
        </p:txBody>
      </p:sp>
      <p:sp>
        <p:nvSpPr>
          <p:cNvPr id="495" name="box-ok"/>
          <p:cNvSpPr/>
          <p:nvPr/>
        </p:nvSpPr>
        <p:spPr>
          <a:xfrm>
            <a:off x="6035040" y="3634740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box-text"/>
          <p:cNvSpPr txBox="1"/>
          <p:nvPr/>
        </p:nvSpPr>
        <p:spPr>
          <a:xfrm>
            <a:off x="6236208" y="3762755"/>
            <a:ext cx="520293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마지막 줄 「완료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✅ </a:t>
            </a:r>
            <a:r>
              <a:t>…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🔧 고침 </a:t>
            </a:r>
            <a:r>
              <a:t>…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⚠️ 확인 필요 </a:t>
            </a:r>
            <a:r>
              <a:t>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</a:t>
            </a:r>
            <a:r>
              <a:t>(cdbd.env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</a:t>
            </a:r>
            <a:r>
              <a:t>)</a:t>
            </a:r>
          </a:p>
        </p:txBody>
      </p:sp>
      <p:sp>
        <p:nvSpPr>
          <p:cNvPr id="497" name="box-no"/>
          <p:cNvSpPr/>
          <p:nvPr/>
        </p:nvSpPr>
        <p:spPr>
          <a:xfrm>
            <a:off x="6035040" y="4960620"/>
            <a:ext cx="5605272" cy="1120141"/>
          </a:xfrm>
          <a:prstGeom prst="roundRect">
            <a:avLst>
              <a:gd name="adj" fmla="val 8163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box-text"/>
          <p:cNvSpPr txBox="1"/>
          <p:nvPr/>
        </p:nvSpPr>
        <p:spPr>
          <a:xfrm>
            <a:off x="6236208" y="5088635"/>
            <a:ext cx="52029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「❌ </a:t>
            </a:r>
            <a:r>
              <a:t>gstack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없습니다」 </a:t>
            </a:r>
            <a:r>
              <a:t>→ STEP 3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t>clone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실패」 </a:t>
            </a:r>
            <a:r>
              <a:t>→ SSH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키 확인 </a:t>
            </a:r>
            <a:r>
              <a:t>(ONBOARDING §3-2)</a:t>
            </a:r>
          </a:p>
        </p:txBody>
      </p:sp>
      <p:sp>
        <p:nvSpPr>
          <p:cNvPr id="499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6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 / 9</a:t>
            </a:r>
          </a:p>
        </p:txBody>
      </p:sp>
      <p:sp>
        <p:nvSpPr>
          <p:cNvPr id="509" name="Slide Number Placeholder 0"/>
          <p:cNvSpPr txBox="1"/>
          <p:nvPr>
            <p:ph type="sldNum" sz="quarter" idx="4294967295"/>
          </p:nvPr>
        </p:nvSpPr>
        <p:spPr>
          <a:xfrm>
            <a:off x="11418969" y="6355079"/>
            <a:ext cx="221343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연결</a:t>
            </a:r>
          </a:p>
        </p:txBody>
      </p:sp>
      <p:sp>
        <p:nvSpPr>
          <p:cNvPr id="514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5 / 9</a:t>
            </a:r>
          </a:p>
        </p:txBody>
      </p:sp>
      <p:sp>
        <p:nvSpPr>
          <p:cNvPr id="515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5.  cdbd.env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채우기</a:t>
            </a:r>
          </a:p>
        </p:txBody>
      </p:sp>
      <p:sp>
        <p:nvSpPr>
          <p:cNvPr id="516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</a:t>
            </a:r>
            <a:r>
              <a:t>CdBd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로그인할 때 쓰는 공용 계정 정보입니다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 맥에만 저장되고 </a:t>
            </a:r>
            <a:r>
              <a:t>GitHub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에는 올라가지 않습니다</a:t>
            </a:r>
            <a:r>
              <a:t>.</a:t>
            </a:r>
          </a:p>
        </p:txBody>
      </p:sp>
      <p:sp>
        <p:nvSpPr>
          <p:cNvPr id="517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519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1" name="Text 8"/>
          <p:cNvSpPr txBox="1"/>
          <p:nvPr/>
        </p:nvSpPr>
        <p:spPr>
          <a:xfrm>
            <a:off x="1371599" y="271354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첫 줄을 붙여넣으면 텍스트 편집기가 열린다</a:t>
            </a:r>
          </a:p>
        </p:txBody>
      </p:sp>
      <p:sp>
        <p:nvSpPr>
          <p:cNvPr id="522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3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4" name="Text 11"/>
          <p:cNvSpPr txBox="1"/>
          <p:nvPr/>
        </p:nvSpPr>
        <p:spPr>
          <a:xfrm>
            <a:off x="1371599" y="3499927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각 줄의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뒤에 값을 붙여 쓴다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띄어쓰기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따옴표 없이</a:t>
            </a:r>
            <a:r>
              <a:t>)</a:t>
            </a:r>
          </a:p>
        </p:txBody>
      </p:sp>
      <p:sp>
        <p:nvSpPr>
          <p:cNvPr id="525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6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7" name="Text 14"/>
          <p:cNvSpPr txBox="1"/>
          <p:nvPr/>
        </p:nvSpPr>
        <p:spPr>
          <a:xfrm>
            <a:off x="1371599" y="4286312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⌘S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저장하고 창을 닫는다</a:t>
            </a:r>
          </a:p>
        </p:txBody>
      </p:sp>
      <p:sp>
        <p:nvSpPr>
          <p:cNvPr id="528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9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0" name="Text 17"/>
          <p:cNvSpPr txBox="1"/>
          <p:nvPr/>
        </p:nvSpPr>
        <p:spPr>
          <a:xfrm>
            <a:off x="1371599" y="507269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STEP 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명령을 한 번 더 실행한다</a:t>
            </a:r>
          </a:p>
        </p:txBody>
      </p:sp>
      <p:sp>
        <p:nvSpPr>
          <p:cNvPr id="531" name="terminal"/>
          <p:cNvSpPr/>
          <p:nvPr/>
        </p:nvSpPr>
        <p:spPr>
          <a:xfrm>
            <a:off x="6035040" y="1920239"/>
            <a:ext cx="5605272" cy="1871473"/>
          </a:xfrm>
          <a:prstGeom prst="roundRect">
            <a:avLst>
              <a:gd name="adj" fmla="val 3909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2" name="terminal-text"/>
          <p:cNvSpPr txBox="1"/>
          <p:nvPr/>
        </p:nvSpPr>
        <p:spPr>
          <a:xfrm>
            <a:off x="6217920" y="2066544"/>
            <a:ext cx="5239513" cy="1374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open -e ~/.config/cdbd/cdbd.env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이렇게 채웁니다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CDBD_EMAIL=공용계정이메일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CDBD_PASSWORD=공용계정비밀번호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CDBD_SUPABASE_URL=https://…(받은 값)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CDBD_SUPABASE_ANON_KEY=…(받은 값)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FIGMA_PAT=            # 비워 둬도 됨</a:t>
            </a:r>
          </a:p>
        </p:txBody>
      </p:sp>
      <p:sp>
        <p:nvSpPr>
          <p:cNvPr id="533" name="box-ok"/>
          <p:cNvSpPr/>
          <p:nvPr/>
        </p:nvSpPr>
        <p:spPr>
          <a:xfrm>
            <a:off x="6035040" y="4020311"/>
            <a:ext cx="5605272" cy="1030226"/>
          </a:xfrm>
          <a:prstGeom prst="roundRect">
            <a:avLst>
              <a:gd name="adj" fmla="val 8876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box-text"/>
          <p:cNvSpPr txBox="1"/>
          <p:nvPr/>
        </p:nvSpPr>
        <p:spPr>
          <a:xfrm>
            <a:off x="6236208" y="4148328"/>
            <a:ext cx="520293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다시 실행한 셋업의 마지막 줄이 「⚠️ 확인 필요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</a:t>
            </a:r>
            <a:r>
              <a:t>, 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번이 「✅ </a:t>
            </a:r>
            <a:r>
              <a:t>get_credentials()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</a:t>
            </a:r>
          </a:p>
        </p:txBody>
      </p:sp>
      <p:sp>
        <p:nvSpPr>
          <p:cNvPr id="535" name="box-red"/>
          <p:cNvSpPr/>
          <p:nvPr/>
        </p:nvSpPr>
        <p:spPr>
          <a:xfrm>
            <a:off x="6035040" y="5233415"/>
            <a:ext cx="5605272" cy="847345"/>
          </a:xfrm>
          <a:prstGeom prst="roundRect">
            <a:avLst>
              <a:gd name="adj" fmla="val 10791"/>
            </a:avLst>
          </a:prstGeom>
          <a:solidFill>
            <a:schemeClr val="accent5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box-text"/>
          <p:cNvSpPr txBox="1"/>
          <p:nvPr/>
        </p:nvSpPr>
        <p:spPr>
          <a:xfrm>
            <a:off x="6236208" y="5361432"/>
            <a:ext cx="520293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5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주의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🔴 </a:t>
            </a:r>
            <a:r>
              <a:t>credentials.json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은 복사하지 않습니다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셋업이 내 맥용을 자동으로 받습니다 </a:t>
            </a:r>
            <a:r>
              <a:t>(cdbd.env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옮겨도 </a:t>
            </a:r>
            <a:r>
              <a:t>OK)</a:t>
            </a:r>
          </a:p>
        </p:txBody>
      </p:sp>
      <p:sp>
        <p:nvSpPr>
          <p:cNvPr id="537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8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1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3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5 / 9</a:t>
            </a:r>
          </a:p>
        </p:txBody>
      </p:sp>
      <p:sp>
        <p:nvSpPr>
          <p:cNvPr id="547" name="Slide Number Placeholder 0"/>
          <p:cNvSpPr txBox="1"/>
          <p:nvPr>
            <p:ph type="sldNum" sz="quarter" idx="4294967295"/>
          </p:nvPr>
        </p:nvSpPr>
        <p:spPr>
          <a:xfrm>
            <a:off x="11415509" y="6355079"/>
            <a:ext cx="224803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  <p:sp>
        <p:nvSpPr>
          <p:cNvPr id="552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6 / 9</a:t>
            </a:r>
          </a:p>
        </p:txBody>
      </p:sp>
      <p:sp>
        <p:nvSpPr>
          <p:cNvPr id="553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6. 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폴더 신뢰 승인 </a:t>
            </a:r>
            <a:r>
              <a:t>(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볼트 </a:t>
            </a:r>
            <a:r>
              <a:t>6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곳</a:t>
            </a:r>
            <a:r>
              <a:t>)</a:t>
            </a:r>
          </a:p>
        </p:txBody>
      </p:sp>
      <p:sp>
        <p:nvSpPr>
          <p:cNvPr id="554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승인 전에는 볼트에 넣어 둔 </a:t>
            </a:r>
            <a:r>
              <a:t>Claude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허용 설정이 무시됩니다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볼트마다 한 번만 하면 됩니다</a:t>
            </a:r>
            <a:r>
              <a:t>.</a:t>
            </a:r>
          </a:p>
        </p:txBody>
      </p:sp>
      <p:sp>
        <p:nvSpPr>
          <p:cNvPr id="555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557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59" name="Text 8"/>
          <p:cNvSpPr txBox="1"/>
          <p:nvPr/>
        </p:nvSpPr>
        <p:spPr>
          <a:xfrm>
            <a:off x="1371599" y="271354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첫 줄을 붙여넣고 </a:t>
            </a:r>
            <a:r>
              <a:t>Enter</a:t>
            </a:r>
          </a:p>
        </p:txBody>
      </p:sp>
      <p:sp>
        <p:nvSpPr>
          <p:cNvPr id="560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62" name="Text 11"/>
          <p:cNvSpPr txBox="1"/>
          <p:nvPr/>
        </p:nvSpPr>
        <p:spPr>
          <a:xfrm>
            <a:off x="1371599" y="3499927"/>
            <a:ext cx="4206242" cy="429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</a:t>
            </a:r>
            <a:r>
              <a:t>Do you trust the files in this folder?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</a:t>
            </a:r>
            <a:r>
              <a:t>→ 1. Yes, proceed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 </a:t>
            </a:r>
            <a:r>
              <a:t>Enter</a:t>
            </a:r>
          </a:p>
        </p:txBody>
      </p:sp>
      <p:sp>
        <p:nvSpPr>
          <p:cNvPr id="563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65" name="Text 14"/>
          <p:cNvSpPr txBox="1"/>
          <p:nvPr/>
        </p:nvSpPr>
        <p:spPr>
          <a:xfrm>
            <a:off x="1371599" y="4286312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입력창이 나오면 </a:t>
            </a:r>
            <a:r>
              <a:t>/exit → Enter</a:t>
            </a:r>
          </a:p>
        </p:txBody>
      </p:sp>
      <p:sp>
        <p:nvSpPr>
          <p:cNvPr id="566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8" name="Text 17"/>
          <p:cNvSpPr txBox="1"/>
          <p:nvPr/>
        </p:nvSpPr>
        <p:spPr>
          <a:xfrm>
            <a:off x="1371599" y="507269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나머지 </a:t>
            </a:r>
            <a:r>
              <a:t>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줄도 하나씩 같은 방법으로</a:t>
            </a:r>
          </a:p>
        </p:txBody>
      </p:sp>
      <p:sp>
        <p:nvSpPr>
          <p:cNvPr id="569" name="terminal"/>
          <p:cNvSpPr/>
          <p:nvPr/>
        </p:nvSpPr>
        <p:spPr>
          <a:xfrm>
            <a:off x="6035040" y="1920239"/>
            <a:ext cx="5605272" cy="1385317"/>
          </a:xfrm>
          <a:prstGeom prst="roundRect">
            <a:avLst>
              <a:gd name="adj" fmla="val 5281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rminal-text"/>
          <p:cNvSpPr txBox="1"/>
          <p:nvPr/>
        </p:nvSpPr>
        <p:spPr>
          <a:xfrm>
            <a:off x="6217920" y="2066544"/>
            <a:ext cx="5239513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 &amp;&amp; claude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~/Documents/GitHub/design/cdbd-templates &amp;&amp; claude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~/Documents/GitHub/design/cdbd-design-service &amp;&amp; claude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~/Documents/GitHub/design/cdbd-design-system &amp;&amp; claude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~/Documents/GitHub/design/cdbd-marketing &amp;&amp; claude</a:t>
            </a:r>
          </a:p>
          <a:p>
            <a:pPr>
              <a:defRPr sz="10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cd ~/Documents/GitHub/design/makevu-qrstp &amp;&amp; claude</a:t>
            </a:r>
          </a:p>
        </p:txBody>
      </p:sp>
      <p:sp>
        <p:nvSpPr>
          <p:cNvPr id="571" name="box-ok"/>
          <p:cNvSpPr/>
          <p:nvPr/>
        </p:nvSpPr>
        <p:spPr>
          <a:xfrm>
            <a:off x="6035040" y="3534155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box-text"/>
          <p:cNvSpPr txBox="1"/>
          <p:nvPr/>
        </p:nvSpPr>
        <p:spPr>
          <a:xfrm>
            <a:off x="6236208" y="3662171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같은 줄을 다시 실행하면 질문 없이 바로 입력창이 나온다</a:t>
            </a:r>
          </a:p>
        </p:txBody>
      </p:sp>
      <p:sp>
        <p:nvSpPr>
          <p:cNvPr id="573" name="box-no"/>
          <p:cNvSpPr/>
          <p:nvPr/>
        </p:nvSpPr>
        <p:spPr>
          <a:xfrm>
            <a:off x="6035040" y="4860035"/>
            <a:ext cx="5605272" cy="1220725"/>
          </a:xfrm>
          <a:prstGeom prst="roundRect">
            <a:avLst>
              <a:gd name="adj" fmla="val 7491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box-text"/>
          <p:cNvSpPr txBox="1"/>
          <p:nvPr/>
        </p:nvSpPr>
        <p:spPr>
          <a:xfrm>
            <a:off x="6236208" y="4988052"/>
            <a:ext cx="52029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t>/exit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안 먹으면 </a:t>
            </a:r>
            <a:r>
              <a:t>Ctrl + C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두 번</a:t>
            </a:r>
          </a:p>
        </p:txBody>
      </p:sp>
      <p:sp>
        <p:nvSpPr>
          <p:cNvPr id="575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7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8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2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3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4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6 / 9</a:t>
            </a:r>
          </a:p>
        </p:txBody>
      </p:sp>
      <p:sp>
        <p:nvSpPr>
          <p:cNvPr id="585" name="Slide Number Placeholder 0"/>
          <p:cNvSpPr txBox="1"/>
          <p:nvPr>
            <p:ph type="sldNum" sz="quarter" idx="4294967295"/>
          </p:nvPr>
        </p:nvSpPr>
        <p:spPr>
          <a:xfrm>
            <a:off x="11414728" y="6355079"/>
            <a:ext cx="225584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  <p:sp>
        <p:nvSpPr>
          <p:cNvPr id="590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7 / 9</a:t>
            </a:r>
          </a:p>
        </p:txBody>
      </p:sp>
      <p:sp>
        <p:nvSpPr>
          <p:cNvPr id="591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7.  Figma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연결</a:t>
            </a:r>
          </a:p>
        </p:txBody>
      </p:sp>
      <p:sp>
        <p:nvSpPr>
          <p:cNvPr id="592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</a:t>
            </a:r>
            <a:r>
              <a:t>Figma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시안을 읽고 만들 수 있게 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계정에 한 번만 하면 모든 맥에 적용됩니다</a:t>
            </a:r>
            <a:r>
              <a:t>.</a:t>
            </a:r>
          </a:p>
        </p:txBody>
      </p:sp>
      <p:sp>
        <p:nvSpPr>
          <p:cNvPr id="593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4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595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6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7" name="Text 8"/>
          <p:cNvSpPr txBox="1"/>
          <p:nvPr/>
        </p:nvSpPr>
        <p:spPr>
          <a:xfrm>
            <a:off x="1371599" y="2735963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브라우저에서 </a:t>
            </a:r>
            <a:r>
              <a:t>claude.ai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로그인</a:t>
            </a:r>
          </a:p>
        </p:txBody>
      </p:sp>
      <p:sp>
        <p:nvSpPr>
          <p:cNvPr id="598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0" name="Text 11"/>
          <p:cNvSpPr txBox="1"/>
          <p:nvPr/>
        </p:nvSpPr>
        <p:spPr>
          <a:xfrm>
            <a:off x="1371599" y="3522347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설정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커넥터</a:t>
            </a:r>
            <a:r>
              <a:t>(Connectors)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이동</a:t>
            </a:r>
          </a:p>
        </p:txBody>
      </p:sp>
      <p:sp>
        <p:nvSpPr>
          <p:cNvPr id="601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2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3" name="Text 14"/>
          <p:cNvSpPr txBox="1"/>
          <p:nvPr/>
        </p:nvSpPr>
        <p:spPr>
          <a:xfrm>
            <a:off x="1371599" y="4308731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Figma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찾아 「연결」 </a:t>
            </a:r>
            <a:r>
              <a:t>→ Figma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로그인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허용</a:t>
            </a:r>
          </a:p>
        </p:txBody>
      </p:sp>
      <p:sp>
        <p:nvSpPr>
          <p:cNvPr id="604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06" name="Text 17"/>
          <p:cNvSpPr txBox="1"/>
          <p:nvPr/>
        </p:nvSpPr>
        <p:spPr>
          <a:xfrm>
            <a:off x="1371599" y="5095114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이미 「연결됨」이면 건너뛴다</a:t>
            </a:r>
          </a:p>
        </p:txBody>
      </p:sp>
      <p:sp>
        <p:nvSpPr>
          <p:cNvPr id="607" name="web-card"/>
          <p:cNvSpPr/>
          <p:nvPr/>
        </p:nvSpPr>
        <p:spPr>
          <a:xfrm>
            <a:off x="6035040" y="1920239"/>
            <a:ext cx="5605272" cy="1463041"/>
          </a:xfrm>
          <a:prstGeom prst="roundRect">
            <a:avLst>
              <a:gd name="adj" fmla="val 7500"/>
            </a:avLst>
          </a:prstGeom>
          <a:solidFill>
            <a:schemeClr val="accent1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Text 19"/>
          <p:cNvSpPr txBox="1"/>
          <p:nvPr/>
        </p:nvSpPr>
        <p:spPr>
          <a:xfrm>
            <a:off x="6263640" y="2442779"/>
            <a:ext cx="5148072" cy="41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터미널이 아니라 브라우저에서 합니다</a:t>
            </a:r>
          </a:p>
          <a:p>
            <a:pPr>
              <a:defRPr sz="13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claude.ai  →  설정  →  커넥터  →  Figma  →  연결</a:t>
            </a:r>
          </a:p>
        </p:txBody>
      </p:sp>
      <p:sp>
        <p:nvSpPr>
          <p:cNvPr id="609" name="box-ok"/>
          <p:cNvSpPr/>
          <p:nvPr/>
        </p:nvSpPr>
        <p:spPr>
          <a:xfrm>
            <a:off x="6035040" y="3611879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box-text"/>
          <p:cNvSpPr txBox="1"/>
          <p:nvPr/>
        </p:nvSpPr>
        <p:spPr>
          <a:xfrm>
            <a:off x="6236208" y="3739896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커넥터 목록에서 </a:t>
            </a:r>
            <a:r>
              <a:t>Figma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「연결됨」으로 보인다</a:t>
            </a:r>
          </a:p>
        </p:txBody>
      </p:sp>
      <p:sp>
        <p:nvSpPr>
          <p:cNvPr id="611" name="box-no"/>
          <p:cNvSpPr/>
          <p:nvPr/>
        </p:nvSpPr>
        <p:spPr>
          <a:xfrm>
            <a:off x="6035040" y="4937759"/>
            <a:ext cx="5605272" cy="1143001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box-text"/>
          <p:cNvSpPr txBox="1"/>
          <p:nvPr/>
        </p:nvSpPr>
        <p:spPr>
          <a:xfrm>
            <a:off x="6236208" y="5065776"/>
            <a:ext cx="52029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t>Figma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계정 권한이 없으면 담당자에게 팀 </a:t>
            </a:r>
            <a:r>
              <a:t>Figma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초대를 요청</a:t>
            </a:r>
          </a:p>
        </p:txBody>
      </p:sp>
      <p:sp>
        <p:nvSpPr>
          <p:cNvPr id="613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5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7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9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1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2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7 / 9</a:t>
            </a:r>
          </a:p>
        </p:txBody>
      </p:sp>
      <p:sp>
        <p:nvSpPr>
          <p:cNvPr id="623" name="Slide Number Placeholder 0"/>
          <p:cNvSpPr txBox="1"/>
          <p:nvPr>
            <p:ph type="sldNum" sz="quarter" idx="4294967295"/>
          </p:nvPr>
        </p:nvSpPr>
        <p:spPr>
          <a:xfrm>
            <a:off x="11417853" y="6355079"/>
            <a:ext cx="22245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  <p:sp>
        <p:nvSpPr>
          <p:cNvPr id="628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8 / 9</a:t>
            </a:r>
          </a:p>
        </p:txBody>
      </p:sp>
      <p:sp>
        <p:nvSpPr>
          <p:cNvPr id="629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8. 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점검표 돌리기</a:t>
            </a:r>
          </a:p>
        </p:txBody>
      </p:sp>
      <p:sp>
        <p:nvSpPr>
          <p:cNvPr id="630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지금까지의 셋업이 전부 제대로 됐는지 </a:t>
            </a:r>
            <a:r>
              <a:t>28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항목을 자동으로 확인합니다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약 </a:t>
            </a:r>
            <a:r>
              <a:t>30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초</a:t>
            </a:r>
            <a:r>
              <a:t>.</a:t>
            </a:r>
          </a:p>
        </p:txBody>
      </p:sp>
      <p:sp>
        <p:nvSpPr>
          <p:cNvPr id="631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2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633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5" name="Text 8"/>
          <p:cNvSpPr txBox="1"/>
          <p:nvPr/>
        </p:nvSpPr>
        <p:spPr>
          <a:xfrm>
            <a:off x="1371599" y="2745739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한 줄을 붙여넣고 </a:t>
            </a:r>
            <a:r>
              <a:t>Enter</a:t>
            </a:r>
          </a:p>
        </p:txBody>
      </p:sp>
      <p:sp>
        <p:nvSpPr>
          <p:cNvPr id="636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7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8" name="Text 11"/>
          <p:cNvSpPr txBox="1"/>
          <p:nvPr/>
        </p:nvSpPr>
        <p:spPr>
          <a:xfrm>
            <a:off x="1371599" y="3532123"/>
            <a:ext cx="42062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1~6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번 묶음이 차례로 ✅ </a:t>
            </a:r>
            <a:r>
              <a:t>/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❌ 로 찍힌다</a:t>
            </a:r>
          </a:p>
        </p:txBody>
      </p:sp>
      <p:sp>
        <p:nvSpPr>
          <p:cNvPr id="639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0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1" name="Text 14"/>
          <p:cNvSpPr txBox="1"/>
          <p:nvPr/>
        </p:nvSpPr>
        <p:spPr>
          <a:xfrm>
            <a:off x="1371599" y="4318508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마지막 줄을 확인한다</a:t>
            </a:r>
          </a:p>
        </p:txBody>
      </p:sp>
      <p:sp>
        <p:nvSpPr>
          <p:cNvPr id="642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3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4" name="Text 17"/>
          <p:cNvSpPr txBox="1"/>
          <p:nvPr/>
        </p:nvSpPr>
        <p:spPr>
          <a:xfrm>
            <a:off x="1371599" y="5104891"/>
            <a:ext cx="42062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❌가 있으면 그 줄 끝의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안내대로 하고 다시 실행</a:t>
            </a:r>
          </a:p>
        </p:txBody>
      </p:sp>
      <p:sp>
        <p:nvSpPr>
          <p:cNvPr id="645" name="terminal"/>
          <p:cNvSpPr/>
          <p:nvPr/>
        </p:nvSpPr>
        <p:spPr>
          <a:xfrm>
            <a:off x="6035040" y="1920239"/>
            <a:ext cx="5605272" cy="1293115"/>
          </a:xfrm>
          <a:prstGeom prst="roundRect">
            <a:avLst>
              <a:gd name="adj" fmla="val 5657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6" name="terminal-text"/>
          <p:cNvSpPr txBox="1"/>
          <p:nvPr/>
        </p:nvSpPr>
        <p:spPr>
          <a:xfrm>
            <a:off x="6217920" y="2066544"/>
            <a:ext cx="5239513" cy="90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bash ~/Documents/GitHub/design/tools/cdbd-doctor.sh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</a:p>
          <a:p>
            <a:pPr>
              <a:defRPr sz="1100">
                <a:solidFill>
                  <a:srgbClr val="6E6E7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마지막 줄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결과 — ✅ 28 · ⚠️ 0 · ❌ 0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이 기기는 CdBd 작업 준비가 끝났습니다.</a:t>
            </a:r>
          </a:p>
        </p:txBody>
      </p:sp>
      <p:sp>
        <p:nvSpPr>
          <p:cNvPr id="647" name="box-ok"/>
          <p:cNvSpPr/>
          <p:nvPr/>
        </p:nvSpPr>
        <p:spPr>
          <a:xfrm>
            <a:off x="6035040" y="3441953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box-text"/>
          <p:cNvSpPr txBox="1"/>
          <p:nvPr/>
        </p:nvSpPr>
        <p:spPr>
          <a:xfrm>
            <a:off x="6236208" y="3569970"/>
            <a:ext cx="520293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「✅ </a:t>
            </a:r>
            <a:r>
              <a:t>28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⚠️ </a:t>
            </a:r>
            <a:r>
              <a:t>0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셋업 완료</a:t>
            </a:r>
          </a:p>
        </p:txBody>
      </p:sp>
      <p:sp>
        <p:nvSpPr>
          <p:cNvPr id="649" name="box-no"/>
          <p:cNvSpPr/>
          <p:nvPr/>
        </p:nvSpPr>
        <p:spPr>
          <a:xfrm>
            <a:off x="6035040" y="4767834"/>
            <a:ext cx="5605272" cy="1312927"/>
          </a:xfrm>
          <a:prstGeom prst="roundRect">
            <a:avLst>
              <a:gd name="adj" fmla="val 6965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0" name="box-text"/>
          <p:cNvSpPr txBox="1"/>
          <p:nvPr/>
        </p:nvSpPr>
        <p:spPr>
          <a:xfrm>
            <a:off x="6236208" y="4895850"/>
            <a:ext cx="5202937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해결 방법은 「막혔을 때」 표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다음다음 장</a:t>
            </a:r>
            <a:r>
              <a:t>)</a:t>
            </a:r>
          </a:p>
        </p:txBody>
      </p:sp>
      <p:sp>
        <p:nvSpPr>
          <p:cNvPr id="651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8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9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rgbClr val="F5F5F7"/>
          </a:solidFill>
          <a:ln>
            <a:solidFill>
              <a:srgbClr val="C9C9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0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8 / 9</a:t>
            </a:r>
          </a:p>
        </p:txBody>
      </p:sp>
      <p:sp>
        <p:nvSpPr>
          <p:cNvPr id="661" name="Slide Number Placeholder 0"/>
          <p:cNvSpPr txBox="1"/>
          <p:nvPr>
            <p:ph type="sldNum" sz="quarter" idx="4294967295"/>
          </p:nvPr>
        </p:nvSpPr>
        <p:spPr>
          <a:xfrm>
            <a:off x="11415956" y="6355079"/>
            <a:ext cx="224356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확인</a:t>
            </a:r>
          </a:p>
        </p:txBody>
      </p:sp>
      <p:sp>
        <p:nvSpPr>
          <p:cNvPr id="666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STEP 9 / 9</a:t>
            </a:r>
          </a:p>
        </p:txBody>
      </p:sp>
      <p:sp>
        <p:nvSpPr>
          <p:cNvPr id="667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STEP 9.  Claude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에게 확인 질문</a:t>
            </a:r>
          </a:p>
        </p:txBody>
      </p:sp>
      <p:sp>
        <p:nvSpPr>
          <p:cNvPr id="668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하나요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 규칙과 기능 사전이 실제로 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에게 실렸는지 마지막으로 확인합니다</a:t>
            </a:r>
            <a:r>
              <a:t>.</a:t>
            </a:r>
          </a:p>
        </p:txBody>
      </p:sp>
      <p:sp>
        <p:nvSpPr>
          <p:cNvPr id="669" name="todo-card"/>
          <p:cNvSpPr/>
          <p:nvPr/>
        </p:nvSpPr>
        <p:spPr>
          <a:xfrm>
            <a:off x="548640" y="1920239"/>
            <a:ext cx="5212080" cy="4160522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0" name="Text 5"/>
          <p:cNvSpPr txBox="1"/>
          <p:nvPr/>
        </p:nvSpPr>
        <p:spPr>
          <a:xfrm>
            <a:off x="822960" y="2142170"/>
            <a:ext cx="4572001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이렇게 하세요</a:t>
            </a:r>
          </a:p>
        </p:txBody>
      </p:sp>
      <p:sp>
        <p:nvSpPr>
          <p:cNvPr id="671" name="num"/>
          <p:cNvSpPr/>
          <p:nvPr/>
        </p:nvSpPr>
        <p:spPr>
          <a:xfrm>
            <a:off x="822960" y="2642616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2" name="Text 7"/>
          <p:cNvSpPr txBox="1"/>
          <p:nvPr/>
        </p:nvSpPr>
        <p:spPr>
          <a:xfrm>
            <a:off x="822960" y="2745739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3" name="Text 8"/>
          <p:cNvSpPr txBox="1"/>
          <p:nvPr/>
        </p:nvSpPr>
        <p:spPr>
          <a:xfrm>
            <a:off x="1371599" y="2713544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옵시디언에서 아무 볼트나 연다</a:t>
            </a:r>
          </a:p>
        </p:txBody>
      </p:sp>
      <p:sp>
        <p:nvSpPr>
          <p:cNvPr id="674" name="num"/>
          <p:cNvSpPr/>
          <p:nvPr/>
        </p:nvSpPr>
        <p:spPr>
          <a:xfrm>
            <a:off x="822960" y="3429000"/>
            <a:ext cx="384049" cy="384048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5" name="Text 10"/>
          <p:cNvSpPr txBox="1"/>
          <p:nvPr/>
        </p:nvSpPr>
        <p:spPr>
          <a:xfrm>
            <a:off x="822960" y="3532123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6" name="Text 11"/>
          <p:cNvSpPr txBox="1"/>
          <p:nvPr/>
        </p:nvSpPr>
        <p:spPr>
          <a:xfrm>
            <a:off x="1371599" y="3499927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Claudian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창을 연다</a:t>
            </a:r>
          </a:p>
        </p:txBody>
      </p:sp>
      <p:sp>
        <p:nvSpPr>
          <p:cNvPr id="677" name="num"/>
          <p:cNvSpPr/>
          <p:nvPr/>
        </p:nvSpPr>
        <p:spPr>
          <a:xfrm>
            <a:off x="822960" y="4215384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Text 13"/>
          <p:cNvSpPr txBox="1"/>
          <p:nvPr/>
        </p:nvSpPr>
        <p:spPr>
          <a:xfrm>
            <a:off x="822960" y="4318508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9" name="Text 14"/>
          <p:cNvSpPr txBox="1"/>
          <p:nvPr/>
        </p:nvSpPr>
        <p:spPr>
          <a:xfrm>
            <a:off x="1371599" y="4286312"/>
            <a:ext cx="420624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오른쪽 질문을 그대로 입력한다</a:t>
            </a:r>
          </a:p>
        </p:txBody>
      </p:sp>
      <p:sp>
        <p:nvSpPr>
          <p:cNvPr id="680" name="num"/>
          <p:cNvSpPr/>
          <p:nvPr/>
        </p:nvSpPr>
        <p:spPr>
          <a:xfrm>
            <a:off x="822960" y="5001767"/>
            <a:ext cx="384049" cy="38404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Text 16"/>
          <p:cNvSpPr txBox="1"/>
          <p:nvPr/>
        </p:nvSpPr>
        <p:spPr>
          <a:xfrm>
            <a:off x="822960" y="5104891"/>
            <a:ext cx="3840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82" name="Text 17"/>
          <p:cNvSpPr txBox="1"/>
          <p:nvPr/>
        </p:nvSpPr>
        <p:spPr>
          <a:xfrm>
            <a:off x="1371599" y="5072695"/>
            <a:ext cx="4206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답이 「아니요」로 시작해 「빈칸」이라고 바로잡는지 본다</a:t>
            </a:r>
          </a:p>
        </p:txBody>
      </p:sp>
      <p:sp>
        <p:nvSpPr>
          <p:cNvPr id="683" name="terminal"/>
          <p:cNvSpPr/>
          <p:nvPr/>
        </p:nvSpPr>
        <p:spPr>
          <a:xfrm>
            <a:off x="6035040" y="1920239"/>
            <a:ext cx="5605272" cy="714757"/>
          </a:xfrm>
          <a:prstGeom prst="roundRect">
            <a:avLst>
              <a:gd name="adj" fmla="val 10235"/>
            </a:avLst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terminal-text"/>
          <p:cNvSpPr txBox="1"/>
          <p:nvPr/>
        </p:nvSpPr>
        <p:spPr>
          <a:xfrm>
            <a:off x="6217920" y="2066544"/>
            <a:ext cx="5239513" cy="34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개별 URL에서 이름 칸이 비면</a:t>
            </a:r>
          </a:p>
          <a:p>
            <a:pPr>
              <a:defRPr sz="11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대체어가 나오죠?</a:t>
            </a:r>
          </a:p>
        </p:txBody>
      </p:sp>
      <p:sp>
        <p:nvSpPr>
          <p:cNvPr id="685" name="box-ok"/>
          <p:cNvSpPr/>
          <p:nvPr/>
        </p:nvSpPr>
        <p:spPr>
          <a:xfrm>
            <a:off x="6035040" y="2863595"/>
            <a:ext cx="5605272" cy="1143001"/>
          </a:xfrm>
          <a:prstGeom prst="roundRect">
            <a:avLst>
              <a:gd name="adj" fmla="val 8000"/>
            </a:avLst>
          </a:prstGeom>
          <a:solidFill>
            <a:schemeClr val="accent3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box-text"/>
          <p:cNvSpPr txBox="1"/>
          <p:nvPr/>
        </p:nvSpPr>
        <p:spPr>
          <a:xfrm>
            <a:off x="6236208" y="2991611"/>
            <a:ext cx="52029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chemeClr val="accent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✅ 이렇게 보이면 성공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「아니요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개별 </a:t>
            </a:r>
            <a:r>
              <a:t>URL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에서는 대체어가 아니라 빈칸으로 나옵니다 </a:t>
            </a:r>
            <a:r>
              <a:t>…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</a:t>
            </a:r>
          </a:p>
        </p:txBody>
      </p:sp>
      <p:sp>
        <p:nvSpPr>
          <p:cNvPr id="687" name="box-no"/>
          <p:cNvSpPr/>
          <p:nvPr/>
        </p:nvSpPr>
        <p:spPr>
          <a:xfrm>
            <a:off x="6035040" y="4189476"/>
            <a:ext cx="5605272" cy="1891285"/>
          </a:xfrm>
          <a:prstGeom prst="roundRect">
            <a:avLst>
              <a:gd name="adj" fmla="val 4835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box-text"/>
          <p:cNvSpPr txBox="1"/>
          <p:nvPr/>
        </p:nvSpPr>
        <p:spPr>
          <a:xfrm>
            <a:off x="6236208" y="4317491"/>
            <a:ext cx="52029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E6E73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막히면</a:t>
            </a:r>
          </a:p>
          <a:p>
            <a:pPr>
              <a:spcBef>
                <a:spcPts val="200"/>
              </a:spcBef>
              <a:defRPr sz="12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다르게 답하면 담당자에게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담당자가 수용 테스트 전체를 돌려 확인합니다</a:t>
            </a:r>
          </a:p>
        </p:txBody>
      </p:sp>
      <p:sp>
        <p:nvSpPr>
          <p:cNvPr id="689" name="tracker"/>
          <p:cNvSpPr/>
          <p:nvPr/>
        </p:nvSpPr>
        <p:spPr>
          <a:xfrm>
            <a:off x="49377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tracker"/>
          <p:cNvSpPr/>
          <p:nvPr/>
        </p:nvSpPr>
        <p:spPr>
          <a:xfrm>
            <a:off x="521207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1" name="tracker"/>
          <p:cNvSpPr/>
          <p:nvPr/>
        </p:nvSpPr>
        <p:spPr>
          <a:xfrm>
            <a:off x="54864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2" name="tracker"/>
          <p:cNvSpPr/>
          <p:nvPr/>
        </p:nvSpPr>
        <p:spPr>
          <a:xfrm>
            <a:off x="576072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tracker"/>
          <p:cNvSpPr/>
          <p:nvPr/>
        </p:nvSpPr>
        <p:spPr>
          <a:xfrm>
            <a:off x="603504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tracker"/>
          <p:cNvSpPr/>
          <p:nvPr/>
        </p:nvSpPr>
        <p:spPr>
          <a:xfrm>
            <a:off x="630935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tracker"/>
          <p:cNvSpPr/>
          <p:nvPr/>
        </p:nvSpPr>
        <p:spPr>
          <a:xfrm>
            <a:off x="658368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tracker"/>
          <p:cNvSpPr/>
          <p:nvPr/>
        </p:nvSpPr>
        <p:spPr>
          <a:xfrm>
            <a:off x="6858000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tracker"/>
          <p:cNvSpPr/>
          <p:nvPr/>
        </p:nvSpPr>
        <p:spPr>
          <a:xfrm>
            <a:off x="7132319" y="6437376"/>
            <a:ext cx="118873" cy="11887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8" name="Text 33"/>
          <p:cNvSpPr txBox="1"/>
          <p:nvPr/>
        </p:nvSpPr>
        <p:spPr>
          <a:xfrm>
            <a:off x="7452359" y="6426961"/>
            <a:ext cx="731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9 / 9</a:t>
            </a:r>
          </a:p>
        </p:txBody>
      </p:sp>
      <p:sp>
        <p:nvSpPr>
          <p:cNvPr id="699" name="Slide Number Placeholder 0"/>
          <p:cNvSpPr txBox="1"/>
          <p:nvPr>
            <p:ph type="sldNum" sz="quarter" idx="4294967295"/>
          </p:nvPr>
        </p:nvSpPr>
        <p:spPr>
          <a:xfrm>
            <a:off x="11422988" y="6355079"/>
            <a:ext cx="217324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704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06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막혔을 때</a:t>
            </a:r>
          </a:p>
        </p:txBody>
      </p:sp>
      <p:sp>
        <p:nvSpPr>
          <p:cNvPr id="705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점검표의 ❌마다 할 일이 정해져 있습니다</a:t>
            </a:r>
          </a:p>
        </p:txBody>
      </p:sp>
      <p:sp>
        <p:nvSpPr>
          <p:cNvPr id="706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평소에는 </a:t>
            </a:r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켤 때 문제가 있으면 「⚠️ </a:t>
            </a:r>
            <a:r>
              <a:t>CdBd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셋업 점검</a:t>
            </a:r>
            <a:r>
              <a:t>: …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」 한 줄로 알려 줍니다</a:t>
            </a:r>
            <a:r>
              <a:t>.</a:t>
            </a:r>
          </a:p>
        </p:txBody>
      </p:sp>
      <p:graphicFrame>
        <p:nvGraphicFramePr>
          <p:cNvPr id="707" name="Table 0"/>
          <p:cNvGraphicFramePr/>
          <p:nvPr/>
        </p:nvGraphicFramePr>
        <p:xfrm>
          <a:off x="548640" y="1920239"/>
          <a:ext cx="11091672" cy="4114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91840"/>
                <a:gridCol w="310896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chemeClr val="accent2">
                              <a:hueOff val="-15247060"/>
                              <a:satOff val="-68000"/>
                              <a:lumOff val="4901"/>
                            </a:schemeClr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점검표에 이렇게 나오면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chemeClr val="accent2">
                              <a:hueOff val="-15247060"/>
                              <a:satOff val="-68000"/>
                              <a:lumOff val="4901"/>
                            </a:schemeClr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이유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chemeClr val="accent2">
                              <a:hueOff val="-15247060"/>
                              <a:satOff val="-68000"/>
                              <a:lumOff val="4901"/>
                            </a:schemeClr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defRPr>
                      </a:pPr>
                      <a:r>
                        <a:rPr b="1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이렇게 하세요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저장소 「</a:t>
                      </a:r>
                      <a:r>
                        <a:t>N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 뒤처짐」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최근 변경을 안 받음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D1D1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bash ~/Documents/GitHub/design/tools/cdbd-sync.sh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저장소 「갈라짐」 </a:t>
                      </a:r>
                      <a:r>
                        <a:t>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「미커밋」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내 맥에만 있는 변경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담당자와 함께 확인 </a:t>
                      </a:r>
                      <a:r>
                        <a:t>(sync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는 안전하게 건너뜀</a:t>
                      </a:r>
                      <a:r>
                        <a:t>)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링크 「없음</a:t>
                      </a:r>
                      <a:r>
                        <a:t>/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깨짐」 </a:t>
                      </a:r>
                      <a:r>
                        <a:t>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「옛 사본」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셋업 전이거나 옛 파일이 남음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4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다시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폴더 신뢰 「미승인」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그 볼트에서 </a:t>
                      </a:r>
                      <a:r>
                        <a:t>Claude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를 안 켬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6 —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그 줄만 다시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Claudian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「꺼짐」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「사용자 설정 불러오기」 </a:t>
                      </a:r>
                      <a:r>
                        <a:t>OFF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2 — Claudian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설정에서 켜기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cdbd.env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「빈 키」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5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미완료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1D1D1F"/>
                          </a:solidFill>
                        </a:rPr>
                        <a:t>STEP 5 → STEP 4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인증 실패 </a:t>
                      </a:r>
                      <a:r>
                        <a:t>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「재로그인 거부」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공용 계정 비밀번호가 바뀜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cdbd.env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의 비밀번호만 새로 </a:t>
                      </a:r>
                      <a:r>
                        <a:t>(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모든 맥 공통</a:t>
                      </a:r>
                      <a:r>
                        <a:t>)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gstack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없음 </a:t>
                      </a:r>
                      <a:r>
                        <a:t>· browse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실패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3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미완료 </a:t>
                      </a:r>
                      <a:r>
                        <a:t>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빌드 문제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STEP 3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다시</a:t>
                      </a:r>
                    </a:p>
                  </a:txBody>
                  <a:tcPr marL="54864" marR="54864" marT="54864" marB="54864" anchor="ctr" anchorCtr="0" horzOverflow="overflow">
                    <a:lnL>
                      <a:solidFill>
                        <a:srgbClr val="E3E3EA"/>
                      </a:solidFill>
                    </a:lnL>
                    <a:lnR>
                      <a:solidFill>
                        <a:srgbClr val="E3E3EA"/>
                      </a:solidFill>
                    </a:lnR>
                    <a:lnT>
                      <a:solidFill>
                        <a:srgbClr val="E3E3EA"/>
                      </a:solidFill>
                    </a:lnT>
                    <a:lnB>
                      <a:solidFill>
                        <a:srgbClr val="E3E3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8" name="Slide Number Placeholder 0"/>
          <p:cNvSpPr txBox="1"/>
          <p:nvPr>
            <p:ph type="sldNum" sz="quarter" idx="4294967295"/>
          </p:nvPr>
        </p:nvSpPr>
        <p:spPr>
          <a:xfrm>
            <a:off x="11416737" y="6355079"/>
            <a:ext cx="223575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PART 2 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셋업 가이드</a:t>
            </a:r>
          </a:p>
        </p:txBody>
      </p:sp>
      <p:sp>
        <p:nvSpPr>
          <p:cNvPr id="713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06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운영 규칙</a:t>
            </a:r>
          </a:p>
        </p:txBody>
      </p:sp>
      <p:sp>
        <p:nvSpPr>
          <p:cNvPr id="714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계정 하나를 모두가 씁니다 </a:t>
            </a:r>
            <a:r>
              <a:t>—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세 가지만 지켜 주세요</a:t>
            </a:r>
          </a:p>
        </p:txBody>
      </p:sp>
      <p:sp>
        <p:nvSpPr>
          <p:cNvPr id="715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도 이 규칙대로 움직이도록 설정돼 있습니다</a:t>
            </a:r>
            <a:r>
              <a:t>.</a:t>
            </a:r>
          </a:p>
        </p:txBody>
      </p:sp>
      <p:sp>
        <p:nvSpPr>
          <p:cNvPr id="716" name="rule3-card"/>
          <p:cNvSpPr/>
          <p:nvPr/>
        </p:nvSpPr>
        <p:spPr>
          <a:xfrm>
            <a:off x="548640" y="1920239"/>
            <a:ext cx="3511297" cy="4160522"/>
          </a:xfrm>
          <a:prstGeom prst="roundRect">
            <a:avLst>
              <a:gd name="adj" fmla="val 3125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7" name="rule3-circle"/>
          <p:cNvSpPr/>
          <p:nvPr/>
        </p:nvSpPr>
        <p:spPr>
          <a:xfrm>
            <a:off x="822960" y="2194560"/>
            <a:ext cx="731521" cy="7315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18" name="rule3-icon" descr="rule3-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5839" y="237743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19" name="Text 6"/>
          <p:cNvSpPr txBox="1"/>
          <p:nvPr/>
        </p:nvSpPr>
        <p:spPr>
          <a:xfrm>
            <a:off x="822960" y="3154679"/>
            <a:ext cx="2962657" cy="295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돈이 드는 일은 먼저 묻는다</a:t>
            </a:r>
          </a:p>
        </p:txBody>
      </p:sp>
      <p:sp>
        <p:nvSpPr>
          <p:cNvPr id="720" name="Text 7"/>
          <p:cNvSpPr txBox="1"/>
          <p:nvPr/>
        </p:nvSpPr>
        <p:spPr>
          <a:xfrm>
            <a:off x="822960" y="3977640"/>
            <a:ext cx="2962657" cy="429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게시 </a:t>
            </a:r>
            <a:r>
              <a:t>· URL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생성</a:t>
            </a:r>
            <a:r>
              <a:t>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연장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개별 </a:t>
            </a:r>
            <a:r>
              <a:t>URL 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주소 변경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초대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예약 카드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충전</a:t>
            </a:r>
          </a:p>
        </p:txBody>
      </p:sp>
      <p:sp>
        <p:nvSpPr>
          <p:cNvPr id="721" name="Text 8"/>
          <p:cNvSpPr txBox="1"/>
          <p:nvPr/>
        </p:nvSpPr>
        <p:spPr>
          <a:xfrm>
            <a:off x="822960" y="4892040"/>
            <a:ext cx="296265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크레딧이 모두의 것 </a:t>
            </a:r>
            <a:r>
              <a:t>— Claude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실행 전에 금액을 말하고 확인을 받습니다</a:t>
            </a:r>
          </a:p>
        </p:txBody>
      </p:sp>
      <p:sp>
        <p:nvSpPr>
          <p:cNvPr id="722" name="rule3-card"/>
          <p:cNvSpPr/>
          <p:nvPr/>
        </p:nvSpPr>
        <p:spPr>
          <a:xfrm>
            <a:off x="4338828" y="1920239"/>
            <a:ext cx="3511297" cy="4160522"/>
          </a:xfrm>
          <a:prstGeom prst="roundRect">
            <a:avLst>
              <a:gd name="adj" fmla="val 3125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rule3-circle"/>
          <p:cNvSpPr/>
          <p:nvPr/>
        </p:nvSpPr>
        <p:spPr>
          <a:xfrm>
            <a:off x="4613147" y="2194560"/>
            <a:ext cx="731521" cy="7315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24" name="rule3-icon" descr="rule3-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96028" y="237743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25" name="Text 11"/>
          <p:cNvSpPr txBox="1"/>
          <p:nvPr/>
        </p:nvSpPr>
        <p:spPr>
          <a:xfrm>
            <a:off x="4613147" y="3154679"/>
            <a:ext cx="2962657" cy="295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연습은 내 테스트 페이지에서만</a:t>
            </a:r>
          </a:p>
        </p:txBody>
      </p:sp>
      <p:sp>
        <p:nvSpPr>
          <p:cNvPr id="726" name="Text 12"/>
          <p:cNvSpPr txBox="1"/>
          <p:nvPr/>
        </p:nvSpPr>
        <p:spPr>
          <a:xfrm>
            <a:off x="4613147" y="3977640"/>
            <a:ext cx="2962657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남의 작업 페이지는 조작 전에 확인</a:t>
            </a:r>
          </a:p>
        </p:txBody>
      </p:sp>
      <p:sp>
        <p:nvSpPr>
          <p:cNvPr id="727" name="Text 13"/>
          <p:cNvSpPr txBox="1"/>
          <p:nvPr/>
        </p:nvSpPr>
        <p:spPr>
          <a:xfrm>
            <a:off x="4613147" y="4892040"/>
            <a:ext cx="296265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에디터는 자동 저장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둘이 같은 페이지를 만지면 서로 덮어씁니다</a:t>
            </a:r>
          </a:p>
        </p:txBody>
      </p:sp>
      <p:sp>
        <p:nvSpPr>
          <p:cNvPr id="728" name="rule3-card"/>
          <p:cNvSpPr/>
          <p:nvPr/>
        </p:nvSpPr>
        <p:spPr>
          <a:xfrm>
            <a:off x="8129016" y="1920239"/>
            <a:ext cx="3511297" cy="4160522"/>
          </a:xfrm>
          <a:prstGeom prst="roundRect">
            <a:avLst>
              <a:gd name="adj" fmla="val 3125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9" name="rule3-circle"/>
          <p:cNvSpPr/>
          <p:nvPr/>
        </p:nvSpPr>
        <p:spPr>
          <a:xfrm>
            <a:off x="8403335" y="2194560"/>
            <a:ext cx="731521" cy="7315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30" name="rule3-icon" descr="rule3-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86216" y="237743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31" name="Text 16"/>
          <p:cNvSpPr txBox="1"/>
          <p:nvPr/>
        </p:nvSpPr>
        <p:spPr>
          <a:xfrm>
            <a:off x="8403335" y="3154679"/>
            <a:ext cx="2962657" cy="295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로그인 파일은 각자</a:t>
            </a:r>
          </a:p>
        </p:txBody>
      </p:sp>
      <p:sp>
        <p:nvSpPr>
          <p:cNvPr id="732" name="Text 17"/>
          <p:cNvSpPr txBox="1"/>
          <p:nvPr/>
        </p:nvSpPr>
        <p:spPr>
          <a:xfrm>
            <a:off x="8403335" y="3977640"/>
            <a:ext cx="2962657" cy="417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credentials.json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복사 금지 </a:t>
            </a:r>
            <a:r>
              <a:t>· cdbd.env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만 옮긴다</a:t>
            </a:r>
          </a:p>
        </p:txBody>
      </p:sp>
      <p:sp>
        <p:nvSpPr>
          <p:cNvPr id="733" name="Text 18"/>
          <p:cNvSpPr txBox="1"/>
          <p:nvPr/>
        </p:nvSpPr>
        <p:spPr>
          <a:xfrm>
            <a:off x="8403335" y="4892040"/>
            <a:ext cx="296265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복사하면 서로 로그인이 풀립니다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셋업이 각자 받아 줍니다</a:t>
            </a:r>
          </a:p>
        </p:txBody>
      </p:sp>
      <p:sp>
        <p:nvSpPr>
          <p:cNvPr id="734" name="Slide Number Placeholder 0"/>
          <p:cNvSpPr txBox="1"/>
          <p:nvPr>
            <p:ph type="sldNum" sz="quarter" idx="4294967295"/>
          </p:nvPr>
        </p:nvSpPr>
        <p:spPr>
          <a:xfrm>
            <a:off x="11415956" y="6355079"/>
            <a:ext cx="224356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Text 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다음 순서</a:t>
            </a:r>
          </a:p>
        </p:txBody>
      </p:sp>
      <p:sp>
        <p:nvSpPr>
          <p:cNvPr id="739" name="Text 1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07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다음</a:t>
            </a:r>
          </a:p>
        </p:txBody>
      </p:sp>
      <p:sp>
        <p:nvSpPr>
          <p:cNvPr id="740" name="Text 1"/>
          <p:cNvSpPr txBox="1"/>
          <p:nvPr>
            <p:ph type="title"/>
          </p:nvPr>
        </p:nvSpPr>
        <p:spPr>
          <a:xfrm>
            <a:off x="548640" y="676655"/>
            <a:ext cx="11091672" cy="658369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rPr b="1">
                <a:latin typeface="+mn-lt"/>
                <a:ea typeface="+mn-ea"/>
                <a:cs typeface="+mn-cs"/>
                <a:sym typeface="Helvetica"/>
              </a:rPr>
              <a:t>리허설 </a:t>
            </a:r>
            <a:r>
              <a:t>→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팀원 </a:t>
            </a:r>
            <a:r>
              <a:t>2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명 셋업 </a:t>
            </a:r>
            <a:r>
              <a:t>→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🎯 목표 도달</a:t>
            </a:r>
          </a:p>
        </p:txBody>
      </p:sp>
      <p:sp>
        <p:nvSpPr>
          <p:cNvPr id="741" name="Text 1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목표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팀원 두 분의 맥에서 확인 질문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수용 테스트</a:t>
            </a:r>
            <a:r>
              <a:t>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전부 통과</a:t>
            </a:r>
            <a:r>
              <a:t>.</a:t>
            </a:r>
          </a:p>
        </p:txBody>
      </p:sp>
      <p:sp>
        <p:nvSpPr>
          <p:cNvPr id="742" name="next-card"/>
          <p:cNvSpPr/>
          <p:nvPr/>
        </p:nvSpPr>
        <p:spPr>
          <a:xfrm>
            <a:off x="548640" y="1965960"/>
            <a:ext cx="2587752" cy="2743201"/>
          </a:xfrm>
          <a:prstGeom prst="roundRect">
            <a:avLst>
              <a:gd name="adj" fmla="val 424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num"/>
          <p:cNvSpPr/>
          <p:nvPr/>
        </p:nvSpPr>
        <p:spPr>
          <a:xfrm>
            <a:off x="804672" y="2240279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4" name="Text 6"/>
          <p:cNvSpPr txBox="1"/>
          <p:nvPr/>
        </p:nvSpPr>
        <p:spPr>
          <a:xfrm>
            <a:off x="804672" y="2390139"/>
            <a:ext cx="50292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5" name="Text 7"/>
          <p:cNvSpPr txBox="1"/>
          <p:nvPr/>
        </p:nvSpPr>
        <p:spPr>
          <a:xfrm>
            <a:off x="804672" y="2880360"/>
            <a:ext cx="2130552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새 기기 리허설</a:t>
            </a:r>
          </a:p>
        </p:txBody>
      </p:sp>
      <p:sp>
        <p:nvSpPr>
          <p:cNvPr id="746" name="Text 8"/>
          <p:cNvSpPr txBox="1"/>
          <p:nvPr/>
        </p:nvSpPr>
        <p:spPr>
          <a:xfrm>
            <a:off x="804672" y="3566159"/>
            <a:ext cx="2130552" cy="34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오늘 이 안내를 새 맥처럼 처음부터 따라 해 보고 고친다</a:t>
            </a:r>
          </a:p>
        </p:txBody>
      </p:sp>
      <p:sp>
        <p:nvSpPr>
          <p:cNvPr id="747" name="Text 9"/>
          <p:cNvSpPr txBox="1"/>
          <p:nvPr/>
        </p:nvSpPr>
        <p:spPr>
          <a:xfrm>
            <a:off x="804672" y="4354906"/>
            <a:ext cx="2130552" cy="15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Claude · 45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748" name="next-card"/>
          <p:cNvSpPr/>
          <p:nvPr/>
        </p:nvSpPr>
        <p:spPr>
          <a:xfrm>
            <a:off x="3383279" y="1965960"/>
            <a:ext cx="2587753" cy="2743201"/>
          </a:xfrm>
          <a:prstGeom prst="roundRect">
            <a:avLst>
              <a:gd name="adj" fmla="val 4240"/>
            </a:avLst>
          </a:prstGeom>
          <a:solidFill>
            <a:schemeClr val="accent5">
              <a:alpha val="9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9" name="num"/>
          <p:cNvSpPr/>
          <p:nvPr/>
        </p:nvSpPr>
        <p:spPr>
          <a:xfrm>
            <a:off x="3639311" y="2240279"/>
            <a:ext cx="502921" cy="50292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0" name="Text 12"/>
          <p:cNvSpPr txBox="1"/>
          <p:nvPr/>
        </p:nvSpPr>
        <p:spPr>
          <a:xfrm>
            <a:off x="3639311" y="2390139"/>
            <a:ext cx="50292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51" name="Text 13"/>
          <p:cNvSpPr txBox="1"/>
          <p:nvPr/>
        </p:nvSpPr>
        <p:spPr>
          <a:xfrm>
            <a:off x="3639311" y="2880360"/>
            <a:ext cx="213055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일정 </a:t>
            </a:r>
            <a:r>
              <a:t>·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테스트 페이지</a:t>
            </a:r>
          </a:p>
        </p:txBody>
      </p:sp>
      <p:sp>
        <p:nvSpPr>
          <p:cNvPr id="752" name="Text 14"/>
          <p:cNvSpPr txBox="1"/>
          <p:nvPr/>
        </p:nvSpPr>
        <p:spPr>
          <a:xfrm>
            <a:off x="3639311" y="3566159"/>
            <a:ext cx="2130553" cy="339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6E6E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Pretendard Regular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두 분 일정과 각자의 연습용 페이지 정하기</a:t>
            </a:r>
          </a:p>
        </p:txBody>
      </p:sp>
      <p:sp>
        <p:nvSpPr>
          <p:cNvPr id="753" name="Text 15"/>
          <p:cNvSpPr txBox="1"/>
          <p:nvPr/>
        </p:nvSpPr>
        <p:spPr>
          <a:xfrm>
            <a:off x="3639311" y="4358639"/>
            <a:ext cx="213055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강현이</a:t>
            </a:r>
          </a:p>
        </p:txBody>
      </p:sp>
      <p:sp>
        <p:nvSpPr>
          <p:cNvPr id="754" name="next-card"/>
          <p:cNvSpPr/>
          <p:nvPr/>
        </p:nvSpPr>
        <p:spPr>
          <a:xfrm>
            <a:off x="6217920" y="1965960"/>
            <a:ext cx="2587753" cy="2743201"/>
          </a:xfrm>
          <a:prstGeom prst="roundRect">
            <a:avLst>
              <a:gd name="adj" fmla="val 424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num"/>
          <p:cNvSpPr/>
          <p:nvPr/>
        </p:nvSpPr>
        <p:spPr>
          <a:xfrm>
            <a:off x="6473952" y="2240279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6" name="Text 18"/>
          <p:cNvSpPr txBox="1"/>
          <p:nvPr/>
        </p:nvSpPr>
        <p:spPr>
          <a:xfrm>
            <a:off x="6473952" y="2390139"/>
            <a:ext cx="50292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57" name="Text 19"/>
          <p:cNvSpPr txBox="1"/>
          <p:nvPr/>
        </p:nvSpPr>
        <p:spPr>
          <a:xfrm>
            <a:off x="6473952" y="2880360"/>
            <a:ext cx="213055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볼트 공유 팀원 셋업</a:t>
            </a:r>
          </a:p>
        </p:txBody>
      </p:sp>
      <p:sp>
        <p:nvSpPr>
          <p:cNvPr id="758" name="Text 20"/>
          <p:cNvSpPr txBox="1"/>
          <p:nvPr/>
        </p:nvSpPr>
        <p:spPr>
          <a:xfrm>
            <a:off x="6473952" y="3566159"/>
            <a:ext cx="213055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t>STEP 1~9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점검표 ✅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수용 테스트</a:t>
            </a:r>
          </a:p>
        </p:txBody>
      </p:sp>
      <p:sp>
        <p:nvSpPr>
          <p:cNvPr id="759" name="Text 21"/>
          <p:cNvSpPr txBox="1"/>
          <p:nvPr/>
        </p:nvSpPr>
        <p:spPr>
          <a:xfrm>
            <a:off x="6473952" y="4354193"/>
            <a:ext cx="2130553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팀원 </a:t>
            </a:r>
            <a:r>
              <a:t>+ Claude · 30~45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760" name="next-card"/>
          <p:cNvSpPr/>
          <p:nvPr/>
        </p:nvSpPr>
        <p:spPr>
          <a:xfrm>
            <a:off x="9052559" y="1965960"/>
            <a:ext cx="2587753" cy="2743201"/>
          </a:xfrm>
          <a:prstGeom prst="roundRect">
            <a:avLst>
              <a:gd name="adj" fmla="val 4240"/>
            </a:avLst>
          </a:prstGeom>
          <a:solidFill>
            <a:srgbClr val="F5F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num"/>
          <p:cNvSpPr/>
          <p:nvPr/>
        </p:nvSpPr>
        <p:spPr>
          <a:xfrm>
            <a:off x="9308592" y="2240279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Text 24"/>
          <p:cNvSpPr txBox="1"/>
          <p:nvPr/>
        </p:nvSpPr>
        <p:spPr>
          <a:xfrm>
            <a:off x="9308592" y="2390139"/>
            <a:ext cx="50292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chemeClr val="accent2">
                    <a:hueOff val="-15247060"/>
                    <a:satOff val="-68000"/>
                    <a:lumOff val="4901"/>
                  </a:schemeClr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3" name="Text 25"/>
          <p:cNvSpPr txBox="1"/>
          <p:nvPr/>
        </p:nvSpPr>
        <p:spPr>
          <a:xfrm>
            <a:off x="9308592" y="2880360"/>
            <a:ext cx="213055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t>GitHub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공유 팀원 셋업</a:t>
            </a:r>
          </a:p>
        </p:txBody>
      </p:sp>
      <p:sp>
        <p:nvSpPr>
          <p:cNvPr id="764" name="Text 26"/>
          <p:cNvSpPr txBox="1"/>
          <p:nvPr/>
        </p:nvSpPr>
        <p:spPr>
          <a:xfrm>
            <a:off x="9308592" y="3566159"/>
            <a:ext cx="213055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같은 기준 통과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🎯</a:t>
            </a:r>
          </a:p>
        </p:txBody>
      </p:sp>
      <p:sp>
        <p:nvSpPr>
          <p:cNvPr id="765" name="Text 27"/>
          <p:cNvSpPr txBox="1"/>
          <p:nvPr/>
        </p:nvSpPr>
        <p:spPr>
          <a:xfrm>
            <a:off x="9308592" y="4354193"/>
            <a:ext cx="2130553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chemeClr val="accent1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팀원 </a:t>
            </a:r>
            <a:r>
              <a:t>+ Claude · 45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분</a:t>
            </a:r>
          </a:p>
        </p:txBody>
      </p:sp>
      <p:sp>
        <p:nvSpPr>
          <p:cNvPr id="766" name="box-red"/>
          <p:cNvSpPr/>
          <p:nvPr/>
        </p:nvSpPr>
        <p:spPr>
          <a:xfrm>
            <a:off x="548640" y="4983479"/>
            <a:ext cx="11091672" cy="1097281"/>
          </a:xfrm>
          <a:prstGeom prst="roundRect">
            <a:avLst>
              <a:gd name="adj" fmla="val 8333"/>
            </a:avLst>
          </a:prstGeom>
          <a:solidFill>
            <a:schemeClr val="accent5">
              <a:alpha val="10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7" name="box-text"/>
          <p:cNvSpPr txBox="1"/>
          <p:nvPr/>
        </p:nvSpPr>
        <p:spPr>
          <a:xfrm>
            <a:off x="749808" y="5207822"/>
            <a:ext cx="10689336" cy="454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chemeClr val="accent5"/>
                </a:solidFill>
                <a:latin typeface="Pretendard Bold"/>
                <a:ea typeface="Pretendard Bold"/>
                <a:cs typeface="Pretendard Bold"/>
                <a:sym typeface="Pretendard Bold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결정이 필요합니다</a:t>
            </a:r>
          </a:p>
          <a:p>
            <a:pPr>
              <a:spcBef>
                <a:spcPts val="200"/>
              </a:spcBef>
              <a:defRPr sz="13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팀원 두 분의 셋업 일정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그리고 각자 쓸 전용 테스트 페이지 주소</a:t>
            </a:r>
            <a:r>
              <a:t>(cdbd.in/editor/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숫자</a:t>
            </a:r>
            <a:r>
              <a:t>).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공용 계정이라 사람마다 하나씩 필요합니다</a:t>
            </a:r>
            <a:r>
              <a:t>.</a:t>
            </a:r>
          </a:p>
        </p:txBody>
      </p:sp>
      <p:sp>
        <p:nvSpPr>
          <p:cNvPr id="768" name="Slide Number Placeholder 0"/>
          <p:cNvSpPr txBox="1"/>
          <p:nvPr>
            <p:ph type="sldNum" sz="quarter" idx="4294967295"/>
          </p:nvPr>
        </p:nvSpPr>
        <p:spPr>
          <a:xfrm>
            <a:off x="11400998" y="6355079"/>
            <a:ext cx="239314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DBD Brand">
  <a:themeElements>
    <a:clrScheme name="CDBD Brand">
      <a:dk1>
        <a:srgbClr val="1D1D1F"/>
      </a:dk1>
      <a:lt1>
        <a:srgbClr val="FFFFFF"/>
      </a:lt1>
      <a:dk2>
        <a:srgbClr val="A7A7A7"/>
      </a:dk2>
      <a:lt2>
        <a:srgbClr val="535353"/>
      </a:lt2>
      <a:accent1>
        <a:srgbClr val="6C4CFF"/>
      </a:accent1>
      <a:accent2>
        <a:srgbClr val="EEEAFB"/>
      </a:accent2>
      <a:accent3>
        <a:srgbClr val="1F8A4C"/>
      </a:accent3>
      <a:accent4>
        <a:srgbClr val="D9890F"/>
      </a:accent4>
      <a:accent5>
        <a:srgbClr val="C62F3A"/>
      </a:accent5>
      <a:accent6>
        <a:srgbClr val="9B7DFF"/>
      </a:accent6>
      <a:hlink>
        <a:srgbClr val="0000FF"/>
      </a:hlink>
      <a:folHlink>
        <a:srgbClr val="FF00FF"/>
      </a:folHlink>
    </a:clrScheme>
    <a:fontScheme name="CDBD Brand">
      <a:majorFont>
        <a:latin typeface="Pretendard Regular"/>
        <a:ea typeface="Pretendard Regular"/>
        <a:cs typeface="Pretendard Regular"/>
      </a:majorFont>
      <a:minorFont>
        <a:latin typeface="Helvetica"/>
        <a:ea typeface="Helvetica"/>
        <a:cs typeface="Helvetica"/>
      </a:minorFont>
    </a:fontScheme>
    <a:fmtScheme name="CDBD Bra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hueOff val="-15247060"/>
            <a:satOff val="-68000"/>
            <a:lumOff val="4901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F"/>
            </a:solidFill>
            <a:effectLst/>
            <a:uFillTx/>
            <a:latin typeface="+mj-lt"/>
            <a:ea typeface="+mj-ea"/>
            <a:cs typeface="+mj-cs"/>
            <a:sym typeface="Pretendar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F"/>
            </a:solidFill>
            <a:effectLst/>
            <a:uFillTx/>
            <a:latin typeface="+mj-lt"/>
            <a:ea typeface="+mj-ea"/>
            <a:cs typeface="+mj-cs"/>
            <a:sym typeface="Pretendar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DBD Brand">
  <a:themeElements>
    <a:clrScheme name="CDBD Brand">
      <a:dk1>
        <a:srgbClr val="1D1D1F"/>
      </a:dk1>
      <a:lt1>
        <a:srgbClr val="1F1F02"/>
      </a:lt1>
      <a:dk2>
        <a:srgbClr val="A7A7A7"/>
      </a:dk2>
      <a:lt2>
        <a:srgbClr val="535353"/>
      </a:lt2>
      <a:accent1>
        <a:srgbClr val="6C4CFF"/>
      </a:accent1>
      <a:accent2>
        <a:srgbClr val="EEEAFB"/>
      </a:accent2>
      <a:accent3>
        <a:srgbClr val="1F8A4C"/>
      </a:accent3>
      <a:accent4>
        <a:srgbClr val="D9890F"/>
      </a:accent4>
      <a:accent5>
        <a:srgbClr val="C62F3A"/>
      </a:accent5>
      <a:accent6>
        <a:srgbClr val="9B7DFF"/>
      </a:accent6>
      <a:hlink>
        <a:srgbClr val="0000FF"/>
      </a:hlink>
      <a:folHlink>
        <a:srgbClr val="FF00FF"/>
      </a:folHlink>
    </a:clrScheme>
    <a:fontScheme name="CDBD Brand">
      <a:majorFont>
        <a:latin typeface="Pretendard Regular"/>
        <a:ea typeface="Pretendard Regular"/>
        <a:cs typeface="Pretendard Regular"/>
      </a:majorFont>
      <a:minorFont>
        <a:latin typeface="Helvetica"/>
        <a:ea typeface="Helvetica"/>
        <a:cs typeface="Helvetica"/>
      </a:minorFont>
    </a:fontScheme>
    <a:fmtScheme name="CDBD Bra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hueOff val="-15247060"/>
            <a:satOff val="-68000"/>
            <a:lumOff val="4901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F"/>
            </a:solidFill>
            <a:effectLst/>
            <a:uFillTx/>
            <a:latin typeface="+mj-lt"/>
            <a:ea typeface="+mj-ea"/>
            <a:cs typeface="+mj-cs"/>
            <a:sym typeface="Pretendar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F"/>
            </a:solidFill>
            <a:effectLst/>
            <a:uFillTx/>
            <a:latin typeface="+mj-lt"/>
            <a:ea typeface="+mj-ea"/>
            <a:cs typeface="+mj-cs"/>
            <a:sym typeface="Pretendar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