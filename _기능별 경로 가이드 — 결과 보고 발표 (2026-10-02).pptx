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cb23af8e-1540-41ed-a4fe-25553090aa0c}">
          <p14:sldIdLst>
            <p14:sldId id="256"/>
          </p14:sldIdLst>
        </p14:section>
        <p14:section name="목차" id="{d176cc4a-6602-6e5f-c14a-eb62c870a6c0}">
          <p14:sldIdLst>
            <p14:sldId id="257"/>
          </p14:sldIdLst>
        </p14:section>
        <p14:section name="결과 보고" id="{024c14a7-f9f2-ceab-4c9a-06d7220e20d9}">
          <p14:sldIdLst>
            <p14:sldId id="258"/>
            <p14:sldId id="259"/>
            <p14:sldId id="260"/>
          </p14:sldIdLst>
        </p14:section>
        <p14:section name="팀원 셋업" id="{a8ff1df3-7f32-44aa-c0bc-0bd89eab2d2f}">
          <p14:sldIdLst>
            <p14:sldId id="261"/>
            <p14:sldId id="262"/>
            <p14:sldId id="263"/>
            <p14:sldId id="264"/>
            <p14:sldId id="265"/>
            <p14:sldId id="266"/>
            <p14:sldId id="267"/>
            <p14:sldId id="268"/>
            <p14:sldId id="269"/>
            <p14:sldId id="270"/>
            <p14:sldId id="271"/>
            <p14:sldId id="272"/>
          </p14:sldIdLst>
        </p14:section>
        <p14:section name="막혔을 때" id="{00c38464-d16b-7838-55d7-b0f8b6457e67}">
          <p14:sldIdLst>
            <p14:sldId id="273"/>
          </p14:sldIdLst>
        </p14:section>
        <p14:section name="운영 규칙" id="{a0429616-9b7e-00ad-646c-7b7586e5b4f4}">
          <p14:sldIdLst>
            <p14:sldId id="274"/>
          </p14:sldIdLst>
        </p14:section>
        <p14:section name="다음 순서" id="{e509d221-d22c-9839-0d4f-edcd2ff56dab}">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두 부분입니다. 앞부분은 짧게 결과 보고, 뒷부분은 팀원분들이 자기 맥에서 직접 셋업하는 방법을 한 단계씩 설명합니다. 오른쪽처럼 8단계 중 7단계가 끝났고, 마지막 단계가 바로 팀원 셋업입니다.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1부 결과 보고는 세 장으로 짧게, 2부 셋업은 단계마다 한 장씩 자세히 준비했습니다.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 네 개만 기억하시면 됩니다. 8단계 중 7단계 완료. Claude가 제대로 아는지 확인하는 질문 23개를 전부 통과했고, 셋업 점검 28개 항목도 전부 통과했습니다. 남은 건 두 분의 셋업입니다.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달라진 점 네 가지입니다. 첫째, 기능을 물으면 실제 화면을 녹화해서 확인한 기능 사전을 찾아보고 답합니다. 둘째, 애매할 때만 묻고 분명하면 바로 답하며, 우리가 잘못 알고 있으면 첫 문장에서 바로잡아 줍니다. 셋째, 에디터를 Claude가 직접 조작합니다. 넷째, 새 맥 세팅은 스크립트와 점검표로 끝납니다. 이게 오늘 2부입니다.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남은 건 세 가지입니다. 리허설, 팀원 일정과 연습용 페이지 정하기, 그리고 두 분 셋업입니다. 세부 할 일은 28개 중 21개 완료, 제품팀 결함 전달문 한 건은 보류했습니다. 오른쪽 아래는 알아 두실 점입니다. Claude는 기능을 외우지 않고 사전을 찾아보기 때문에, 사전에서 아직 확인 안 된 것은 모른다고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시작 전에 두 가지만 준비하시면 됩니다. 왼쪽 준비물 네 가지를 담당자에게 받으시고, 오른쪽 터미널 쓰는 법만 알면 됩니다. 명령어 뜻을 이해할 필요는 없고, 복사해서 붙여넣고 엔터만 누르면 됩니다. 한 가지 주의, 다른 사람의 credentials.json 파일은 절대 받지 마세요. 서로 로그인이 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어디서부터 시작하는지는 한 가지로 갈립니다. 이 맥에 볼트 여섯 개가 이미 있느냐입니다. 없으면 왼쪽 A, 온보딩 문서 2장과 3장을 먼저 하고 STEP 1로 넘어옵니다. GitHub 계정은 같아도 SSH 키는 맥마다 새로 만들어야 합니다. 이미 볼트를 쓰고 있는 맥이면 오른쪽 B, 위치를 확인하고 최신으로 받은 뒤 바로 STEP 1부터 하면 됩니다. 이때 허브를 먼저 받아야 동기화 스크립트가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지도입니다. 설치 세 단계, 연결 두 단계, 확인 네 단계입니다. 처음 저장소를 받으시는 분은 그 전에 온보딩 문서 3장, SSH 키 만들고 저장소 받고 옵시디언에서 여는 과정을 먼저 하시면 됩니다. 이제부터 한 장에 한 단계씩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단계는 Claude Code 설치입니다. 옵시디언 안의 Claude가 이 프로그램을 씁니다. 터미널을 열고 첫 줄을 붙여넣어 설치한 뒤, claude라고 입력하면 브라우저에서 로그인 창이 뜹니다. 로그인하고 터미널로 돌아와 /exit를 입력하면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Claudian, 옵시디언 안의 Claude 창입니다. 허브 볼트와 서비스 볼트에는 이미 있어서, 명령 한 번으로 나머지 네 볼트에 복사합니다. 옵시디언을 껐다 켜고, 볼트마다 커뮤니티 플러그인에서 Claudian이 켜져 있는지, 사용자 설정 불러오기가 켜져 있는지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번째는 gstack, Claude가 에디터를 조작할 때 쓰는 브라우저입니다. 먼저 Bun이라는 설치 도구가 필요하고, 새로 깔았다면 터미널을 새로 열어야 합니다. 그다음 gstack을 받아 설치하고, 마지막 줄로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번째는 셋업 스크립트입니다. 한 줄이면 필요한 연결이 전부 됩니다. 처음 실행하면 cdbd.env 견본을 만들었다는 노란 경고가 나오는데 정상입니다. 다음 단계에서 그 파일을 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번째는 cdbd.env 채우기입니다. 첫 줄로 파일을 열고, 등호 뒤에 받은 값을 띄어쓰기 없이 붙여 씁니다. 저장하고 셋업을 한 번 더 돌리면 확인 필요 0이 나와야 합니다. 다시 강조하지만 credentials.json은 복사하지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번째는 폴더 신뢰 승인입니다. 볼트마다 Claude를 한 번 켜서 이 폴더를 믿겠다고 승인하는 것입니다. 여섯 줄을 하나씩 붙여넣고, 질문이 나오면 Yes proceed에서 엔터, 그리고 /exit입니다.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번째는 Figma 연결입니다. 터미널이 아니라 브라우저에서 합니다. claude.ai 설정의 커넥터에서 Figma를 연결하면 되고, 계정 단위라 한 번만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번째는 점검표입니다. 한 줄이면 28개 항목을 확인합니다. 마지막 줄에 ✅ 28, ❌ 0이 나오면 셋업이 끝난 것입니다. 빨간 표시가 있으면 그 줄에 적힌 안내대로 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아홉 번째는 확인 질문입니다. 이 질문은 일부러 틀린 전제를 담고 있습니다. Claude가 아니요로 시작해서 빈칸으로 나온다고 바로잡으면, 팀 규칙과 기능 사전이 제대로 실린 것입니다. 오늘 이 맥에서도 이렇게 답하는 것을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막혔을 때는 점검표를 보시면 됩니다. 빨간 표시마다 이유와 할 일이 정해져 있고, 대부분은 해당 단계를 한 번 더 하면 풀립니다. 그래도 안 되면 담당자에게 화면을 보내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규칙은 세 가지입니다. 돈이 드는 일은 먼저 묻는다, 연습은 내 테스트 페이지에서만, 로그인 파일은 각자. Claude도 이 규칙대로 움직입니다.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순서입니다. 먼저 오늘 안내를 새 맥처럼 따라 하는 리허설로 문서를 다듬고, 두 분 일정과 연습용 페이지를 정한 뒤 한 분씩 셋업합니다. 두 분 맥에서 확인 질문을 모두 통과하면 목표 도달입니다. 여기서 결정이 필요한 건 일정과 테스트 페이지입니다.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355080"/>
            <a:ext cx="3657600" cy="274320"/>
          </a:xfrm>
          <a:prstGeom prst="rect">
            <a:avLst/>
          </a:prstGeom>
          <a:noFill/>
          <a:ln/>
        </p:spPr>
        <p:txBody>
          <a:bodyPr wrap="square" rtlCol="0" anchor="ctr"/>
          <a:lstStyle/>
          <a:p>
            <a:pPr indent="0" marL="0">
              <a:buNone/>
            </a:pPr>
            <a:r>
              <a:rPr lang="en-US" sz="900" spc="100" kern="0" dirty="0">
                <a:solidFill>
                  <a:schemeClr val="tx2"/>
                </a:solidFill>
              </a:rPr>
              <a:t>CDBD  ·  HOME.CDBD.IN</a:t>
            </a:r>
            <a:endParaRPr lang="en-US" sz="900" dirty="0"/>
          </a:p>
        </p:txBody>
      </p:sp>
      <p:sp>
        <p:nvSpPr>
          <p:cNvPr id="3" name="Text 1"/>
          <p:cNvSpPr/>
          <p:nvPr>
            <p:ph idx="101" type="body" hasCustomPrompt="1"/>
          </p:nvPr>
        </p:nvSpPr>
        <p:spPr>
          <a:xfrm>
            <a:off x="548640" y="384048"/>
            <a:ext cx="6400800" cy="292608"/>
          </a:xfrm>
          <a:prstGeom prst="rect">
            <a:avLst/>
          </a:prstGeom>
          <a:noFill/>
          <a:ln/>
        </p:spPr>
        <p:txBody>
          <a:bodyPr wrap="square" rtlCol="0"/>
          <a:lstStyle>
            <a:lvl1pPr algn="l" indent="0" marL="0">
              <a:buNone/>
              <a:defRPr lang="en-US" sz="1100" b="1" dirty="0">
                <a:solidFill>
                  <a:schemeClr val="accent1"/>
                </a:solidFill>
              </a:defRPr>
            </a:lvl1pPr>
          </a:lstStyle>
          <a:p>
            <a:pPr algn="l" indent="0" marL="0">
              <a:buNone/>
            </a:pPr>
            <a:endParaRPr lang="en-US" sz="1100" dirty="0"/>
          </a:p>
        </p:txBody>
      </p:sp>
      <p:sp>
        <p:nvSpPr>
          <p:cNvPr id="4" name="Text 1"/>
          <p:cNvSpPr/>
          <p:nvPr>
            <p:ph idx="102" type="body" hasCustomPrompt="1"/>
          </p:nvPr>
        </p:nvSpPr>
        <p:spPr>
          <a:xfrm>
            <a:off x="7068312" y="384048"/>
            <a:ext cx="4572000" cy="292608"/>
          </a:xfrm>
          <a:prstGeom prst="rect">
            <a:avLst/>
          </a:prstGeom>
          <a:noFill/>
          <a:ln/>
        </p:spPr>
        <p:txBody>
          <a:bodyPr wrap="square" rtlCol="0"/>
          <a:lstStyle>
            <a:lvl1pPr algn="r" indent="0" marL="0">
              <a:buNone/>
              <a:defRPr lang="en-US" sz="1000" dirty="0">
                <a:solidFill>
                  <a:schemeClr val="tx2"/>
                </a:solidFill>
              </a:defRPr>
            </a:lvl1pPr>
          </a:lstStyle>
          <a:p>
            <a:pPr algn="r" indent="0" marL="0">
              <a:buNone/>
            </a:pPr>
            <a:endParaRPr lang="en-US" sz="1000" dirty="0"/>
          </a:p>
        </p:txBody>
      </p:sp>
      <p:sp>
        <p:nvSpPr>
          <p:cNvPr id="5" name="Text 1"/>
          <p:cNvSpPr/>
          <p:nvPr>
            <p:ph idx="103" type="title" hasCustomPrompt="1"/>
          </p:nvPr>
        </p:nvSpPr>
        <p:spPr>
          <a:xfrm>
            <a:off x="548640" y="676656"/>
            <a:ext cx="11091672" cy="658368"/>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6" name="Text 1"/>
          <p:cNvSpPr/>
          <p:nvPr>
            <p:ph idx="104" type="body" hasCustomPrompt="1"/>
          </p:nvPr>
        </p:nvSpPr>
        <p:spPr>
          <a:xfrm>
            <a:off x="548640" y="1335024"/>
            <a:ext cx="11091672" cy="420624"/>
          </a:xfrm>
          <a:prstGeom prst="rect">
            <a:avLst/>
          </a:prstGeom>
          <a:noFill/>
          <a:ln/>
        </p:spPr>
        <p:txBody>
          <a:bodyPr wrap="square" rtlCol="0"/>
          <a:lstStyle>
            <a:lvl1pPr algn="l" indent="0" marL="0">
              <a:buNone/>
              <a:defRPr lang="en-US" sz="1400" dirty="0">
                <a:solidFill>
                  <a:schemeClr val="tx2"/>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5852160" cy="1737360"/>
          </a:xfrm>
          <a:prstGeom prst="rect">
            <a:avLst/>
          </a:prstGeom>
          <a:noFill/>
          <a:ln/>
        </p:spPr>
        <p:txBody>
          <a:bodyPr wrap="square" rtlCol="0"/>
          <a:lstStyle>
            <a:lvl1pPr algn="l" indent="0" marL="0">
              <a:buNone/>
              <a:defRPr lang="en-US" sz="4600" b="1" dirty="0">
                <a:solidFill>
                  <a:schemeClr val="tx1"/>
                </a:solidFill>
              </a:defRPr>
            </a:lvl1pPr>
          </a:lstStyle>
          <a:p>
            <a:pPr algn="l" indent="0" marL="0">
              <a:buNone/>
            </a:pPr>
            <a:endParaRPr lang="en-US" sz="4600" dirty="0"/>
          </a:p>
        </p:txBody>
      </p:sp>
      <p:sp>
        <p:nvSpPr>
          <p:cNvPr id="3" name="Text 0"/>
          <p:cNvSpPr/>
          <p:nvPr>
            <p:ph idx="101" type="body" hasCustomPrompt="1"/>
          </p:nvPr>
        </p:nvSpPr>
        <p:spPr>
          <a:xfrm>
            <a:off x="548640" y="3703320"/>
            <a:ext cx="576072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rand-pill"/>
          <p:cNvSpPr/>
          <p:nvPr/>
        </p:nvSpPr>
        <p:spPr>
          <a:xfrm>
            <a:off x="548640" y="502920"/>
            <a:ext cx="868680" cy="347472"/>
          </a:xfrm>
          <a:prstGeom prst="roundRect">
            <a:avLst>
              <a:gd name="adj" fmla="val 50000"/>
            </a:avLst>
          </a:prstGeom>
          <a:solidFill>
            <a:schemeClr val="bg1"/>
          </a:solidFill>
          <a:ln w="15875">
            <a:solidFill>
              <a:schemeClr val="tx1"/>
            </a:solidFill>
            <a:prstDash val="solid"/>
          </a:ln>
        </p:spPr>
      </p:sp>
      <p:sp>
        <p:nvSpPr>
          <p:cNvPr id="3" name="Text 1"/>
          <p:cNvSpPr txBox="1"/>
          <p:nvPr/>
        </p:nvSpPr>
        <p:spPr>
          <a:xfrm>
            <a:off x="548640" y="502920"/>
            <a:ext cx="868680" cy="347472"/>
          </a:xfrm>
          <a:prstGeom prst="rect">
            <a:avLst/>
          </a:prstGeom>
          <a:noFill/>
          <a:ln/>
        </p:spPr>
        <p:txBody>
          <a:bodyPr wrap="square" lIns="0" tIns="0" rIns="0" bIns="0" rtlCol="0" anchor="ctr"/>
          <a:lstStyle/>
          <a:p>
            <a:pPr algn="ctr" indent="0" marL="0">
              <a:buNone/>
            </a:pPr>
            <a:r>
              <a:rPr lang="en-US" sz="1100" b="1" spc="200" kern="0" dirty="0">
                <a:solidFill>
                  <a:schemeClr val="tx1"/>
                </a:solidFill>
              </a:rPr>
              <a:t>CDBD</a:t>
            </a:r>
            <a:endParaRPr lang="en-US" sz="1100" dirty="0"/>
          </a:p>
        </p:txBody>
      </p:sp>
      <p:sp>
        <p:nvSpPr>
          <p:cNvPr id="4" name="Text 0"/>
          <p:cNvSpPr/>
          <p:nvPr>
            <p:ph idx="100" type="title" hasCustomPrompt="1"/>
          </p:nvPr>
        </p:nvSpPr>
        <p:spPr>
          <a:xfrm>
            <a:off x="548640" y="1828800"/>
            <a:ext cx="5852160" cy="1737360"/>
          </a:xfrm>
          <a:prstGeom prst="rect">
            <a:avLst/>
          </a:prstGeom>
          <a:noFill/>
          <a:ln/>
        </p:spPr>
        <p:txBody>
          <a:bodyPr wrap="square" lIns="0" tIns="0" rIns="0" bIns="0" rtlCol="0" anchor="t"/>
          <a:lstStyle/>
          <a:p>
            <a:pPr algn="l" indent="0" marL="0">
              <a:buNone/>
            </a:pPr>
            <a:r>
              <a:rPr lang="en-US" sz="4600" b="1" dirty="0">
                <a:solidFill>
                  <a:schemeClr val="tx1"/>
                </a:solidFill>
              </a:rPr>
              <a:t>CdBd 기능별</a:t>
            </a:r>
            <a:endParaRPr lang="en-US" sz="4600" dirty="0"/>
          </a:p>
          <a:p>
            <a:pPr algn="l" indent="0" marL="0">
              <a:buNone/>
            </a:pPr>
            <a:r>
              <a:rPr lang="en-US" sz="4600" b="1" dirty="0">
                <a:solidFill>
                  <a:schemeClr val="tx1"/>
                </a:solidFill>
              </a:rPr>
              <a:t>경로 가이드</a:t>
            </a:r>
            <a:endParaRPr lang="en-US" sz="4600" dirty="0"/>
          </a:p>
        </p:txBody>
      </p:sp>
      <p:sp>
        <p:nvSpPr>
          <p:cNvPr id="5" name="Text 0"/>
          <p:cNvSpPr/>
          <p:nvPr>
            <p:ph idx="101" type="body" hasCustomPrompt="1"/>
          </p:nvPr>
        </p:nvSpPr>
        <p:spPr>
          <a:xfrm>
            <a:off x="548640" y="3703320"/>
            <a:ext cx="5760720" cy="822960"/>
          </a:xfrm>
          <a:prstGeom prst="rect">
            <a:avLst/>
          </a:prstGeom>
          <a:noFill/>
          <a:ln/>
        </p:spPr>
        <p:txBody>
          <a:bodyPr wrap="square" lIns="0" tIns="0" rIns="0" bIns="0" rtlCol="0" anchor="t"/>
          <a:lstStyle/>
          <a:p>
            <a:pPr algn="l" indent="0" marL="0">
              <a:buNone/>
            </a:pPr>
            <a:r>
              <a:rPr lang="en-US" sz="1600" dirty="0">
                <a:solidFill>
                  <a:schemeClr val="tx2"/>
                </a:solidFill>
              </a:rPr>
              <a:t>결과 보고 + 팀원 셋업 안내</a:t>
            </a:r>
            <a:endParaRPr lang="en-US" sz="1600" dirty="0"/>
          </a:p>
          <a:p>
            <a:pPr algn="l" indent="0" marL="0">
              <a:buNone/>
            </a:pPr>
            <a:r>
              <a:rPr lang="en-US" sz="1600" dirty="0">
                <a:solidFill>
                  <a:schemeClr val="tx2"/>
                </a:solidFill>
              </a:rPr>
              <a:t>어디까지 왔나 · 내 맥에서 어떻게 시작하나</a:t>
            </a:r>
            <a:endParaRPr lang="en-US" sz="1600" dirty="0"/>
          </a:p>
        </p:txBody>
      </p:sp>
      <p:sp>
        <p:nvSpPr>
          <p:cNvPr id="6" name="Text 4"/>
          <p:cNvSpPr txBox="1"/>
          <p:nvPr/>
        </p:nvSpPr>
        <p:spPr>
          <a:xfrm>
            <a:off x="548640" y="6035040"/>
            <a:ext cx="6035040" cy="320040"/>
          </a:xfrm>
          <a:prstGeom prst="rect">
            <a:avLst/>
          </a:prstGeom>
          <a:noFill/>
          <a:ln/>
        </p:spPr>
        <p:txBody>
          <a:bodyPr wrap="square" lIns="0" tIns="0" rIns="0" bIns="0" rtlCol="0" anchor="ctr"/>
          <a:lstStyle/>
          <a:p>
            <a:pPr indent="0" marL="0">
              <a:buNone/>
            </a:pPr>
            <a:r>
              <a:rPr lang="en-US" sz="1000" dirty="0">
                <a:solidFill>
                  <a:schemeClr val="tx2"/>
                </a:solidFill>
              </a:rPr>
              <a:t>기준일 2026-10-02   ·   작성 강현이 · Claude</a:t>
            </a:r>
            <a:endParaRPr lang="en-US" sz="1000" dirty="0"/>
          </a:p>
        </p:txBody>
      </p:sp>
      <p:sp>
        <p:nvSpPr>
          <p:cNvPr id="7" name="progress-panel"/>
          <p:cNvSpPr/>
          <p:nvPr/>
        </p:nvSpPr>
        <p:spPr>
          <a:xfrm>
            <a:off x="6812280" y="502920"/>
            <a:ext cx="4828032" cy="5852160"/>
          </a:xfrm>
          <a:prstGeom prst="roundRect">
            <a:avLst>
              <a:gd name="adj" fmla="val 2273"/>
            </a:avLst>
          </a:prstGeom>
          <a:solidFill>
            <a:schemeClr val="bg2"/>
          </a:solidFill>
          <a:ln/>
        </p:spPr>
      </p:sp>
      <p:sp>
        <p:nvSpPr>
          <p:cNvPr id="8" name="Text 6"/>
          <p:cNvSpPr txBox="1"/>
          <p:nvPr/>
        </p:nvSpPr>
        <p:spPr>
          <a:xfrm>
            <a:off x="7178040" y="822960"/>
            <a:ext cx="4114800" cy="274320"/>
          </a:xfrm>
          <a:prstGeom prst="rect">
            <a:avLst/>
          </a:prstGeom>
          <a:noFill/>
          <a:ln/>
        </p:spPr>
        <p:txBody>
          <a:bodyPr wrap="square" lIns="0" tIns="0" rIns="0" bIns="0" rtlCol="0" anchor="ctr"/>
          <a:lstStyle/>
          <a:p>
            <a:pPr indent="0" marL="0">
              <a:buNone/>
            </a:pPr>
            <a:r>
              <a:rPr lang="en-US" sz="1100" b="1" dirty="0">
                <a:solidFill>
                  <a:schemeClr val="accent1"/>
                </a:solidFill>
              </a:rPr>
              <a:t>현재 위치</a:t>
            </a:r>
            <a:endParaRPr lang="en-US" sz="1100" dirty="0"/>
          </a:p>
        </p:txBody>
      </p:sp>
      <p:sp>
        <p:nvSpPr>
          <p:cNvPr id="9" name="Text 7"/>
          <p:cNvSpPr txBox="1"/>
          <p:nvPr/>
        </p:nvSpPr>
        <p:spPr>
          <a:xfrm>
            <a:off x="7178040" y="1097280"/>
            <a:ext cx="4206240" cy="868680"/>
          </a:xfrm>
          <a:prstGeom prst="rect">
            <a:avLst/>
          </a:prstGeom>
          <a:noFill/>
          <a:ln/>
        </p:spPr>
        <p:txBody>
          <a:bodyPr wrap="square" lIns="0" tIns="0" rIns="0" bIns="0" rtlCol="0" anchor="ctr"/>
          <a:lstStyle/>
          <a:p>
            <a:pPr indent="0" marL="0">
              <a:buNone/>
            </a:pPr>
            <a:r>
              <a:rPr lang="en-US" sz="5400" b="1" dirty="0">
                <a:solidFill>
                  <a:schemeClr val="tx1"/>
                </a:solidFill>
              </a:rPr>
              <a:t>7</a:t>
            </a:r>
            <a:pPr indent="0" marL="0">
              <a:buNone/>
            </a:pPr>
            <a:r>
              <a:rPr lang="en-US" sz="1800" b="1" dirty="0">
                <a:solidFill>
                  <a:schemeClr val="tx2"/>
                </a:solidFill>
              </a:rPr>
              <a:t> / 8 단계 완료</a:t>
            </a:r>
            <a:endParaRPr lang="en-US" sz="5400" dirty="0"/>
          </a:p>
        </p:txBody>
      </p:sp>
      <p:sp>
        <p:nvSpPr>
          <p:cNvPr id="10" name="step-dot"/>
          <p:cNvSpPr/>
          <p:nvPr/>
        </p:nvSpPr>
        <p:spPr>
          <a:xfrm>
            <a:off x="7223760" y="2258568"/>
            <a:ext cx="274320" cy="274320"/>
          </a:xfrm>
          <a:prstGeom prst="ellipse">
            <a:avLst/>
          </a:prstGeom>
          <a:solidFill>
            <a:schemeClr val="accent1"/>
          </a:solidFill>
          <a:ln w="19050">
            <a:solidFill>
              <a:schemeClr val="accent1"/>
            </a:solidFill>
            <a:prstDash val="solid"/>
          </a:ln>
        </p:spPr>
      </p:sp>
      <p:sp>
        <p:nvSpPr>
          <p:cNvPr id="11" name="step-link"/>
          <p:cNvSpPr/>
          <p:nvPr/>
        </p:nvSpPr>
        <p:spPr>
          <a:xfrm>
            <a:off x="7360920" y="2532888"/>
            <a:ext cx="0" cy="210312"/>
          </a:xfrm>
          <a:prstGeom prst="line">
            <a:avLst/>
          </a:prstGeom>
          <a:noFill/>
          <a:ln w="15875">
            <a:solidFill>
              <a:schemeClr val="accent1"/>
            </a:solidFill>
            <a:prstDash val="solid"/>
          </a:ln>
        </p:spPr>
      </p:sp>
      <p:sp>
        <p:nvSpPr>
          <p:cNvPr id="12" name="Text 10"/>
          <p:cNvSpPr txBox="1"/>
          <p:nvPr/>
        </p:nvSpPr>
        <p:spPr>
          <a:xfrm>
            <a:off x="7635240" y="2194560"/>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0  </a:t>
            </a:r>
            <a:pPr indent="0" marL="0">
              <a:buNone/>
            </a:pPr>
            <a:r>
              <a:rPr lang="en-US" sz="1200" dirty="0">
                <a:solidFill>
                  <a:schemeClr val="tx2"/>
                </a:solidFill>
              </a:rPr>
              <a:t>정의 확정</a:t>
            </a:r>
            <a:endParaRPr lang="en-US" sz="1200" dirty="0"/>
          </a:p>
        </p:txBody>
      </p:sp>
      <p:sp>
        <p:nvSpPr>
          <p:cNvPr id="13" name="step-dot"/>
          <p:cNvSpPr/>
          <p:nvPr/>
        </p:nvSpPr>
        <p:spPr>
          <a:xfrm>
            <a:off x="7223760" y="2743200"/>
            <a:ext cx="274320" cy="274320"/>
          </a:xfrm>
          <a:prstGeom prst="ellipse">
            <a:avLst/>
          </a:prstGeom>
          <a:solidFill>
            <a:schemeClr val="accent1"/>
          </a:solidFill>
          <a:ln w="19050">
            <a:solidFill>
              <a:schemeClr val="accent1"/>
            </a:solidFill>
            <a:prstDash val="solid"/>
          </a:ln>
        </p:spPr>
      </p:sp>
      <p:sp>
        <p:nvSpPr>
          <p:cNvPr id="14" name="step-link"/>
          <p:cNvSpPr/>
          <p:nvPr/>
        </p:nvSpPr>
        <p:spPr>
          <a:xfrm>
            <a:off x="7360920" y="3017520"/>
            <a:ext cx="0" cy="210312"/>
          </a:xfrm>
          <a:prstGeom prst="line">
            <a:avLst/>
          </a:prstGeom>
          <a:noFill/>
          <a:ln w="15875">
            <a:solidFill>
              <a:schemeClr val="accent1"/>
            </a:solidFill>
            <a:prstDash val="solid"/>
          </a:ln>
        </p:spPr>
      </p:sp>
      <p:sp>
        <p:nvSpPr>
          <p:cNvPr id="15" name="Text 13"/>
          <p:cNvSpPr txBox="1"/>
          <p:nvPr/>
        </p:nvSpPr>
        <p:spPr>
          <a:xfrm>
            <a:off x="7635240" y="2679192"/>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1  </a:t>
            </a:r>
            <a:pPr indent="0" marL="0">
              <a:buNone/>
            </a:pPr>
            <a:r>
              <a:rPr lang="en-US" sz="1200" dirty="0">
                <a:solidFill>
                  <a:schemeClr val="tx2"/>
                </a:solidFill>
              </a:rPr>
              <a:t>분류표</a:t>
            </a:r>
            <a:endParaRPr lang="en-US" sz="1200" dirty="0"/>
          </a:p>
        </p:txBody>
      </p:sp>
      <p:sp>
        <p:nvSpPr>
          <p:cNvPr id="16" name="step-dot"/>
          <p:cNvSpPr/>
          <p:nvPr/>
        </p:nvSpPr>
        <p:spPr>
          <a:xfrm>
            <a:off x="7223760" y="3227832"/>
            <a:ext cx="274320" cy="274320"/>
          </a:xfrm>
          <a:prstGeom prst="ellipse">
            <a:avLst/>
          </a:prstGeom>
          <a:solidFill>
            <a:schemeClr val="accent1"/>
          </a:solidFill>
          <a:ln w="19050">
            <a:solidFill>
              <a:schemeClr val="accent1"/>
            </a:solidFill>
            <a:prstDash val="solid"/>
          </a:ln>
        </p:spPr>
      </p:sp>
      <p:sp>
        <p:nvSpPr>
          <p:cNvPr id="17" name="step-link"/>
          <p:cNvSpPr/>
          <p:nvPr/>
        </p:nvSpPr>
        <p:spPr>
          <a:xfrm>
            <a:off x="7360920" y="3502152"/>
            <a:ext cx="0" cy="210312"/>
          </a:xfrm>
          <a:prstGeom prst="line">
            <a:avLst/>
          </a:prstGeom>
          <a:noFill/>
          <a:ln w="15875">
            <a:solidFill>
              <a:schemeClr val="accent1"/>
            </a:solidFill>
            <a:prstDash val="solid"/>
          </a:ln>
        </p:spPr>
      </p:sp>
      <p:sp>
        <p:nvSpPr>
          <p:cNvPr id="18" name="Text 16"/>
          <p:cNvSpPr txBox="1"/>
          <p:nvPr/>
        </p:nvSpPr>
        <p:spPr>
          <a:xfrm>
            <a:off x="7635240" y="3163824"/>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2  </a:t>
            </a:r>
            <a:pPr indent="0" marL="0">
              <a:buNone/>
            </a:pPr>
            <a:r>
              <a:rPr lang="en-US" sz="1200" dirty="0">
                <a:solidFill>
                  <a:schemeClr val="tx2"/>
                </a:solidFill>
              </a:rPr>
              <a:t>경로 가이드 작성</a:t>
            </a:r>
            <a:endParaRPr lang="en-US" sz="1200" dirty="0"/>
          </a:p>
        </p:txBody>
      </p:sp>
      <p:sp>
        <p:nvSpPr>
          <p:cNvPr id="19" name="step-dot"/>
          <p:cNvSpPr/>
          <p:nvPr/>
        </p:nvSpPr>
        <p:spPr>
          <a:xfrm>
            <a:off x="7223760" y="3712464"/>
            <a:ext cx="274320" cy="274320"/>
          </a:xfrm>
          <a:prstGeom prst="ellipse">
            <a:avLst/>
          </a:prstGeom>
          <a:solidFill>
            <a:schemeClr val="accent1"/>
          </a:solidFill>
          <a:ln w="19050">
            <a:solidFill>
              <a:schemeClr val="accent1"/>
            </a:solidFill>
            <a:prstDash val="solid"/>
          </a:ln>
        </p:spPr>
      </p:sp>
      <p:sp>
        <p:nvSpPr>
          <p:cNvPr id="20" name="step-link"/>
          <p:cNvSpPr/>
          <p:nvPr/>
        </p:nvSpPr>
        <p:spPr>
          <a:xfrm>
            <a:off x="7360920" y="3986784"/>
            <a:ext cx="0" cy="210312"/>
          </a:xfrm>
          <a:prstGeom prst="line">
            <a:avLst/>
          </a:prstGeom>
          <a:noFill/>
          <a:ln w="15875">
            <a:solidFill>
              <a:schemeClr val="accent1"/>
            </a:solidFill>
            <a:prstDash val="solid"/>
          </a:ln>
        </p:spPr>
      </p:sp>
      <p:sp>
        <p:nvSpPr>
          <p:cNvPr id="21" name="Text 19"/>
          <p:cNvSpPr txBox="1"/>
          <p:nvPr/>
        </p:nvSpPr>
        <p:spPr>
          <a:xfrm>
            <a:off x="7635240" y="3648456"/>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3  </a:t>
            </a:r>
            <a:pPr indent="0" marL="0">
              <a:buNone/>
            </a:pPr>
            <a:r>
              <a:rPr lang="en-US" sz="1200" dirty="0">
                <a:solidFill>
                  <a:schemeClr val="tx2"/>
                </a:solidFill>
              </a:rPr>
              <a:t>연결 (@import)</a:t>
            </a:r>
            <a:endParaRPr lang="en-US" sz="1200" dirty="0"/>
          </a:p>
        </p:txBody>
      </p:sp>
      <p:sp>
        <p:nvSpPr>
          <p:cNvPr id="22" name="step-dot"/>
          <p:cNvSpPr/>
          <p:nvPr/>
        </p:nvSpPr>
        <p:spPr>
          <a:xfrm>
            <a:off x="7223760" y="4197096"/>
            <a:ext cx="274320" cy="274320"/>
          </a:xfrm>
          <a:prstGeom prst="ellipse">
            <a:avLst/>
          </a:prstGeom>
          <a:solidFill>
            <a:schemeClr val="accent1"/>
          </a:solidFill>
          <a:ln w="19050">
            <a:solidFill>
              <a:schemeClr val="accent1"/>
            </a:solidFill>
            <a:prstDash val="solid"/>
          </a:ln>
        </p:spPr>
      </p:sp>
      <p:sp>
        <p:nvSpPr>
          <p:cNvPr id="23" name="step-link"/>
          <p:cNvSpPr/>
          <p:nvPr/>
        </p:nvSpPr>
        <p:spPr>
          <a:xfrm>
            <a:off x="7360920" y="4471416"/>
            <a:ext cx="0" cy="210312"/>
          </a:xfrm>
          <a:prstGeom prst="line">
            <a:avLst/>
          </a:prstGeom>
          <a:noFill/>
          <a:ln w="15875">
            <a:solidFill>
              <a:schemeClr val="accent1"/>
            </a:solidFill>
            <a:prstDash val="solid"/>
          </a:ln>
        </p:spPr>
      </p:sp>
      <p:sp>
        <p:nvSpPr>
          <p:cNvPr id="24" name="Text 22"/>
          <p:cNvSpPr txBox="1"/>
          <p:nvPr/>
        </p:nvSpPr>
        <p:spPr>
          <a:xfrm>
            <a:off x="7635240" y="4133088"/>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4  </a:t>
            </a:r>
            <a:pPr indent="0" marL="0">
              <a:buNone/>
            </a:pPr>
            <a:r>
              <a:rPr lang="en-US" sz="1200" dirty="0">
                <a:solidFill>
                  <a:schemeClr val="tx2"/>
                </a:solidFill>
              </a:rPr>
              <a:t>영상 녹화 · 판독</a:t>
            </a:r>
            <a:endParaRPr lang="en-US" sz="1200" dirty="0"/>
          </a:p>
        </p:txBody>
      </p:sp>
      <p:sp>
        <p:nvSpPr>
          <p:cNvPr id="25" name="step-dot"/>
          <p:cNvSpPr/>
          <p:nvPr/>
        </p:nvSpPr>
        <p:spPr>
          <a:xfrm>
            <a:off x="7223760" y="4681728"/>
            <a:ext cx="274320" cy="274320"/>
          </a:xfrm>
          <a:prstGeom prst="ellipse">
            <a:avLst/>
          </a:prstGeom>
          <a:solidFill>
            <a:schemeClr val="accent1"/>
          </a:solidFill>
          <a:ln w="19050">
            <a:solidFill>
              <a:schemeClr val="accent1"/>
            </a:solidFill>
            <a:prstDash val="solid"/>
          </a:ln>
        </p:spPr>
      </p:sp>
      <p:sp>
        <p:nvSpPr>
          <p:cNvPr id="26" name="step-link"/>
          <p:cNvSpPr/>
          <p:nvPr/>
        </p:nvSpPr>
        <p:spPr>
          <a:xfrm>
            <a:off x="7360920" y="4956048"/>
            <a:ext cx="0" cy="210312"/>
          </a:xfrm>
          <a:prstGeom prst="line">
            <a:avLst/>
          </a:prstGeom>
          <a:noFill/>
          <a:ln w="15875">
            <a:solidFill>
              <a:schemeClr val="accent1"/>
            </a:solidFill>
            <a:prstDash val="solid"/>
          </a:ln>
        </p:spPr>
      </p:sp>
      <p:sp>
        <p:nvSpPr>
          <p:cNvPr id="27" name="Text 25"/>
          <p:cNvSpPr txBox="1"/>
          <p:nvPr/>
        </p:nvSpPr>
        <p:spPr>
          <a:xfrm>
            <a:off x="7635240" y="4617720"/>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5  </a:t>
            </a:r>
            <a:pPr indent="0" marL="0">
              <a:buNone/>
            </a:pPr>
            <a:r>
              <a:rPr lang="en-US" sz="1200" dirty="0">
                <a:solidFill>
                  <a:schemeClr val="tx2"/>
                </a:solidFill>
              </a:rPr>
              <a:t>확산 · 검증</a:t>
            </a:r>
            <a:endParaRPr lang="en-US" sz="1200" dirty="0"/>
          </a:p>
        </p:txBody>
      </p:sp>
      <p:sp>
        <p:nvSpPr>
          <p:cNvPr id="28" name="step-dot"/>
          <p:cNvSpPr/>
          <p:nvPr/>
        </p:nvSpPr>
        <p:spPr>
          <a:xfrm>
            <a:off x="7223760" y="5166360"/>
            <a:ext cx="274320" cy="274320"/>
          </a:xfrm>
          <a:prstGeom prst="ellipse">
            <a:avLst/>
          </a:prstGeom>
          <a:solidFill>
            <a:schemeClr val="accent1"/>
          </a:solidFill>
          <a:ln w="19050">
            <a:solidFill>
              <a:schemeClr val="accent1"/>
            </a:solidFill>
            <a:prstDash val="solid"/>
          </a:ln>
        </p:spPr>
      </p:sp>
      <p:sp>
        <p:nvSpPr>
          <p:cNvPr id="29" name="step-link"/>
          <p:cNvSpPr/>
          <p:nvPr/>
        </p:nvSpPr>
        <p:spPr>
          <a:xfrm>
            <a:off x="7360920" y="5440680"/>
            <a:ext cx="0" cy="210312"/>
          </a:xfrm>
          <a:prstGeom prst="line">
            <a:avLst/>
          </a:prstGeom>
          <a:noFill/>
          <a:ln w="15875">
            <a:solidFill>
              <a:schemeClr val="accent1"/>
            </a:solidFill>
            <a:prstDash val="solid"/>
          </a:ln>
        </p:spPr>
      </p:sp>
      <p:sp>
        <p:nvSpPr>
          <p:cNvPr id="30" name="Text 28"/>
          <p:cNvSpPr txBox="1"/>
          <p:nvPr/>
        </p:nvSpPr>
        <p:spPr>
          <a:xfrm>
            <a:off x="7635240" y="5102352"/>
            <a:ext cx="2743200" cy="402336"/>
          </a:xfrm>
          <a:prstGeom prst="rect">
            <a:avLst/>
          </a:prstGeom>
          <a:noFill/>
          <a:ln/>
        </p:spPr>
        <p:txBody>
          <a:bodyPr wrap="square" lIns="0" tIns="0" rIns="0" bIns="0" rtlCol="0" anchor="ctr"/>
          <a:lstStyle/>
          <a:p>
            <a:pPr indent="0" marL="0">
              <a:buNone/>
            </a:pPr>
            <a:r>
              <a:rPr lang="en-US" sz="1200" b="1" dirty="0">
                <a:solidFill>
                  <a:schemeClr val="tx1"/>
                </a:solidFill>
              </a:rPr>
              <a:t>STEP 6  </a:t>
            </a:r>
            <a:pPr indent="0" marL="0">
              <a:buNone/>
            </a:pPr>
            <a:r>
              <a:rPr lang="en-US" sz="1200" dirty="0">
                <a:solidFill>
                  <a:schemeClr val="tx2"/>
                </a:solidFill>
              </a:rPr>
              <a:t>스킬 승격</a:t>
            </a:r>
            <a:endParaRPr lang="en-US" sz="1200" dirty="0"/>
          </a:p>
        </p:txBody>
      </p:sp>
      <p:sp>
        <p:nvSpPr>
          <p:cNvPr id="31" name="step-dot"/>
          <p:cNvSpPr/>
          <p:nvPr/>
        </p:nvSpPr>
        <p:spPr>
          <a:xfrm>
            <a:off x="7223760" y="5650992"/>
            <a:ext cx="274320" cy="274320"/>
          </a:xfrm>
          <a:prstGeom prst="ellipse">
            <a:avLst/>
          </a:prstGeom>
          <a:solidFill>
            <a:schemeClr val="bg1"/>
          </a:solidFill>
          <a:ln w="19050">
            <a:solidFill>
              <a:schemeClr val="accent4"/>
            </a:solidFill>
            <a:prstDash val="solid"/>
          </a:ln>
        </p:spPr>
      </p:sp>
      <p:sp>
        <p:nvSpPr>
          <p:cNvPr id="32" name="Text 30"/>
          <p:cNvSpPr txBox="1"/>
          <p:nvPr/>
        </p:nvSpPr>
        <p:spPr>
          <a:xfrm>
            <a:off x="7635240" y="5586984"/>
            <a:ext cx="2743200" cy="402336"/>
          </a:xfrm>
          <a:prstGeom prst="rect">
            <a:avLst/>
          </a:prstGeom>
          <a:noFill/>
          <a:ln/>
        </p:spPr>
        <p:txBody>
          <a:bodyPr wrap="square" lIns="0" tIns="0" rIns="0" bIns="0" rtlCol="0" anchor="ctr"/>
          <a:lstStyle/>
          <a:p>
            <a:pPr indent="0" marL="0">
              <a:buNone/>
            </a:pPr>
            <a:r>
              <a:rPr lang="en-US" sz="1200" b="1" dirty="0">
                <a:solidFill>
                  <a:schemeClr val="accent4"/>
                </a:solidFill>
              </a:rPr>
              <a:t>STEP 7  </a:t>
            </a:r>
            <a:pPr indent="0" marL="0">
              <a:buNone/>
            </a:pPr>
            <a:r>
              <a:rPr lang="en-US" sz="1200" dirty="0">
                <a:solidFill>
                  <a:schemeClr val="tx2"/>
                </a:solidFill>
              </a:rPr>
              <a:t>배포 · 팀원 셋업</a:t>
            </a:r>
            <a:endParaRPr lang="en-US" sz="1200" dirty="0"/>
          </a:p>
        </p:txBody>
      </p:sp>
      <p:sp>
        <p:nvSpPr>
          <p:cNvPr id="33" name="pill-bg"/>
          <p:cNvSpPr/>
          <p:nvPr/>
        </p:nvSpPr>
        <p:spPr>
          <a:xfrm>
            <a:off x="10469880" y="5660136"/>
            <a:ext cx="868680" cy="256032"/>
          </a:xfrm>
          <a:prstGeom prst="roundRect">
            <a:avLst>
              <a:gd name="adj" fmla="val 50000"/>
            </a:avLst>
          </a:prstGeom>
          <a:solidFill>
            <a:schemeClr val="accent4">
              <a:alpha val="14000"/>
            </a:schemeClr>
          </a:solidFill>
          <a:ln/>
        </p:spPr>
      </p:sp>
      <p:sp>
        <p:nvSpPr>
          <p:cNvPr id="34" name="pill"/>
          <p:cNvSpPr txBox="1"/>
          <p:nvPr/>
        </p:nvSpPr>
        <p:spPr>
          <a:xfrm>
            <a:off x="10469880" y="5660136"/>
            <a:ext cx="868680" cy="256032"/>
          </a:xfrm>
          <a:prstGeom prst="rect">
            <a:avLst/>
          </a:prstGeom>
          <a:noFill/>
          <a:ln/>
        </p:spPr>
        <p:txBody>
          <a:bodyPr wrap="square" lIns="0" tIns="0" rIns="0" bIns="0" rtlCol="0" anchor="ctr"/>
          <a:lstStyle/>
          <a:p>
            <a:pPr algn="ctr" indent="0" marL="0">
              <a:buNone/>
            </a:pPr>
            <a:r>
              <a:rPr lang="en-US" sz="950" b="1" dirty="0">
                <a:solidFill>
                  <a:schemeClr val="accent4"/>
                </a:solidFill>
              </a:rPr>
              <a:t>지금 여기</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CONTENTS</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목차</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목차</a:t>
            </a:r>
            <a:endParaRPr lang="en-US" sz="3000" dirty="0"/>
          </a:p>
        </p:txBody>
      </p:sp>
      <p:sp>
        <p:nvSpPr>
          <p:cNvPr id="5" name="toc-card"/>
          <p:cNvSpPr/>
          <p:nvPr/>
        </p:nvSpPr>
        <p:spPr>
          <a:xfrm>
            <a:off x="548640" y="1783080"/>
            <a:ext cx="5413248" cy="4343400"/>
          </a:xfrm>
          <a:prstGeom prst="roundRect">
            <a:avLst>
              <a:gd name="adj" fmla="val 2526"/>
            </a:avLst>
          </a:prstGeom>
          <a:solidFill>
            <a:schemeClr val="bg2"/>
          </a:solidFill>
          <a:ln/>
        </p:spPr>
      </p:sp>
      <p:sp>
        <p:nvSpPr>
          <p:cNvPr id="6" name="Text 4"/>
          <p:cNvSpPr txBox="1"/>
          <p:nvPr/>
        </p:nvSpPr>
        <p:spPr>
          <a:xfrm>
            <a:off x="868680" y="2011680"/>
            <a:ext cx="1828800" cy="274320"/>
          </a:xfrm>
          <a:prstGeom prst="rect">
            <a:avLst/>
          </a:prstGeom>
          <a:noFill/>
          <a:ln/>
        </p:spPr>
        <p:txBody>
          <a:bodyPr wrap="square" lIns="0" tIns="0" rIns="0" bIns="0" rtlCol="0" anchor="ctr"/>
          <a:lstStyle/>
          <a:p>
            <a:pPr indent="0" marL="0">
              <a:buNone/>
            </a:pPr>
            <a:r>
              <a:rPr lang="en-US" sz="1100" b="1" dirty="0">
                <a:solidFill>
                  <a:schemeClr val="accent1"/>
                </a:solidFill>
              </a:rPr>
              <a:t>PART 1</a:t>
            </a:r>
            <a:endParaRPr lang="en-US" sz="1100" dirty="0"/>
          </a:p>
        </p:txBody>
      </p:sp>
      <p:sp>
        <p:nvSpPr>
          <p:cNvPr id="7" name="Text 5"/>
          <p:cNvSpPr txBox="1"/>
          <p:nvPr/>
        </p:nvSpPr>
        <p:spPr>
          <a:xfrm>
            <a:off x="868680" y="2286000"/>
            <a:ext cx="4773168" cy="502920"/>
          </a:xfrm>
          <a:prstGeom prst="rect">
            <a:avLst/>
          </a:prstGeom>
          <a:noFill/>
          <a:ln/>
        </p:spPr>
        <p:txBody>
          <a:bodyPr wrap="square" lIns="0" tIns="0" rIns="0" bIns="0" rtlCol="0" anchor="ctr"/>
          <a:lstStyle/>
          <a:p>
            <a:pPr indent="0" marL="0">
              <a:buNone/>
            </a:pPr>
            <a:r>
              <a:rPr lang="en-US" sz="2200" b="1" dirty="0">
                <a:solidFill>
                  <a:schemeClr val="tx1"/>
                </a:solidFill>
              </a:rPr>
              <a:t>결과 보고</a:t>
            </a:r>
            <a:endParaRPr lang="en-US" sz="2200" dirty="0"/>
          </a:p>
        </p:txBody>
      </p:sp>
      <p:sp>
        <p:nvSpPr>
          <p:cNvPr id="8" name="Text 6"/>
          <p:cNvSpPr txBox="1"/>
          <p:nvPr/>
        </p:nvSpPr>
        <p:spPr>
          <a:xfrm>
            <a:off x="868680" y="30632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01</a:t>
            </a:r>
            <a:endParaRPr lang="en-US" sz="1500" dirty="0"/>
          </a:p>
        </p:txBody>
      </p:sp>
      <p:sp>
        <p:nvSpPr>
          <p:cNvPr id="9" name="Text 7"/>
          <p:cNvSpPr txBox="1"/>
          <p:nvPr/>
        </p:nvSpPr>
        <p:spPr>
          <a:xfrm>
            <a:off x="1463040" y="3063240"/>
            <a:ext cx="4224528" cy="457200"/>
          </a:xfrm>
          <a:prstGeom prst="rect">
            <a:avLst/>
          </a:prstGeom>
          <a:noFill/>
          <a:ln/>
        </p:spPr>
        <p:txBody>
          <a:bodyPr wrap="square" lIns="0" tIns="0" rIns="0" bIns="0" rtlCol="0" anchor="ctr"/>
          <a:lstStyle/>
          <a:p>
            <a:pPr indent="0" marL="0">
              <a:buNone/>
            </a:pPr>
            <a:r>
              <a:rPr lang="en-US" sz="1500" dirty="0">
                <a:solidFill>
                  <a:schemeClr val="tx1"/>
                </a:solidFill>
              </a:rPr>
              <a:t>한눈에 보는 결과</a:t>
            </a:r>
            <a:endParaRPr lang="en-US" sz="1500" dirty="0"/>
          </a:p>
        </p:txBody>
      </p:sp>
      <p:sp>
        <p:nvSpPr>
          <p:cNvPr id="10" name="Text 8"/>
          <p:cNvSpPr txBox="1"/>
          <p:nvPr/>
        </p:nvSpPr>
        <p:spPr>
          <a:xfrm>
            <a:off x="868680" y="37490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02</a:t>
            </a:r>
            <a:endParaRPr lang="en-US" sz="1500" dirty="0"/>
          </a:p>
        </p:txBody>
      </p:sp>
      <p:sp>
        <p:nvSpPr>
          <p:cNvPr id="11" name="Text 9"/>
          <p:cNvSpPr txBox="1"/>
          <p:nvPr/>
        </p:nvSpPr>
        <p:spPr>
          <a:xfrm>
            <a:off x="1463040" y="3749040"/>
            <a:ext cx="4224528" cy="457200"/>
          </a:xfrm>
          <a:prstGeom prst="rect">
            <a:avLst/>
          </a:prstGeom>
          <a:noFill/>
          <a:ln/>
        </p:spPr>
        <p:txBody>
          <a:bodyPr wrap="square" lIns="0" tIns="0" rIns="0" bIns="0" rtlCol="0" anchor="ctr"/>
          <a:lstStyle/>
          <a:p>
            <a:pPr indent="0" marL="0">
              <a:buNone/>
            </a:pPr>
            <a:r>
              <a:rPr lang="en-US" sz="1500" dirty="0">
                <a:solidFill>
                  <a:schemeClr val="tx1"/>
                </a:solidFill>
              </a:rPr>
              <a:t>무엇이 달라졌나</a:t>
            </a:r>
            <a:endParaRPr lang="en-US" sz="1500" dirty="0"/>
          </a:p>
        </p:txBody>
      </p:sp>
      <p:sp>
        <p:nvSpPr>
          <p:cNvPr id="12" name="Text 10"/>
          <p:cNvSpPr txBox="1"/>
          <p:nvPr/>
        </p:nvSpPr>
        <p:spPr>
          <a:xfrm>
            <a:off x="868680" y="44348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03</a:t>
            </a:r>
            <a:endParaRPr lang="en-US" sz="1500" dirty="0"/>
          </a:p>
        </p:txBody>
      </p:sp>
      <p:sp>
        <p:nvSpPr>
          <p:cNvPr id="13" name="Text 11"/>
          <p:cNvSpPr txBox="1"/>
          <p:nvPr/>
        </p:nvSpPr>
        <p:spPr>
          <a:xfrm>
            <a:off x="1463040" y="4434840"/>
            <a:ext cx="4224528" cy="457200"/>
          </a:xfrm>
          <a:prstGeom prst="rect">
            <a:avLst/>
          </a:prstGeom>
          <a:noFill/>
          <a:ln/>
        </p:spPr>
        <p:txBody>
          <a:bodyPr wrap="square" lIns="0" tIns="0" rIns="0" bIns="0" rtlCol="0" anchor="ctr"/>
          <a:lstStyle/>
          <a:p>
            <a:pPr indent="0" marL="0">
              <a:buNone/>
            </a:pPr>
            <a:r>
              <a:rPr lang="en-US" sz="1500" dirty="0">
                <a:solidFill>
                  <a:schemeClr val="tx1"/>
                </a:solidFill>
              </a:rPr>
              <a:t>어디까지 왔나 · 아직 아닌 것</a:t>
            </a:r>
            <a:endParaRPr lang="en-US" sz="1500" dirty="0"/>
          </a:p>
        </p:txBody>
      </p:sp>
      <p:sp>
        <p:nvSpPr>
          <p:cNvPr id="14" name="toc-card"/>
          <p:cNvSpPr/>
          <p:nvPr/>
        </p:nvSpPr>
        <p:spPr>
          <a:xfrm>
            <a:off x="6231636" y="1783080"/>
            <a:ext cx="5413248" cy="4343400"/>
          </a:xfrm>
          <a:prstGeom prst="roundRect">
            <a:avLst>
              <a:gd name="adj" fmla="val 2526"/>
            </a:avLst>
          </a:prstGeom>
          <a:solidFill>
            <a:schemeClr val="bg2"/>
          </a:solidFill>
          <a:ln/>
        </p:spPr>
      </p:sp>
      <p:sp>
        <p:nvSpPr>
          <p:cNvPr id="15" name="Text 13"/>
          <p:cNvSpPr txBox="1"/>
          <p:nvPr/>
        </p:nvSpPr>
        <p:spPr>
          <a:xfrm>
            <a:off x="6551676" y="2011680"/>
            <a:ext cx="1828800" cy="274320"/>
          </a:xfrm>
          <a:prstGeom prst="rect">
            <a:avLst/>
          </a:prstGeom>
          <a:noFill/>
          <a:ln/>
        </p:spPr>
        <p:txBody>
          <a:bodyPr wrap="square" lIns="0" tIns="0" rIns="0" bIns="0" rtlCol="0" anchor="ctr"/>
          <a:lstStyle/>
          <a:p>
            <a:pPr indent="0" marL="0">
              <a:buNone/>
            </a:pPr>
            <a:r>
              <a:rPr lang="en-US" sz="1100" b="1" dirty="0">
                <a:solidFill>
                  <a:schemeClr val="accent1"/>
                </a:solidFill>
              </a:rPr>
              <a:t>PART 2</a:t>
            </a:r>
            <a:endParaRPr lang="en-US" sz="1100" dirty="0"/>
          </a:p>
        </p:txBody>
      </p:sp>
      <p:sp>
        <p:nvSpPr>
          <p:cNvPr id="16" name="Text 14"/>
          <p:cNvSpPr txBox="1"/>
          <p:nvPr/>
        </p:nvSpPr>
        <p:spPr>
          <a:xfrm>
            <a:off x="6551676" y="2286000"/>
            <a:ext cx="4773168" cy="502920"/>
          </a:xfrm>
          <a:prstGeom prst="rect">
            <a:avLst/>
          </a:prstGeom>
          <a:noFill/>
          <a:ln/>
        </p:spPr>
        <p:txBody>
          <a:bodyPr wrap="square" lIns="0" tIns="0" rIns="0" bIns="0" rtlCol="0" anchor="ctr"/>
          <a:lstStyle/>
          <a:p>
            <a:pPr indent="0" marL="0">
              <a:buNone/>
            </a:pPr>
            <a:r>
              <a:rPr lang="en-US" sz="2200" b="1" dirty="0">
                <a:solidFill>
                  <a:schemeClr val="tx1"/>
                </a:solidFill>
              </a:rPr>
              <a:t>팀원 셋업 가이드</a:t>
            </a:r>
            <a:endParaRPr lang="en-US" sz="2200" dirty="0"/>
          </a:p>
        </p:txBody>
      </p:sp>
      <p:sp>
        <p:nvSpPr>
          <p:cNvPr id="17" name="Text 15"/>
          <p:cNvSpPr txBox="1"/>
          <p:nvPr/>
        </p:nvSpPr>
        <p:spPr>
          <a:xfrm>
            <a:off x="6551676" y="30632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04</a:t>
            </a:r>
            <a:endParaRPr lang="en-US" sz="1500" dirty="0"/>
          </a:p>
        </p:txBody>
      </p:sp>
      <p:sp>
        <p:nvSpPr>
          <p:cNvPr id="18" name="Text 16"/>
          <p:cNvSpPr txBox="1"/>
          <p:nvPr/>
        </p:nvSpPr>
        <p:spPr>
          <a:xfrm>
            <a:off x="7146036" y="3063240"/>
            <a:ext cx="4224528" cy="457200"/>
          </a:xfrm>
          <a:prstGeom prst="rect">
            <a:avLst/>
          </a:prstGeom>
          <a:noFill/>
          <a:ln/>
        </p:spPr>
        <p:txBody>
          <a:bodyPr wrap="square" lIns="0" tIns="0" rIns="0" bIns="0" rtlCol="0" anchor="ctr"/>
          <a:lstStyle/>
          <a:p>
            <a:pPr indent="0" marL="0">
              <a:buNone/>
            </a:pPr>
            <a:r>
              <a:rPr lang="en-US" sz="1500" dirty="0">
                <a:solidFill>
                  <a:schemeClr val="tx1"/>
                </a:solidFill>
              </a:rPr>
              <a:t>시작 전에 — 준비물 · 터미널 · 어디서부터</a:t>
            </a:r>
            <a:endParaRPr lang="en-US" sz="1500" dirty="0"/>
          </a:p>
        </p:txBody>
      </p:sp>
      <p:sp>
        <p:nvSpPr>
          <p:cNvPr id="19" name="Text 17"/>
          <p:cNvSpPr txBox="1"/>
          <p:nvPr/>
        </p:nvSpPr>
        <p:spPr>
          <a:xfrm>
            <a:off x="6551676" y="37490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05</a:t>
            </a:r>
            <a:endParaRPr lang="en-US" sz="1500" dirty="0"/>
          </a:p>
        </p:txBody>
      </p:sp>
      <p:sp>
        <p:nvSpPr>
          <p:cNvPr id="20" name="Text 18"/>
          <p:cNvSpPr txBox="1"/>
          <p:nvPr/>
        </p:nvSpPr>
        <p:spPr>
          <a:xfrm>
            <a:off x="7146036" y="3749040"/>
            <a:ext cx="4224528" cy="457200"/>
          </a:xfrm>
          <a:prstGeom prst="rect">
            <a:avLst/>
          </a:prstGeom>
          <a:noFill/>
          <a:ln/>
        </p:spPr>
        <p:txBody>
          <a:bodyPr wrap="square" lIns="0" tIns="0" rIns="0" bIns="0" rtlCol="0" anchor="ctr"/>
          <a:lstStyle/>
          <a:p>
            <a:pPr indent="0" marL="0">
              <a:buNone/>
            </a:pPr>
            <a:r>
              <a:rPr lang="en-US" sz="1500" dirty="0">
                <a:solidFill>
                  <a:schemeClr val="tx1"/>
                </a:solidFill>
              </a:rPr>
              <a:t>STEP 1~9 — 한 장에 한 단계</a:t>
            </a:r>
            <a:endParaRPr lang="en-US" sz="1500" dirty="0"/>
          </a:p>
        </p:txBody>
      </p:sp>
      <p:sp>
        <p:nvSpPr>
          <p:cNvPr id="21" name="Text 19"/>
          <p:cNvSpPr txBox="1"/>
          <p:nvPr/>
        </p:nvSpPr>
        <p:spPr>
          <a:xfrm>
            <a:off x="6551676" y="44348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06</a:t>
            </a:r>
            <a:endParaRPr lang="en-US" sz="1500" dirty="0"/>
          </a:p>
        </p:txBody>
      </p:sp>
      <p:sp>
        <p:nvSpPr>
          <p:cNvPr id="22" name="Text 20"/>
          <p:cNvSpPr txBox="1"/>
          <p:nvPr/>
        </p:nvSpPr>
        <p:spPr>
          <a:xfrm>
            <a:off x="7146036" y="4434840"/>
            <a:ext cx="4224528" cy="457200"/>
          </a:xfrm>
          <a:prstGeom prst="rect">
            <a:avLst/>
          </a:prstGeom>
          <a:noFill/>
          <a:ln/>
        </p:spPr>
        <p:txBody>
          <a:bodyPr wrap="square" lIns="0" tIns="0" rIns="0" bIns="0" rtlCol="0" anchor="ctr"/>
          <a:lstStyle/>
          <a:p>
            <a:pPr indent="0" marL="0">
              <a:buNone/>
            </a:pPr>
            <a:r>
              <a:rPr lang="en-US" sz="1500" dirty="0">
                <a:solidFill>
                  <a:schemeClr val="tx1"/>
                </a:solidFill>
              </a:rPr>
              <a:t>막혔을 때 · 운영 규칙</a:t>
            </a:r>
            <a:endParaRPr lang="en-US" sz="1500" dirty="0"/>
          </a:p>
        </p:txBody>
      </p:sp>
      <p:sp>
        <p:nvSpPr>
          <p:cNvPr id="23" name="Text 21"/>
          <p:cNvSpPr txBox="1"/>
          <p:nvPr/>
        </p:nvSpPr>
        <p:spPr>
          <a:xfrm>
            <a:off x="6551676" y="5120640"/>
            <a:ext cx="548640" cy="457200"/>
          </a:xfrm>
          <a:prstGeom prst="rect">
            <a:avLst/>
          </a:prstGeom>
          <a:noFill/>
          <a:ln/>
        </p:spPr>
        <p:txBody>
          <a:bodyPr wrap="square" lIns="0" tIns="0" rIns="0" bIns="0" rtlCol="0" anchor="ctr"/>
          <a:lstStyle/>
          <a:p>
            <a:pPr indent="0" marL="0">
              <a:buNone/>
            </a:pPr>
            <a:r>
              <a:rPr lang="en-US" sz="1500" b="1" dirty="0">
                <a:solidFill>
                  <a:schemeClr val="accent1"/>
                </a:solidFill>
              </a:rPr>
              <a:t>07</a:t>
            </a:r>
            <a:endParaRPr lang="en-US" sz="1500" dirty="0"/>
          </a:p>
        </p:txBody>
      </p:sp>
      <p:sp>
        <p:nvSpPr>
          <p:cNvPr id="24" name="Text 22"/>
          <p:cNvSpPr txBox="1"/>
          <p:nvPr/>
        </p:nvSpPr>
        <p:spPr>
          <a:xfrm>
            <a:off x="7146036" y="5120640"/>
            <a:ext cx="4224528" cy="457200"/>
          </a:xfrm>
          <a:prstGeom prst="rect">
            <a:avLst/>
          </a:prstGeom>
          <a:noFill/>
          <a:ln/>
        </p:spPr>
        <p:txBody>
          <a:bodyPr wrap="square" lIns="0" tIns="0" rIns="0" bIns="0" rtlCol="0" anchor="ctr"/>
          <a:lstStyle/>
          <a:p>
            <a:pPr indent="0" marL="0">
              <a:buNone/>
            </a:pPr>
            <a:r>
              <a:rPr lang="en-US" sz="1500" dirty="0">
                <a:solidFill>
                  <a:schemeClr val="tx1"/>
                </a:solidFill>
              </a:rPr>
              <a:t>다음 순서</a:t>
            </a:r>
            <a:endParaRPr lang="en-US" sz="1500" dirty="0"/>
          </a:p>
        </p:txBody>
      </p:sp>
      <p:sp>
        <p:nvSpPr>
          <p:cNvPr id="26"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1 · 결과 보고</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01  한눈에</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Claude가 CdBd를 「알고, 직접 하는」 단계까지 왔습니다</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이제 남은 건 팀원분들 맥에 똑같은 환경을 만드는 것 — 오늘 2부에서 그 방법을 설명합니다.</a:t>
            </a:r>
            <a:endParaRPr lang="en-US" sz="1400" dirty="0"/>
          </a:p>
        </p:txBody>
      </p:sp>
      <p:sp>
        <p:nvSpPr>
          <p:cNvPr id="6" name="kpi-card"/>
          <p:cNvSpPr/>
          <p:nvPr/>
        </p:nvSpPr>
        <p:spPr>
          <a:xfrm>
            <a:off x="548640" y="2103120"/>
            <a:ext cx="2560320" cy="3566160"/>
          </a:xfrm>
          <a:prstGeom prst="roundRect">
            <a:avLst>
              <a:gd name="adj" fmla="val 4286"/>
            </a:avLst>
          </a:prstGeom>
          <a:solidFill>
            <a:schemeClr val="bg2"/>
          </a:solidFill>
          <a:ln/>
        </p:spPr>
      </p:sp>
      <p:sp>
        <p:nvSpPr>
          <p:cNvPr id="7" name="Text 5"/>
          <p:cNvSpPr txBox="1"/>
          <p:nvPr/>
        </p:nvSpPr>
        <p:spPr>
          <a:xfrm>
            <a:off x="822960" y="2514600"/>
            <a:ext cx="2103120" cy="1188720"/>
          </a:xfrm>
          <a:prstGeom prst="rect">
            <a:avLst/>
          </a:prstGeom>
          <a:noFill/>
          <a:ln/>
        </p:spPr>
        <p:txBody>
          <a:bodyPr wrap="square" lIns="0" tIns="0" rIns="0" bIns="0" rtlCol="0" anchor="ctr"/>
          <a:lstStyle/>
          <a:p>
            <a:pPr indent="0" marL="0">
              <a:buNone/>
            </a:pPr>
            <a:r>
              <a:rPr lang="en-US" sz="5600" b="1" dirty="0">
                <a:solidFill>
                  <a:schemeClr val="tx1"/>
                </a:solidFill>
              </a:rPr>
              <a:t>7</a:t>
            </a:r>
            <a:pPr indent="0" marL="0">
              <a:buNone/>
            </a:pPr>
            <a:r>
              <a:rPr lang="en-US" sz="1600" b="1" dirty="0">
                <a:solidFill>
                  <a:schemeClr val="tx2"/>
                </a:solidFill>
              </a:rPr>
              <a:t>  / 8 단계</a:t>
            </a:r>
            <a:endParaRPr lang="en-US" sz="5600" dirty="0"/>
          </a:p>
        </p:txBody>
      </p:sp>
      <p:sp>
        <p:nvSpPr>
          <p:cNvPr id="8" name="Text 6"/>
          <p:cNvSpPr txBox="1"/>
          <p:nvPr/>
        </p:nvSpPr>
        <p:spPr>
          <a:xfrm>
            <a:off x="822960" y="3931920"/>
            <a:ext cx="2057400" cy="457200"/>
          </a:xfrm>
          <a:prstGeom prst="rect">
            <a:avLst/>
          </a:prstGeom>
          <a:noFill/>
          <a:ln/>
        </p:spPr>
        <p:txBody>
          <a:bodyPr wrap="square" lIns="0" tIns="0" rIns="0" bIns="0" rtlCol="0" anchor="t"/>
          <a:lstStyle/>
          <a:p>
            <a:pPr indent="0" marL="0">
              <a:buNone/>
            </a:pPr>
            <a:r>
              <a:rPr lang="en-US" sz="1600" b="1" dirty="0">
                <a:solidFill>
                  <a:schemeClr val="tx1"/>
                </a:solidFill>
              </a:rPr>
              <a:t>계획 단계 완료</a:t>
            </a:r>
            <a:endParaRPr lang="en-US" sz="1600" dirty="0"/>
          </a:p>
        </p:txBody>
      </p:sp>
      <p:sp>
        <p:nvSpPr>
          <p:cNvPr id="9" name="Text 7"/>
          <p:cNvSpPr txBox="1"/>
          <p:nvPr/>
        </p:nvSpPr>
        <p:spPr>
          <a:xfrm>
            <a:off x="822960" y="4434840"/>
            <a:ext cx="2057400" cy="822960"/>
          </a:xfrm>
          <a:prstGeom prst="rect">
            <a:avLst/>
          </a:prstGeom>
          <a:noFill/>
          <a:ln/>
        </p:spPr>
        <p:txBody>
          <a:bodyPr wrap="square" lIns="0" tIns="0" rIns="0" bIns="0" rtlCol="0" anchor="t"/>
          <a:lstStyle/>
          <a:p>
            <a:pPr indent="0" marL="0">
              <a:buNone/>
            </a:pPr>
            <a:r>
              <a:rPr lang="en-US" sz="1250" dirty="0">
                <a:solidFill>
                  <a:schemeClr val="tx2"/>
                </a:solidFill>
              </a:rPr>
              <a:t>마지막 단계 = 팀원 셋업</a:t>
            </a:r>
            <a:endParaRPr lang="en-US" sz="1250" dirty="0"/>
          </a:p>
        </p:txBody>
      </p:sp>
      <p:sp>
        <p:nvSpPr>
          <p:cNvPr id="10" name="kpi-card"/>
          <p:cNvSpPr/>
          <p:nvPr/>
        </p:nvSpPr>
        <p:spPr>
          <a:xfrm>
            <a:off x="3392424" y="2103120"/>
            <a:ext cx="2560320" cy="3566160"/>
          </a:xfrm>
          <a:prstGeom prst="roundRect">
            <a:avLst>
              <a:gd name="adj" fmla="val 4286"/>
            </a:avLst>
          </a:prstGeom>
          <a:solidFill>
            <a:schemeClr val="bg2"/>
          </a:solidFill>
          <a:ln/>
        </p:spPr>
      </p:sp>
      <p:sp>
        <p:nvSpPr>
          <p:cNvPr id="11" name="Text 9"/>
          <p:cNvSpPr txBox="1"/>
          <p:nvPr/>
        </p:nvSpPr>
        <p:spPr>
          <a:xfrm>
            <a:off x="3666744" y="2514600"/>
            <a:ext cx="2103120" cy="1188720"/>
          </a:xfrm>
          <a:prstGeom prst="rect">
            <a:avLst/>
          </a:prstGeom>
          <a:noFill/>
          <a:ln/>
        </p:spPr>
        <p:txBody>
          <a:bodyPr wrap="square" lIns="0" tIns="0" rIns="0" bIns="0" rtlCol="0" anchor="ctr"/>
          <a:lstStyle/>
          <a:p>
            <a:pPr indent="0" marL="0">
              <a:buNone/>
            </a:pPr>
            <a:r>
              <a:rPr lang="en-US" sz="5600" b="1" dirty="0">
                <a:solidFill>
                  <a:schemeClr val="tx1"/>
                </a:solidFill>
              </a:rPr>
              <a:t>23</a:t>
            </a:r>
            <a:pPr indent="0" marL="0">
              <a:buNone/>
            </a:pPr>
            <a:r>
              <a:rPr lang="en-US" sz="1600" b="1" dirty="0">
                <a:solidFill>
                  <a:schemeClr val="tx2"/>
                </a:solidFill>
              </a:rPr>
              <a:t>  / 23</a:t>
            </a:r>
            <a:endParaRPr lang="en-US" sz="5600" dirty="0"/>
          </a:p>
        </p:txBody>
      </p:sp>
      <p:sp>
        <p:nvSpPr>
          <p:cNvPr id="12" name="Text 10"/>
          <p:cNvSpPr txBox="1"/>
          <p:nvPr/>
        </p:nvSpPr>
        <p:spPr>
          <a:xfrm>
            <a:off x="3666744" y="3931920"/>
            <a:ext cx="2057400" cy="457200"/>
          </a:xfrm>
          <a:prstGeom prst="rect">
            <a:avLst/>
          </a:prstGeom>
          <a:noFill/>
          <a:ln/>
        </p:spPr>
        <p:txBody>
          <a:bodyPr wrap="square" lIns="0" tIns="0" rIns="0" bIns="0" rtlCol="0" anchor="t"/>
          <a:lstStyle/>
          <a:p>
            <a:pPr indent="0" marL="0">
              <a:buNone/>
            </a:pPr>
            <a:r>
              <a:rPr lang="en-US" sz="1600" b="1" dirty="0">
                <a:solidFill>
                  <a:schemeClr val="tx1"/>
                </a:solidFill>
              </a:rPr>
              <a:t>확인 질문 전부 통과</a:t>
            </a:r>
            <a:endParaRPr lang="en-US" sz="1600" dirty="0"/>
          </a:p>
        </p:txBody>
      </p:sp>
      <p:sp>
        <p:nvSpPr>
          <p:cNvPr id="13" name="Text 11"/>
          <p:cNvSpPr txBox="1"/>
          <p:nvPr/>
        </p:nvSpPr>
        <p:spPr>
          <a:xfrm>
            <a:off x="3666744" y="4434840"/>
            <a:ext cx="2057400" cy="822960"/>
          </a:xfrm>
          <a:prstGeom prst="rect">
            <a:avLst/>
          </a:prstGeom>
          <a:noFill/>
          <a:ln/>
        </p:spPr>
        <p:txBody>
          <a:bodyPr wrap="square" lIns="0" tIns="0" rIns="0" bIns="0" rtlCol="0" anchor="t"/>
          <a:lstStyle/>
          <a:p>
            <a:pPr indent="0" marL="0">
              <a:buNone/>
            </a:pPr>
            <a:r>
              <a:rPr lang="en-US" sz="1250" dirty="0">
                <a:solidFill>
                  <a:schemeClr val="tx2"/>
                </a:solidFill>
              </a:rPr>
              <a:t>「Claude가 제대로 아는가」 자동 채점</a:t>
            </a:r>
            <a:endParaRPr lang="en-US" sz="1250" dirty="0"/>
          </a:p>
        </p:txBody>
      </p:sp>
      <p:sp>
        <p:nvSpPr>
          <p:cNvPr id="14" name="kpi-card"/>
          <p:cNvSpPr/>
          <p:nvPr/>
        </p:nvSpPr>
        <p:spPr>
          <a:xfrm>
            <a:off x="6236208" y="2103120"/>
            <a:ext cx="2560320" cy="3566160"/>
          </a:xfrm>
          <a:prstGeom prst="roundRect">
            <a:avLst>
              <a:gd name="adj" fmla="val 4286"/>
            </a:avLst>
          </a:prstGeom>
          <a:solidFill>
            <a:schemeClr val="bg2"/>
          </a:solidFill>
          <a:ln/>
        </p:spPr>
      </p:sp>
      <p:sp>
        <p:nvSpPr>
          <p:cNvPr id="15" name="Text 13"/>
          <p:cNvSpPr txBox="1"/>
          <p:nvPr/>
        </p:nvSpPr>
        <p:spPr>
          <a:xfrm>
            <a:off x="6510528" y="2514600"/>
            <a:ext cx="2103120" cy="1188720"/>
          </a:xfrm>
          <a:prstGeom prst="rect">
            <a:avLst/>
          </a:prstGeom>
          <a:noFill/>
          <a:ln/>
        </p:spPr>
        <p:txBody>
          <a:bodyPr wrap="square" lIns="0" tIns="0" rIns="0" bIns="0" rtlCol="0" anchor="ctr"/>
          <a:lstStyle/>
          <a:p>
            <a:pPr indent="0" marL="0">
              <a:buNone/>
            </a:pPr>
            <a:r>
              <a:rPr lang="en-US" sz="5600" b="1" dirty="0">
                <a:solidFill>
                  <a:schemeClr val="tx1"/>
                </a:solidFill>
              </a:rPr>
              <a:t>28</a:t>
            </a:r>
            <a:pPr indent="0" marL="0">
              <a:buNone/>
            </a:pPr>
            <a:r>
              <a:rPr lang="en-US" sz="1600" b="1" dirty="0">
                <a:solidFill>
                  <a:schemeClr val="tx2"/>
                </a:solidFill>
              </a:rPr>
              <a:t>  / 28</a:t>
            </a:r>
            <a:endParaRPr lang="en-US" sz="5600" dirty="0"/>
          </a:p>
        </p:txBody>
      </p:sp>
      <p:sp>
        <p:nvSpPr>
          <p:cNvPr id="16" name="Text 14"/>
          <p:cNvSpPr txBox="1"/>
          <p:nvPr/>
        </p:nvSpPr>
        <p:spPr>
          <a:xfrm>
            <a:off x="6510528" y="3931920"/>
            <a:ext cx="2057400" cy="457200"/>
          </a:xfrm>
          <a:prstGeom prst="rect">
            <a:avLst/>
          </a:prstGeom>
          <a:noFill/>
          <a:ln/>
        </p:spPr>
        <p:txBody>
          <a:bodyPr wrap="square" lIns="0" tIns="0" rIns="0" bIns="0" rtlCol="0" anchor="t"/>
          <a:lstStyle/>
          <a:p>
            <a:pPr indent="0" marL="0">
              <a:buNone/>
            </a:pPr>
            <a:r>
              <a:rPr lang="en-US" sz="1600" b="1" dirty="0">
                <a:solidFill>
                  <a:schemeClr val="tx1"/>
                </a:solidFill>
              </a:rPr>
              <a:t>기기 점검 항목 통과</a:t>
            </a:r>
            <a:endParaRPr lang="en-US" sz="1600" dirty="0"/>
          </a:p>
        </p:txBody>
      </p:sp>
      <p:sp>
        <p:nvSpPr>
          <p:cNvPr id="17" name="Text 15"/>
          <p:cNvSpPr txBox="1"/>
          <p:nvPr/>
        </p:nvSpPr>
        <p:spPr>
          <a:xfrm>
            <a:off x="6510528" y="4434840"/>
            <a:ext cx="2057400" cy="822960"/>
          </a:xfrm>
          <a:prstGeom prst="rect">
            <a:avLst/>
          </a:prstGeom>
          <a:noFill/>
          <a:ln/>
        </p:spPr>
        <p:txBody>
          <a:bodyPr wrap="square" lIns="0" tIns="0" rIns="0" bIns="0" rtlCol="0" anchor="t"/>
          <a:lstStyle/>
          <a:p>
            <a:pPr indent="0" marL="0">
              <a:buNone/>
            </a:pPr>
            <a:r>
              <a:rPr lang="en-US" sz="1250" dirty="0">
                <a:solidFill>
                  <a:schemeClr val="tx2"/>
                </a:solidFill>
              </a:rPr>
              <a:t>셋업이 제대로 됐는지 자동 점검</a:t>
            </a:r>
            <a:endParaRPr lang="en-US" sz="1250" dirty="0"/>
          </a:p>
        </p:txBody>
      </p:sp>
      <p:sp>
        <p:nvSpPr>
          <p:cNvPr id="18" name="kpi-card"/>
          <p:cNvSpPr/>
          <p:nvPr/>
        </p:nvSpPr>
        <p:spPr>
          <a:xfrm>
            <a:off x="9079992" y="2103120"/>
            <a:ext cx="2560320" cy="3566160"/>
          </a:xfrm>
          <a:prstGeom prst="roundRect">
            <a:avLst>
              <a:gd name="adj" fmla="val 4286"/>
            </a:avLst>
          </a:prstGeom>
          <a:solidFill>
            <a:schemeClr val="bg2"/>
          </a:solidFill>
          <a:ln/>
        </p:spPr>
      </p:sp>
      <p:sp>
        <p:nvSpPr>
          <p:cNvPr id="19" name="Text 17"/>
          <p:cNvSpPr txBox="1"/>
          <p:nvPr/>
        </p:nvSpPr>
        <p:spPr>
          <a:xfrm>
            <a:off x="9354312" y="2514600"/>
            <a:ext cx="2103120" cy="1188720"/>
          </a:xfrm>
          <a:prstGeom prst="rect">
            <a:avLst/>
          </a:prstGeom>
          <a:noFill/>
          <a:ln/>
        </p:spPr>
        <p:txBody>
          <a:bodyPr wrap="square" lIns="0" tIns="0" rIns="0" bIns="0" rtlCol="0" anchor="ctr"/>
          <a:lstStyle/>
          <a:p>
            <a:pPr indent="0" marL="0">
              <a:buNone/>
            </a:pPr>
            <a:r>
              <a:rPr lang="en-US" sz="5600" b="1" dirty="0">
                <a:solidFill>
                  <a:schemeClr val="accent4"/>
                </a:solidFill>
              </a:rPr>
              <a:t>2</a:t>
            </a:r>
            <a:pPr indent="0" marL="0">
              <a:buNone/>
            </a:pPr>
            <a:r>
              <a:rPr lang="en-US" sz="1600" b="1" dirty="0">
                <a:solidFill>
                  <a:schemeClr val="tx2"/>
                </a:solidFill>
              </a:rPr>
              <a:t>  명</a:t>
            </a:r>
            <a:endParaRPr lang="en-US" sz="5600" dirty="0"/>
          </a:p>
        </p:txBody>
      </p:sp>
      <p:sp>
        <p:nvSpPr>
          <p:cNvPr id="20" name="Text 18"/>
          <p:cNvSpPr txBox="1"/>
          <p:nvPr/>
        </p:nvSpPr>
        <p:spPr>
          <a:xfrm>
            <a:off x="9354312" y="3931920"/>
            <a:ext cx="2057400" cy="457200"/>
          </a:xfrm>
          <a:prstGeom prst="rect">
            <a:avLst/>
          </a:prstGeom>
          <a:noFill/>
          <a:ln/>
        </p:spPr>
        <p:txBody>
          <a:bodyPr wrap="square" lIns="0" tIns="0" rIns="0" bIns="0" rtlCol="0" anchor="t"/>
          <a:lstStyle/>
          <a:p>
            <a:pPr indent="0" marL="0">
              <a:buNone/>
            </a:pPr>
            <a:r>
              <a:rPr lang="en-US" sz="1600" b="1" dirty="0">
                <a:solidFill>
                  <a:schemeClr val="tx1"/>
                </a:solidFill>
              </a:rPr>
              <a:t>셋업만 남은 팀원</a:t>
            </a:r>
            <a:endParaRPr lang="en-US" sz="1600" dirty="0"/>
          </a:p>
        </p:txBody>
      </p:sp>
      <p:sp>
        <p:nvSpPr>
          <p:cNvPr id="21" name="Text 19"/>
          <p:cNvSpPr txBox="1"/>
          <p:nvPr/>
        </p:nvSpPr>
        <p:spPr>
          <a:xfrm>
            <a:off x="9354312" y="4434840"/>
            <a:ext cx="2057400" cy="822960"/>
          </a:xfrm>
          <a:prstGeom prst="rect">
            <a:avLst/>
          </a:prstGeom>
          <a:noFill/>
          <a:ln/>
        </p:spPr>
        <p:txBody>
          <a:bodyPr wrap="square" lIns="0" tIns="0" rIns="0" bIns="0" rtlCol="0" anchor="t"/>
          <a:lstStyle/>
          <a:p>
            <a:pPr indent="0" marL="0">
              <a:buNone/>
            </a:pPr>
            <a:r>
              <a:rPr lang="en-US" sz="1250" dirty="0">
                <a:solidFill>
                  <a:schemeClr val="tx2"/>
                </a:solidFill>
              </a:rPr>
              <a:t>각 30~45분</a:t>
            </a:r>
            <a:endParaRPr lang="en-US" sz="125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1 · 결과 보고</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02  무엇이 달라졌나</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전에는 이랬고, 지금은 이렇습니다</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어려운 말 없이 — 팀원 입장에서 체감되는 변화 네 가지.</a:t>
            </a:r>
            <a:endParaRPr lang="en-US" sz="1400" dirty="0"/>
          </a:p>
        </p:txBody>
      </p:sp>
      <p:sp>
        <p:nvSpPr>
          <p:cNvPr id="6" name="Text 4"/>
          <p:cNvSpPr txBox="1"/>
          <p:nvPr/>
        </p:nvSpPr>
        <p:spPr>
          <a:xfrm>
            <a:off x="3794760" y="1874520"/>
            <a:ext cx="3291840" cy="274320"/>
          </a:xfrm>
          <a:prstGeom prst="rect">
            <a:avLst/>
          </a:prstGeom>
          <a:noFill/>
          <a:ln/>
        </p:spPr>
        <p:txBody>
          <a:bodyPr wrap="square" lIns="0" tIns="0" rIns="0" bIns="0" rtlCol="0" anchor="ctr"/>
          <a:lstStyle/>
          <a:p>
            <a:pPr indent="0" marL="0">
              <a:buNone/>
            </a:pPr>
            <a:r>
              <a:rPr lang="en-US" sz="1200" b="1" dirty="0">
                <a:solidFill>
                  <a:schemeClr val="tx2"/>
                </a:solidFill>
              </a:rPr>
              <a:t>전에는</a:t>
            </a:r>
            <a:endParaRPr lang="en-US" sz="1200" dirty="0"/>
          </a:p>
        </p:txBody>
      </p:sp>
      <p:sp>
        <p:nvSpPr>
          <p:cNvPr id="7" name="Text 5"/>
          <p:cNvSpPr txBox="1"/>
          <p:nvPr/>
        </p:nvSpPr>
        <p:spPr>
          <a:xfrm>
            <a:off x="7452360" y="1874520"/>
            <a:ext cx="4023360" cy="274320"/>
          </a:xfrm>
          <a:prstGeom prst="rect">
            <a:avLst/>
          </a:prstGeom>
          <a:noFill/>
          <a:ln/>
        </p:spPr>
        <p:txBody>
          <a:bodyPr wrap="square" lIns="0" tIns="0" rIns="0" bIns="0" rtlCol="0" anchor="ctr"/>
          <a:lstStyle/>
          <a:p>
            <a:pPr indent="0" marL="0">
              <a:buNone/>
            </a:pPr>
            <a:r>
              <a:rPr lang="en-US" sz="1200" b="1" dirty="0">
                <a:solidFill>
                  <a:schemeClr val="accent1"/>
                </a:solidFill>
              </a:rPr>
              <a:t>지금은</a:t>
            </a:r>
            <a:endParaRPr lang="en-US" sz="1200" dirty="0"/>
          </a:p>
        </p:txBody>
      </p:sp>
      <p:sp>
        <p:nvSpPr>
          <p:cNvPr id="8" name="ba-row"/>
          <p:cNvSpPr/>
          <p:nvPr/>
        </p:nvSpPr>
        <p:spPr>
          <a:xfrm>
            <a:off x="548640" y="2240280"/>
            <a:ext cx="11091672" cy="868680"/>
          </a:xfrm>
          <a:prstGeom prst="roundRect">
            <a:avLst>
              <a:gd name="adj" fmla="val 12632"/>
            </a:avLst>
          </a:prstGeom>
          <a:solidFill>
            <a:schemeClr val="bg2"/>
          </a:solidFill>
          <a:ln/>
        </p:spPr>
      </p:sp>
      <p:sp>
        <p:nvSpPr>
          <p:cNvPr id="9" name="ba-circle"/>
          <p:cNvSpPr/>
          <p:nvPr/>
        </p:nvSpPr>
        <p:spPr>
          <a:xfrm>
            <a:off x="731520" y="2395728"/>
            <a:ext cx="566928" cy="566928"/>
          </a:xfrm>
          <a:prstGeom prst="ellipse">
            <a:avLst/>
          </a:prstGeom>
          <a:solidFill>
            <a:schemeClr val="accent2"/>
          </a:solidFill>
          <a:ln/>
        </p:spPr>
      </p:sp>
      <p:pic>
        <p:nvPicPr>
          <p:cNvPr id="10" name="ba-icon" descr="preencoded.png">    </p:cNvPr>
          <p:cNvPicPr>
            <a:picLocks noChangeAspect="1"/>
          </p:cNvPicPr>
          <p:nvPr/>
        </p:nvPicPr>
        <p:blipFill>
          <a:blip r:embed="rId1"/>
          <a:stretch>
            <a:fillRect/>
          </a:stretch>
        </p:blipFill>
        <p:spPr>
          <a:xfrm>
            <a:off x="873252" y="2537460"/>
            <a:ext cx="283464" cy="283464"/>
          </a:xfrm>
          <a:prstGeom prst="rect">
            <a:avLst/>
          </a:prstGeom>
        </p:spPr>
      </p:pic>
      <p:sp>
        <p:nvSpPr>
          <p:cNvPr id="11" name="Text 8"/>
          <p:cNvSpPr txBox="1"/>
          <p:nvPr/>
        </p:nvSpPr>
        <p:spPr>
          <a:xfrm>
            <a:off x="1463040" y="2240280"/>
            <a:ext cx="2194560" cy="868680"/>
          </a:xfrm>
          <a:prstGeom prst="rect">
            <a:avLst/>
          </a:prstGeom>
          <a:noFill/>
          <a:ln/>
        </p:spPr>
        <p:txBody>
          <a:bodyPr wrap="square" lIns="0" tIns="0" rIns="0" bIns="0" rtlCol="0" anchor="ctr"/>
          <a:lstStyle/>
          <a:p>
            <a:pPr indent="0" marL="0">
              <a:buNone/>
            </a:pPr>
            <a:r>
              <a:rPr lang="en-US" sz="1400" b="1" dirty="0">
                <a:solidFill>
                  <a:schemeClr val="tx1"/>
                </a:solidFill>
              </a:rPr>
              <a:t>CdBd 기능을 물으면</a:t>
            </a:r>
            <a:endParaRPr lang="en-US" sz="1400" dirty="0"/>
          </a:p>
        </p:txBody>
      </p:sp>
      <p:sp>
        <p:nvSpPr>
          <p:cNvPr id="12" name="Text 9"/>
          <p:cNvSpPr txBox="1"/>
          <p:nvPr/>
        </p:nvSpPr>
        <p:spPr>
          <a:xfrm>
            <a:off x="3794760" y="2240280"/>
            <a:ext cx="3291840" cy="868680"/>
          </a:xfrm>
          <a:prstGeom prst="rect">
            <a:avLst/>
          </a:prstGeom>
          <a:noFill/>
          <a:ln/>
        </p:spPr>
        <p:txBody>
          <a:bodyPr wrap="square" lIns="0" tIns="0" rIns="0" bIns="0" rtlCol="0" anchor="ctr"/>
          <a:lstStyle/>
          <a:p>
            <a:pPr indent="0" marL="0">
              <a:buNone/>
            </a:pPr>
            <a:r>
              <a:rPr lang="en-US" sz="1200" dirty="0">
                <a:solidFill>
                  <a:schemeClr val="tx2"/>
                </a:solidFill>
              </a:rPr>
              <a:t>옛 문서나 기억으로 답해서 틀릴 때가 있었다</a:t>
            </a:r>
            <a:endParaRPr lang="en-US" sz="1200" dirty="0"/>
          </a:p>
        </p:txBody>
      </p:sp>
      <p:sp>
        <p:nvSpPr>
          <p:cNvPr id="13" name="Text 10"/>
          <p:cNvSpPr txBox="1"/>
          <p:nvPr/>
        </p:nvSpPr>
        <p:spPr>
          <a:xfrm>
            <a:off x="7086600" y="2240280"/>
            <a:ext cx="365760" cy="86868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14" name="Text 11"/>
          <p:cNvSpPr txBox="1"/>
          <p:nvPr/>
        </p:nvSpPr>
        <p:spPr>
          <a:xfrm>
            <a:off x="7452360" y="2240280"/>
            <a:ext cx="4023360" cy="868680"/>
          </a:xfrm>
          <a:prstGeom prst="rect">
            <a:avLst/>
          </a:prstGeom>
          <a:noFill/>
          <a:ln/>
        </p:spPr>
        <p:txBody>
          <a:bodyPr wrap="square" lIns="0" tIns="0" rIns="0" bIns="0" rtlCol="0" anchor="ctr"/>
          <a:lstStyle/>
          <a:p>
            <a:pPr indent="0" marL="0">
              <a:buNone/>
            </a:pPr>
            <a:r>
              <a:rPr lang="en-US" sz="1250" b="1" dirty="0">
                <a:solidFill>
                  <a:schemeClr val="tx1"/>
                </a:solidFill>
              </a:rPr>
              <a:t>실제 화면을 녹화해 확인한 「기능 사전」을 찾아보고 답한다</a:t>
            </a:r>
            <a:endParaRPr lang="en-US" sz="1250" dirty="0"/>
          </a:p>
        </p:txBody>
      </p:sp>
      <p:sp>
        <p:nvSpPr>
          <p:cNvPr id="15" name="ba-row"/>
          <p:cNvSpPr/>
          <p:nvPr/>
        </p:nvSpPr>
        <p:spPr>
          <a:xfrm>
            <a:off x="548640" y="3236976"/>
            <a:ext cx="11091672" cy="868680"/>
          </a:xfrm>
          <a:prstGeom prst="roundRect">
            <a:avLst>
              <a:gd name="adj" fmla="val 12632"/>
            </a:avLst>
          </a:prstGeom>
          <a:solidFill>
            <a:schemeClr val="bg2"/>
          </a:solidFill>
          <a:ln/>
        </p:spPr>
      </p:sp>
      <p:sp>
        <p:nvSpPr>
          <p:cNvPr id="16" name="ba-circle"/>
          <p:cNvSpPr/>
          <p:nvPr/>
        </p:nvSpPr>
        <p:spPr>
          <a:xfrm>
            <a:off x="731520" y="3392424"/>
            <a:ext cx="566928" cy="566928"/>
          </a:xfrm>
          <a:prstGeom prst="ellipse">
            <a:avLst/>
          </a:prstGeom>
          <a:solidFill>
            <a:schemeClr val="accent2"/>
          </a:solidFill>
          <a:ln/>
        </p:spPr>
      </p:sp>
      <p:pic>
        <p:nvPicPr>
          <p:cNvPr id="17" name="ba-icon" descr="preencoded.png">    </p:cNvPr>
          <p:cNvPicPr>
            <a:picLocks noChangeAspect="1"/>
          </p:cNvPicPr>
          <p:nvPr/>
        </p:nvPicPr>
        <p:blipFill>
          <a:blip r:embed="rId2"/>
          <a:stretch>
            <a:fillRect/>
          </a:stretch>
        </p:blipFill>
        <p:spPr>
          <a:xfrm>
            <a:off x="873252" y="3534156"/>
            <a:ext cx="283464" cy="283464"/>
          </a:xfrm>
          <a:prstGeom prst="rect">
            <a:avLst/>
          </a:prstGeom>
        </p:spPr>
      </p:pic>
      <p:sp>
        <p:nvSpPr>
          <p:cNvPr id="18" name="Text 14"/>
          <p:cNvSpPr txBox="1"/>
          <p:nvPr/>
        </p:nvSpPr>
        <p:spPr>
          <a:xfrm>
            <a:off x="1463040" y="3236976"/>
            <a:ext cx="2194560" cy="868680"/>
          </a:xfrm>
          <a:prstGeom prst="rect">
            <a:avLst/>
          </a:prstGeom>
          <a:noFill/>
          <a:ln/>
        </p:spPr>
        <p:txBody>
          <a:bodyPr wrap="square" lIns="0" tIns="0" rIns="0" bIns="0" rtlCol="0" anchor="ctr"/>
          <a:lstStyle/>
          <a:p>
            <a:pPr indent="0" marL="0">
              <a:buNone/>
            </a:pPr>
            <a:r>
              <a:rPr lang="en-US" sz="1400" b="1" dirty="0">
                <a:solidFill>
                  <a:schemeClr val="tx1"/>
                </a:solidFill>
              </a:rPr>
              <a:t>애매한 부탁을 하면</a:t>
            </a:r>
            <a:endParaRPr lang="en-US" sz="1400" dirty="0"/>
          </a:p>
        </p:txBody>
      </p:sp>
      <p:sp>
        <p:nvSpPr>
          <p:cNvPr id="19" name="Text 15"/>
          <p:cNvSpPr txBox="1"/>
          <p:nvPr/>
        </p:nvSpPr>
        <p:spPr>
          <a:xfrm>
            <a:off x="3794760" y="3236976"/>
            <a:ext cx="3291840" cy="868680"/>
          </a:xfrm>
          <a:prstGeom prst="rect">
            <a:avLst/>
          </a:prstGeom>
          <a:noFill/>
          <a:ln/>
        </p:spPr>
        <p:txBody>
          <a:bodyPr wrap="square" lIns="0" tIns="0" rIns="0" bIns="0" rtlCol="0" anchor="ctr"/>
          <a:lstStyle/>
          <a:p>
            <a:pPr indent="0" marL="0">
              <a:buNone/>
            </a:pPr>
            <a:r>
              <a:rPr lang="en-US" sz="1200" dirty="0">
                <a:solidFill>
                  <a:schemeClr val="tx2"/>
                </a:solidFill>
              </a:rPr>
              <a:t>넘겨짚거나, 뻔한 질문에도 되물었다</a:t>
            </a:r>
            <a:endParaRPr lang="en-US" sz="1200" dirty="0"/>
          </a:p>
        </p:txBody>
      </p:sp>
      <p:sp>
        <p:nvSpPr>
          <p:cNvPr id="20" name="Text 16"/>
          <p:cNvSpPr txBox="1"/>
          <p:nvPr/>
        </p:nvSpPr>
        <p:spPr>
          <a:xfrm>
            <a:off x="7086600" y="3236976"/>
            <a:ext cx="365760" cy="86868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21" name="Text 17"/>
          <p:cNvSpPr txBox="1"/>
          <p:nvPr/>
        </p:nvSpPr>
        <p:spPr>
          <a:xfrm>
            <a:off x="7452360" y="3236976"/>
            <a:ext cx="4023360" cy="868680"/>
          </a:xfrm>
          <a:prstGeom prst="rect">
            <a:avLst/>
          </a:prstGeom>
          <a:noFill/>
          <a:ln/>
        </p:spPr>
        <p:txBody>
          <a:bodyPr wrap="square" lIns="0" tIns="0" rIns="0" bIns="0" rtlCol="0" anchor="ctr"/>
          <a:lstStyle/>
          <a:p>
            <a:pPr indent="0" marL="0">
              <a:buNone/>
            </a:pPr>
            <a:r>
              <a:rPr lang="en-US" sz="1250" b="1" dirty="0">
                <a:solidFill>
                  <a:schemeClr val="tx1"/>
                </a:solidFill>
              </a:rPr>
              <a:t>헷갈릴 때만 한 번 묻고, 분명하면 바로 답한다 — 잘못 알고 있으면 첫 문장에서 바로잡아 준다</a:t>
            </a:r>
            <a:endParaRPr lang="en-US" sz="1250" dirty="0"/>
          </a:p>
        </p:txBody>
      </p:sp>
      <p:sp>
        <p:nvSpPr>
          <p:cNvPr id="22" name="ba-row"/>
          <p:cNvSpPr/>
          <p:nvPr/>
        </p:nvSpPr>
        <p:spPr>
          <a:xfrm>
            <a:off x="548640" y="4233672"/>
            <a:ext cx="11091672" cy="868680"/>
          </a:xfrm>
          <a:prstGeom prst="roundRect">
            <a:avLst>
              <a:gd name="adj" fmla="val 12632"/>
            </a:avLst>
          </a:prstGeom>
          <a:solidFill>
            <a:schemeClr val="bg2"/>
          </a:solidFill>
          <a:ln/>
        </p:spPr>
      </p:sp>
      <p:sp>
        <p:nvSpPr>
          <p:cNvPr id="23" name="ba-circle"/>
          <p:cNvSpPr/>
          <p:nvPr/>
        </p:nvSpPr>
        <p:spPr>
          <a:xfrm>
            <a:off x="731520" y="4389120"/>
            <a:ext cx="566928" cy="566928"/>
          </a:xfrm>
          <a:prstGeom prst="ellipse">
            <a:avLst/>
          </a:prstGeom>
          <a:solidFill>
            <a:schemeClr val="accent2"/>
          </a:solidFill>
          <a:ln/>
        </p:spPr>
      </p:sp>
      <p:pic>
        <p:nvPicPr>
          <p:cNvPr id="24" name="ba-icon" descr="preencoded.png">    </p:cNvPr>
          <p:cNvPicPr>
            <a:picLocks noChangeAspect="1"/>
          </p:cNvPicPr>
          <p:nvPr/>
        </p:nvPicPr>
        <p:blipFill>
          <a:blip r:embed="rId3"/>
          <a:stretch>
            <a:fillRect/>
          </a:stretch>
        </p:blipFill>
        <p:spPr>
          <a:xfrm>
            <a:off x="873252" y="4530852"/>
            <a:ext cx="283464" cy="283464"/>
          </a:xfrm>
          <a:prstGeom prst="rect">
            <a:avLst/>
          </a:prstGeom>
        </p:spPr>
      </p:pic>
      <p:sp>
        <p:nvSpPr>
          <p:cNvPr id="25" name="Text 20"/>
          <p:cNvSpPr txBox="1"/>
          <p:nvPr/>
        </p:nvSpPr>
        <p:spPr>
          <a:xfrm>
            <a:off x="1463040" y="4233672"/>
            <a:ext cx="2194560" cy="868680"/>
          </a:xfrm>
          <a:prstGeom prst="rect">
            <a:avLst/>
          </a:prstGeom>
          <a:noFill/>
          <a:ln/>
        </p:spPr>
        <p:txBody>
          <a:bodyPr wrap="square" lIns="0" tIns="0" rIns="0" bIns="0" rtlCol="0" anchor="ctr"/>
          <a:lstStyle/>
          <a:p>
            <a:pPr indent="0" marL="0">
              <a:buNone/>
            </a:pPr>
            <a:r>
              <a:rPr lang="en-US" sz="1400" b="1" dirty="0">
                <a:solidFill>
                  <a:schemeClr val="tx1"/>
                </a:solidFill>
              </a:rPr>
              <a:t>에디터 작업은</a:t>
            </a:r>
            <a:endParaRPr lang="en-US" sz="1400" dirty="0"/>
          </a:p>
        </p:txBody>
      </p:sp>
      <p:sp>
        <p:nvSpPr>
          <p:cNvPr id="26" name="Text 21"/>
          <p:cNvSpPr txBox="1"/>
          <p:nvPr/>
        </p:nvSpPr>
        <p:spPr>
          <a:xfrm>
            <a:off x="3794760" y="4233672"/>
            <a:ext cx="3291840" cy="868680"/>
          </a:xfrm>
          <a:prstGeom prst="rect">
            <a:avLst/>
          </a:prstGeom>
          <a:noFill/>
          <a:ln/>
        </p:spPr>
        <p:txBody>
          <a:bodyPr wrap="square" lIns="0" tIns="0" rIns="0" bIns="0" rtlCol="0" anchor="ctr"/>
          <a:lstStyle/>
          <a:p>
            <a:pPr indent="0" marL="0">
              <a:buNone/>
            </a:pPr>
            <a:r>
              <a:rPr lang="en-US" sz="1200" dirty="0">
                <a:solidFill>
                  <a:schemeClr val="tx2"/>
                </a:solidFill>
              </a:rPr>
              <a:t>사람이 하나하나 손으로 했다</a:t>
            </a:r>
            <a:endParaRPr lang="en-US" sz="1200" dirty="0"/>
          </a:p>
        </p:txBody>
      </p:sp>
      <p:sp>
        <p:nvSpPr>
          <p:cNvPr id="27" name="Text 22"/>
          <p:cNvSpPr txBox="1"/>
          <p:nvPr/>
        </p:nvSpPr>
        <p:spPr>
          <a:xfrm>
            <a:off x="7086600" y="4233672"/>
            <a:ext cx="365760" cy="86868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28" name="Text 23"/>
          <p:cNvSpPr txBox="1"/>
          <p:nvPr/>
        </p:nvSpPr>
        <p:spPr>
          <a:xfrm>
            <a:off x="7452360" y="4233672"/>
            <a:ext cx="4023360" cy="868680"/>
          </a:xfrm>
          <a:prstGeom prst="rect">
            <a:avLst/>
          </a:prstGeom>
          <a:noFill/>
          <a:ln/>
        </p:spPr>
        <p:txBody>
          <a:bodyPr wrap="square" lIns="0" tIns="0" rIns="0" bIns="0" rtlCol="0" anchor="ctr"/>
          <a:lstStyle/>
          <a:p>
            <a:pPr indent="0" marL="0">
              <a:buNone/>
            </a:pPr>
            <a:r>
              <a:rPr lang="en-US" sz="1250" b="1" dirty="0">
                <a:solidFill>
                  <a:schemeClr val="tx1"/>
                </a:solidFill>
              </a:rPr>
              <a:t>Claude가 에디터를 직접 조작한다 (카드 추가 · 순서 · 고정 · 이미지 …) — 테스트 페이지에서 확인 완료</a:t>
            </a:r>
            <a:endParaRPr lang="en-US" sz="1250" dirty="0"/>
          </a:p>
        </p:txBody>
      </p:sp>
      <p:sp>
        <p:nvSpPr>
          <p:cNvPr id="29" name="ba-row"/>
          <p:cNvSpPr/>
          <p:nvPr/>
        </p:nvSpPr>
        <p:spPr>
          <a:xfrm>
            <a:off x="548640" y="5230368"/>
            <a:ext cx="11091672" cy="868680"/>
          </a:xfrm>
          <a:prstGeom prst="roundRect">
            <a:avLst>
              <a:gd name="adj" fmla="val 12632"/>
            </a:avLst>
          </a:prstGeom>
          <a:solidFill>
            <a:schemeClr val="bg2"/>
          </a:solidFill>
          <a:ln/>
        </p:spPr>
      </p:sp>
      <p:sp>
        <p:nvSpPr>
          <p:cNvPr id="30" name="ba-circle"/>
          <p:cNvSpPr/>
          <p:nvPr/>
        </p:nvSpPr>
        <p:spPr>
          <a:xfrm>
            <a:off x="731520" y="5385816"/>
            <a:ext cx="566928" cy="566928"/>
          </a:xfrm>
          <a:prstGeom prst="ellipse">
            <a:avLst/>
          </a:prstGeom>
          <a:solidFill>
            <a:schemeClr val="accent2"/>
          </a:solidFill>
          <a:ln/>
        </p:spPr>
      </p:sp>
      <p:pic>
        <p:nvPicPr>
          <p:cNvPr id="31" name="ba-icon" descr="preencoded.png">    </p:cNvPr>
          <p:cNvPicPr>
            <a:picLocks noChangeAspect="1"/>
          </p:cNvPicPr>
          <p:nvPr/>
        </p:nvPicPr>
        <p:blipFill>
          <a:blip r:embed="rId4"/>
          <a:stretch>
            <a:fillRect/>
          </a:stretch>
        </p:blipFill>
        <p:spPr>
          <a:xfrm>
            <a:off x="873252" y="5527548"/>
            <a:ext cx="283464" cy="283464"/>
          </a:xfrm>
          <a:prstGeom prst="rect">
            <a:avLst/>
          </a:prstGeom>
        </p:spPr>
      </p:pic>
      <p:sp>
        <p:nvSpPr>
          <p:cNvPr id="32" name="Text 26"/>
          <p:cNvSpPr txBox="1"/>
          <p:nvPr/>
        </p:nvSpPr>
        <p:spPr>
          <a:xfrm>
            <a:off x="1463040" y="5230368"/>
            <a:ext cx="2194560" cy="868680"/>
          </a:xfrm>
          <a:prstGeom prst="rect">
            <a:avLst/>
          </a:prstGeom>
          <a:noFill/>
          <a:ln/>
        </p:spPr>
        <p:txBody>
          <a:bodyPr wrap="square" lIns="0" tIns="0" rIns="0" bIns="0" rtlCol="0" anchor="ctr"/>
          <a:lstStyle/>
          <a:p>
            <a:pPr indent="0" marL="0">
              <a:buNone/>
            </a:pPr>
            <a:r>
              <a:rPr lang="en-US" sz="1400" b="1" dirty="0">
                <a:solidFill>
                  <a:schemeClr val="tx1"/>
                </a:solidFill>
              </a:rPr>
              <a:t>새 맥을 세팅할 때</a:t>
            </a:r>
            <a:endParaRPr lang="en-US" sz="1400" dirty="0"/>
          </a:p>
        </p:txBody>
      </p:sp>
      <p:sp>
        <p:nvSpPr>
          <p:cNvPr id="33" name="Text 27"/>
          <p:cNvSpPr txBox="1"/>
          <p:nvPr/>
        </p:nvSpPr>
        <p:spPr>
          <a:xfrm>
            <a:off x="3794760" y="5230368"/>
            <a:ext cx="3291840" cy="868680"/>
          </a:xfrm>
          <a:prstGeom prst="rect">
            <a:avLst/>
          </a:prstGeom>
          <a:noFill/>
          <a:ln/>
        </p:spPr>
        <p:txBody>
          <a:bodyPr wrap="square" lIns="0" tIns="0" rIns="0" bIns="0" rtlCol="0" anchor="ctr"/>
          <a:lstStyle/>
          <a:p>
            <a:pPr indent="0" marL="0">
              <a:buNone/>
            </a:pPr>
            <a:r>
              <a:rPr lang="en-US" sz="1200" dirty="0">
                <a:solidFill>
                  <a:schemeClr val="tx2"/>
                </a:solidFill>
              </a:rPr>
              <a:t>무엇을 깔고 연결해야 하는지 기억에 의존했다</a:t>
            </a:r>
            <a:endParaRPr lang="en-US" sz="1200" dirty="0"/>
          </a:p>
        </p:txBody>
      </p:sp>
      <p:sp>
        <p:nvSpPr>
          <p:cNvPr id="34" name="Text 28"/>
          <p:cNvSpPr txBox="1"/>
          <p:nvPr/>
        </p:nvSpPr>
        <p:spPr>
          <a:xfrm>
            <a:off x="7086600" y="5230368"/>
            <a:ext cx="365760" cy="868680"/>
          </a:xfrm>
          <a:prstGeom prst="rect">
            <a:avLst/>
          </a:prstGeom>
          <a:noFill/>
          <a:ln/>
        </p:spPr>
        <p:txBody>
          <a:bodyPr wrap="square" lIns="0" tIns="0" rIns="0" bIns="0" rtlCol="0" anchor="ctr"/>
          <a:lstStyle/>
          <a:p>
            <a:pPr algn="ctr" indent="0" marL="0">
              <a:buNone/>
            </a:pPr>
            <a:r>
              <a:rPr lang="en-US" sz="1600" b="1" dirty="0">
                <a:solidFill>
                  <a:schemeClr val="accent1"/>
                </a:solidFill>
              </a:rPr>
              <a:t>→</a:t>
            </a:r>
            <a:endParaRPr lang="en-US" sz="1600" dirty="0"/>
          </a:p>
        </p:txBody>
      </p:sp>
      <p:sp>
        <p:nvSpPr>
          <p:cNvPr id="35" name="Text 29"/>
          <p:cNvSpPr txBox="1"/>
          <p:nvPr/>
        </p:nvSpPr>
        <p:spPr>
          <a:xfrm>
            <a:off x="7452360" y="5230368"/>
            <a:ext cx="4023360" cy="868680"/>
          </a:xfrm>
          <a:prstGeom prst="rect">
            <a:avLst/>
          </a:prstGeom>
          <a:noFill/>
          <a:ln/>
        </p:spPr>
        <p:txBody>
          <a:bodyPr wrap="square" lIns="0" tIns="0" rIns="0" bIns="0" rtlCol="0" anchor="ctr"/>
          <a:lstStyle/>
          <a:p>
            <a:pPr indent="0" marL="0">
              <a:buNone/>
            </a:pPr>
            <a:r>
              <a:rPr lang="en-US" sz="1250" b="1" dirty="0">
                <a:solidFill>
                  <a:schemeClr val="tx1"/>
                </a:solidFill>
              </a:rPr>
              <a:t>스크립트 한 번 + 점검표 한 번이면 끝 — 오늘 2부 내용</a:t>
            </a:r>
            <a:endParaRPr lang="en-US" sz="125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1 · 결과 보고</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03  어디까지 · 아직</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남은 건 리허설과 팀원 셋업</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세부 할 일 28개 중 21개 완료 · 1개 보류 · 6개 남음.</a:t>
            </a:r>
            <a:endParaRPr lang="en-US" sz="1400" dirty="0"/>
          </a:p>
        </p:txBody>
      </p:sp>
      <p:sp>
        <p:nvSpPr>
          <p:cNvPr id="6" name="remain-card"/>
          <p:cNvSpPr/>
          <p:nvPr/>
        </p:nvSpPr>
        <p:spPr>
          <a:xfrm>
            <a:off x="548640" y="1874520"/>
            <a:ext cx="5413248" cy="4206240"/>
          </a:xfrm>
          <a:prstGeom prst="roundRect">
            <a:avLst>
              <a:gd name="adj" fmla="val 2609"/>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남은 순서</a:t>
            </a:r>
            <a:endParaRPr lang="en-US" sz="1500" dirty="0"/>
          </a:p>
        </p:txBody>
      </p:sp>
      <p:sp>
        <p:nvSpPr>
          <p:cNvPr id="8" name="num"/>
          <p:cNvSpPr/>
          <p:nvPr/>
        </p:nvSpPr>
        <p:spPr>
          <a:xfrm>
            <a:off x="822960" y="2651760"/>
            <a:ext cx="457200" cy="457200"/>
          </a:xfrm>
          <a:prstGeom prst="ellipse">
            <a:avLst/>
          </a:prstGeom>
          <a:solidFill>
            <a:schemeClr val="accent1"/>
          </a:solidFill>
          <a:ln/>
        </p:spPr>
      </p:sp>
      <p:sp>
        <p:nvSpPr>
          <p:cNvPr id="9" name="Text 7"/>
          <p:cNvSpPr txBox="1"/>
          <p:nvPr/>
        </p:nvSpPr>
        <p:spPr>
          <a:xfrm>
            <a:off x="822960" y="26517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8"/>
          <p:cNvSpPr txBox="1"/>
          <p:nvPr/>
        </p:nvSpPr>
        <p:spPr>
          <a:xfrm>
            <a:off x="1463040" y="2606040"/>
            <a:ext cx="4297680" cy="365760"/>
          </a:xfrm>
          <a:prstGeom prst="rect">
            <a:avLst/>
          </a:prstGeom>
          <a:noFill/>
          <a:ln/>
        </p:spPr>
        <p:txBody>
          <a:bodyPr wrap="square" lIns="0" tIns="0" rIns="0" bIns="0" rtlCol="0" anchor="ctr"/>
          <a:lstStyle/>
          <a:p>
            <a:pPr indent="0" marL="0">
              <a:buNone/>
            </a:pPr>
            <a:r>
              <a:rPr lang="en-US" sz="1400" b="1" dirty="0">
                <a:solidFill>
                  <a:schemeClr val="tx1"/>
                </a:solidFill>
              </a:rPr>
              <a:t>새 기기 리허설</a:t>
            </a:r>
            <a:endParaRPr lang="en-US" sz="1400" dirty="0"/>
          </a:p>
        </p:txBody>
      </p:sp>
      <p:sp>
        <p:nvSpPr>
          <p:cNvPr id="11" name="Text 9"/>
          <p:cNvSpPr txBox="1"/>
          <p:nvPr/>
        </p:nvSpPr>
        <p:spPr>
          <a:xfrm>
            <a:off x="1463040" y="2990088"/>
            <a:ext cx="4297680" cy="594360"/>
          </a:xfrm>
          <a:prstGeom prst="rect">
            <a:avLst/>
          </a:prstGeom>
          <a:noFill/>
          <a:ln/>
        </p:spPr>
        <p:txBody>
          <a:bodyPr wrap="square" lIns="0" tIns="0" rIns="0" bIns="0" rtlCol="0" anchor="t"/>
          <a:lstStyle/>
          <a:p>
            <a:pPr indent="0" marL="0">
              <a:buNone/>
            </a:pPr>
            <a:r>
              <a:rPr lang="en-US" sz="1200" dirty="0">
                <a:solidFill>
                  <a:schemeClr val="tx2"/>
                </a:solidFill>
              </a:rPr>
              <a:t>오늘 2부 안내를 새 맥처럼 처음부터 따라 해 보고 막히는 곳을 고친다</a:t>
            </a:r>
            <a:endParaRPr lang="en-US" sz="1200" dirty="0"/>
          </a:p>
        </p:txBody>
      </p:sp>
      <p:sp>
        <p:nvSpPr>
          <p:cNvPr id="12" name="num"/>
          <p:cNvSpPr/>
          <p:nvPr/>
        </p:nvSpPr>
        <p:spPr>
          <a:xfrm>
            <a:off x="822960" y="3767328"/>
            <a:ext cx="457200" cy="457200"/>
          </a:xfrm>
          <a:prstGeom prst="ellipse">
            <a:avLst/>
          </a:prstGeom>
          <a:solidFill>
            <a:schemeClr val="accent1"/>
          </a:solidFill>
          <a:ln/>
        </p:spPr>
      </p:sp>
      <p:sp>
        <p:nvSpPr>
          <p:cNvPr id="13" name="Text 11"/>
          <p:cNvSpPr txBox="1"/>
          <p:nvPr/>
        </p:nvSpPr>
        <p:spPr>
          <a:xfrm>
            <a:off x="822960" y="376732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2"/>
          <p:cNvSpPr txBox="1"/>
          <p:nvPr/>
        </p:nvSpPr>
        <p:spPr>
          <a:xfrm>
            <a:off x="1463040" y="3721608"/>
            <a:ext cx="4297680" cy="365760"/>
          </a:xfrm>
          <a:prstGeom prst="rect">
            <a:avLst/>
          </a:prstGeom>
          <a:noFill/>
          <a:ln/>
        </p:spPr>
        <p:txBody>
          <a:bodyPr wrap="square" lIns="0" tIns="0" rIns="0" bIns="0" rtlCol="0" anchor="ctr"/>
          <a:lstStyle/>
          <a:p>
            <a:pPr indent="0" marL="0">
              <a:buNone/>
            </a:pPr>
            <a:r>
              <a:rPr lang="en-US" sz="1400" b="1" dirty="0">
                <a:solidFill>
                  <a:schemeClr val="tx1"/>
                </a:solidFill>
              </a:rPr>
              <a:t>팀원 일정 · 전용 테스트 페이지</a:t>
            </a:r>
            <a:endParaRPr lang="en-US" sz="1400" dirty="0"/>
          </a:p>
        </p:txBody>
      </p:sp>
      <p:sp>
        <p:nvSpPr>
          <p:cNvPr id="15" name="Text 13"/>
          <p:cNvSpPr txBox="1"/>
          <p:nvPr/>
        </p:nvSpPr>
        <p:spPr>
          <a:xfrm>
            <a:off x="1463040" y="4105656"/>
            <a:ext cx="4297680" cy="594360"/>
          </a:xfrm>
          <a:prstGeom prst="rect">
            <a:avLst/>
          </a:prstGeom>
          <a:noFill/>
          <a:ln/>
        </p:spPr>
        <p:txBody>
          <a:bodyPr wrap="square" lIns="0" tIns="0" rIns="0" bIns="0" rtlCol="0" anchor="t"/>
          <a:lstStyle/>
          <a:p>
            <a:pPr indent="0" marL="0">
              <a:buNone/>
            </a:pPr>
            <a:r>
              <a:rPr lang="en-US" sz="1200" dirty="0">
                <a:solidFill>
                  <a:schemeClr val="tx2"/>
                </a:solidFill>
              </a:rPr>
              <a:t>공용 계정이라 사람마다 연습용 페이지가 하나씩 필요</a:t>
            </a:r>
            <a:endParaRPr lang="en-US" sz="1200" dirty="0"/>
          </a:p>
        </p:txBody>
      </p:sp>
      <p:sp>
        <p:nvSpPr>
          <p:cNvPr id="16" name="num"/>
          <p:cNvSpPr/>
          <p:nvPr/>
        </p:nvSpPr>
        <p:spPr>
          <a:xfrm>
            <a:off x="822960" y="4882896"/>
            <a:ext cx="457200" cy="457200"/>
          </a:xfrm>
          <a:prstGeom prst="ellipse">
            <a:avLst/>
          </a:prstGeom>
          <a:solidFill>
            <a:schemeClr val="accent1"/>
          </a:solidFill>
          <a:ln/>
        </p:spPr>
      </p:sp>
      <p:sp>
        <p:nvSpPr>
          <p:cNvPr id="17" name="Text 15"/>
          <p:cNvSpPr txBox="1"/>
          <p:nvPr/>
        </p:nvSpPr>
        <p:spPr>
          <a:xfrm>
            <a:off x="822960" y="488289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 16"/>
          <p:cNvSpPr txBox="1"/>
          <p:nvPr/>
        </p:nvSpPr>
        <p:spPr>
          <a:xfrm>
            <a:off x="1463040" y="4837176"/>
            <a:ext cx="4297680" cy="365760"/>
          </a:xfrm>
          <a:prstGeom prst="rect">
            <a:avLst/>
          </a:prstGeom>
          <a:noFill/>
          <a:ln/>
        </p:spPr>
        <p:txBody>
          <a:bodyPr wrap="square" lIns="0" tIns="0" rIns="0" bIns="0" rtlCol="0" anchor="ctr"/>
          <a:lstStyle/>
          <a:p>
            <a:pPr indent="0" marL="0">
              <a:buNone/>
            </a:pPr>
            <a:r>
              <a:rPr lang="en-US" sz="1400" b="1" dirty="0">
                <a:solidFill>
                  <a:schemeClr val="tx1"/>
                </a:solidFill>
              </a:rPr>
              <a:t>팀원 2명 셋업</a:t>
            </a:r>
            <a:endParaRPr lang="en-US" sz="1400" dirty="0"/>
          </a:p>
        </p:txBody>
      </p:sp>
      <p:sp>
        <p:nvSpPr>
          <p:cNvPr id="19" name="Text 17"/>
          <p:cNvSpPr txBox="1"/>
          <p:nvPr/>
        </p:nvSpPr>
        <p:spPr>
          <a:xfrm>
            <a:off x="1463040" y="5221224"/>
            <a:ext cx="4297680" cy="594360"/>
          </a:xfrm>
          <a:prstGeom prst="rect">
            <a:avLst/>
          </a:prstGeom>
          <a:noFill/>
          <a:ln/>
        </p:spPr>
        <p:txBody>
          <a:bodyPr wrap="square" lIns="0" tIns="0" rIns="0" bIns="0" rtlCol="0" anchor="t"/>
          <a:lstStyle/>
          <a:p>
            <a:pPr indent="0" marL="0">
              <a:buNone/>
            </a:pPr>
            <a:r>
              <a:rPr lang="en-US" sz="1200" dirty="0">
                <a:solidFill>
                  <a:schemeClr val="tx2"/>
                </a:solidFill>
              </a:rPr>
              <a:t>셋업 → 점검표 → 확인 질문 통과 = 🎯 목표 도달</a:t>
            </a:r>
            <a:endParaRPr lang="en-US" sz="1200" dirty="0"/>
          </a:p>
        </p:txBody>
      </p:sp>
      <p:sp>
        <p:nvSpPr>
          <p:cNvPr id="20" name="bar-card"/>
          <p:cNvSpPr/>
          <p:nvPr/>
        </p:nvSpPr>
        <p:spPr>
          <a:xfrm>
            <a:off x="6227064" y="1874520"/>
            <a:ext cx="5413248" cy="1417320"/>
          </a:xfrm>
          <a:prstGeom prst="roundRect">
            <a:avLst>
              <a:gd name="adj" fmla="val 7742"/>
            </a:avLst>
          </a:prstGeom>
          <a:solidFill>
            <a:schemeClr val="bg2"/>
          </a:solidFill>
          <a:ln/>
        </p:spPr>
      </p:sp>
      <p:sp>
        <p:nvSpPr>
          <p:cNvPr id="21" name="Text 19"/>
          <p:cNvSpPr txBox="1"/>
          <p:nvPr/>
        </p:nvSpPr>
        <p:spPr>
          <a:xfrm>
            <a:off x="6501384" y="1984248"/>
            <a:ext cx="2743200" cy="594360"/>
          </a:xfrm>
          <a:prstGeom prst="rect">
            <a:avLst/>
          </a:prstGeom>
          <a:noFill/>
          <a:ln/>
        </p:spPr>
        <p:txBody>
          <a:bodyPr wrap="square" lIns="0" tIns="0" rIns="0" bIns="0" rtlCol="0" anchor="ctr"/>
          <a:lstStyle/>
          <a:p>
            <a:pPr indent="0" marL="0">
              <a:buNone/>
            </a:pPr>
            <a:r>
              <a:rPr lang="en-US" sz="3000" b="1" dirty="0">
                <a:solidFill>
                  <a:schemeClr val="tx1"/>
                </a:solidFill>
              </a:rPr>
              <a:t>21</a:t>
            </a:r>
            <a:pPr indent="0" marL="0">
              <a:buNone/>
            </a:pPr>
            <a:r>
              <a:rPr lang="en-US" sz="1400" b="1" dirty="0">
                <a:solidFill>
                  <a:schemeClr val="tx2"/>
                </a:solidFill>
              </a:rPr>
              <a:t> / 28 완료</a:t>
            </a:r>
            <a:endParaRPr lang="en-US" sz="3000" dirty="0"/>
          </a:p>
        </p:txBody>
      </p:sp>
      <p:sp>
        <p:nvSpPr>
          <p:cNvPr id="22" name="bar-bg"/>
          <p:cNvSpPr/>
          <p:nvPr/>
        </p:nvSpPr>
        <p:spPr>
          <a:xfrm>
            <a:off x="6501384" y="2651760"/>
            <a:ext cx="4864608" cy="182880"/>
          </a:xfrm>
          <a:prstGeom prst="roundRect">
            <a:avLst>
              <a:gd name="adj" fmla="val 50000"/>
            </a:avLst>
          </a:prstGeom>
          <a:solidFill>
            <a:schemeClr val="bg1"/>
          </a:solidFill>
          <a:ln/>
        </p:spPr>
      </p:sp>
      <p:sp>
        <p:nvSpPr>
          <p:cNvPr id="23" name="bar-hold"/>
          <p:cNvSpPr/>
          <p:nvPr/>
        </p:nvSpPr>
        <p:spPr>
          <a:xfrm>
            <a:off x="6501384" y="2651760"/>
            <a:ext cx="3822192" cy="182880"/>
          </a:xfrm>
          <a:prstGeom prst="roundRect">
            <a:avLst>
              <a:gd name="adj" fmla="val 50000"/>
            </a:avLst>
          </a:prstGeom>
          <a:solidFill>
            <a:schemeClr val="tx2">
              <a:alpha val="40000"/>
            </a:schemeClr>
          </a:solidFill>
          <a:ln/>
        </p:spPr>
      </p:sp>
      <p:sp>
        <p:nvSpPr>
          <p:cNvPr id="24" name="bar-done"/>
          <p:cNvSpPr/>
          <p:nvPr/>
        </p:nvSpPr>
        <p:spPr>
          <a:xfrm>
            <a:off x="6501384" y="2651760"/>
            <a:ext cx="3648456" cy="182880"/>
          </a:xfrm>
          <a:prstGeom prst="roundRect">
            <a:avLst>
              <a:gd name="adj" fmla="val 50000"/>
            </a:avLst>
          </a:prstGeom>
          <a:solidFill>
            <a:schemeClr val="accent3"/>
          </a:solidFill>
          <a:ln/>
        </p:spPr>
      </p:sp>
      <p:sp>
        <p:nvSpPr>
          <p:cNvPr id="25" name="Text 23"/>
          <p:cNvSpPr txBox="1"/>
          <p:nvPr/>
        </p:nvSpPr>
        <p:spPr>
          <a:xfrm>
            <a:off x="6501384" y="2907792"/>
            <a:ext cx="4864608" cy="274320"/>
          </a:xfrm>
          <a:prstGeom prst="rect">
            <a:avLst/>
          </a:prstGeom>
          <a:noFill/>
          <a:ln/>
        </p:spPr>
        <p:txBody>
          <a:bodyPr wrap="square" lIns="0" tIns="0" rIns="0" bIns="0" rtlCol="0" anchor="ctr"/>
          <a:lstStyle/>
          <a:p>
            <a:pPr indent="0" marL="0">
              <a:buNone/>
            </a:pPr>
            <a:r>
              <a:rPr lang="en-US" sz="1000" dirty="0">
                <a:solidFill>
                  <a:schemeClr val="tx2"/>
                </a:solidFill>
              </a:rPr>
              <a:t>■ 완료 21   ■ 보류 1 (제품팀 결함 전달문)   ■ 남음 6</a:t>
            </a:r>
            <a:endParaRPr lang="en-US" sz="1000" dirty="0"/>
          </a:p>
        </p:txBody>
      </p:sp>
      <p:sp>
        <p:nvSpPr>
          <p:cNvPr id="26" name="notyet-card"/>
          <p:cNvSpPr/>
          <p:nvPr/>
        </p:nvSpPr>
        <p:spPr>
          <a:xfrm>
            <a:off x="6227064" y="3474720"/>
            <a:ext cx="5413248" cy="2606040"/>
          </a:xfrm>
          <a:prstGeom prst="roundRect">
            <a:avLst>
              <a:gd name="adj" fmla="val 4211"/>
            </a:avLst>
          </a:prstGeom>
          <a:solidFill>
            <a:schemeClr val="bg1"/>
          </a:solidFill>
          <a:ln w="12700">
            <a:solidFill>
              <a:srgbClr val="E3E3EA"/>
            </a:solidFill>
            <a:prstDash val="solid"/>
          </a:ln>
        </p:spPr>
      </p:sp>
      <p:sp>
        <p:nvSpPr>
          <p:cNvPr id="27" name="pill-bg"/>
          <p:cNvSpPr/>
          <p:nvPr/>
        </p:nvSpPr>
        <p:spPr>
          <a:xfrm>
            <a:off x="6501384" y="3685032"/>
            <a:ext cx="731520" cy="256032"/>
          </a:xfrm>
          <a:prstGeom prst="roundRect">
            <a:avLst>
              <a:gd name="adj" fmla="val 50000"/>
            </a:avLst>
          </a:prstGeom>
          <a:solidFill>
            <a:schemeClr val="accent4">
              <a:alpha val="14000"/>
            </a:schemeClr>
          </a:solidFill>
          <a:ln/>
        </p:spPr>
      </p:sp>
      <p:sp>
        <p:nvSpPr>
          <p:cNvPr id="28" name="pill"/>
          <p:cNvSpPr txBox="1"/>
          <p:nvPr/>
        </p:nvSpPr>
        <p:spPr>
          <a:xfrm>
            <a:off x="6501384" y="3685032"/>
            <a:ext cx="731520" cy="256032"/>
          </a:xfrm>
          <a:prstGeom prst="rect">
            <a:avLst/>
          </a:prstGeom>
          <a:noFill/>
          <a:ln/>
        </p:spPr>
        <p:txBody>
          <a:bodyPr wrap="square" lIns="0" tIns="0" rIns="0" bIns="0" rtlCol="0" anchor="ctr"/>
          <a:lstStyle/>
          <a:p>
            <a:pPr algn="ctr" indent="0" marL="0">
              <a:buNone/>
            </a:pPr>
            <a:r>
              <a:rPr lang="en-US" sz="950" b="1" dirty="0">
                <a:solidFill>
                  <a:schemeClr val="accent4"/>
                </a:solidFill>
              </a:rPr>
              <a:t>알아 둘 점</a:t>
            </a:r>
            <a:endParaRPr lang="en-US" sz="950" dirty="0"/>
          </a:p>
        </p:txBody>
      </p:sp>
      <p:sp>
        <p:nvSpPr>
          <p:cNvPr id="29" name="Text 27"/>
          <p:cNvSpPr txBox="1"/>
          <p:nvPr/>
        </p:nvSpPr>
        <p:spPr>
          <a:xfrm>
            <a:off x="6501384" y="4069080"/>
            <a:ext cx="4864608" cy="192024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chemeClr val="tx1"/>
                </a:solidFill>
              </a:rPr>
              <a:t>볼트끼리는 Obsidian 링크가 아니라, Claude가 파일을 찾아 읽는 방식으로 이어진다</a:t>
            </a:r>
            <a:endParaRPr lang="en-US" sz="1250" dirty="0"/>
          </a:p>
          <a:p>
            <a:pPr marL="342900" indent="-342900">
              <a:spcAft>
                <a:spcPts val="800"/>
              </a:spcAft>
              <a:buSzPct val="100000"/>
              <a:buChar char="•"/>
            </a:pPr>
            <a:r>
              <a:rPr lang="en-US" sz="1250" dirty="0">
                <a:solidFill>
                  <a:schemeClr val="tx1"/>
                </a:solidFill>
              </a:rPr>
              <a:t>Claude는 기능을 외우는 게 아니라 사전을 찾아본다 — 사전에 「미확인」인 것은 모른다고 답한다</a:t>
            </a:r>
            <a:endParaRPr lang="en-US" sz="1250" dirty="0"/>
          </a:p>
          <a:p>
            <a:pPr marL="342900" indent="-342900">
              <a:spcAft>
                <a:spcPts val="800"/>
              </a:spcAft>
              <a:buSzPct val="100000"/>
              <a:buChar char="•"/>
            </a:pPr>
            <a:r>
              <a:rPr lang="en-US" sz="1250" dirty="0">
                <a:solidFill>
                  <a:schemeClr val="tx1"/>
                </a:solidFill>
              </a:rPr>
              <a:t>새 맥에서 처음부터 따라 해 보는 리허설과 팀원 기기 확인은 이제부터</a:t>
            </a:r>
            <a:endParaRPr lang="en-US" sz="125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04  시작 전에</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준비물 4가지, 그리고 터미널 쓰는 법</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약 20~30분. 명령어는 이해할 필요 없이 「복사 → 붙여넣기 → Enter」만 하면 됩니다.</a:t>
            </a:r>
            <a:endParaRPr lang="en-US" sz="1400" dirty="0"/>
          </a:p>
        </p:txBody>
      </p:sp>
      <p:sp>
        <p:nvSpPr>
          <p:cNvPr id="6" name="prep-card"/>
          <p:cNvSpPr/>
          <p:nvPr/>
        </p:nvSpPr>
        <p:spPr>
          <a:xfrm>
            <a:off x="548640" y="1874520"/>
            <a:ext cx="5413248" cy="4206240"/>
          </a:xfrm>
          <a:prstGeom prst="roundRect">
            <a:avLst>
              <a:gd name="adj" fmla="val 2609"/>
            </a:avLst>
          </a:prstGeom>
          <a:solidFill>
            <a:schemeClr val="bg2"/>
          </a:solidFill>
          <a:ln/>
        </p:spPr>
      </p:sp>
      <p:sp>
        <p:nvSpPr>
          <p:cNvPr id="7" name="Text 5"/>
          <p:cNvSpPr txBox="1"/>
          <p:nvPr/>
        </p:nvSpPr>
        <p:spPr>
          <a:xfrm>
            <a:off x="822960" y="2084832"/>
            <a:ext cx="4846320" cy="320040"/>
          </a:xfrm>
          <a:prstGeom prst="rect">
            <a:avLst/>
          </a:prstGeom>
          <a:noFill/>
          <a:ln/>
        </p:spPr>
        <p:txBody>
          <a:bodyPr wrap="square" lIns="0" tIns="0" rIns="0" bIns="0" rtlCol="0" anchor="ctr"/>
          <a:lstStyle/>
          <a:p>
            <a:pPr indent="0" marL="0">
              <a:buNone/>
            </a:pPr>
            <a:r>
              <a:rPr lang="en-US" sz="1500" b="1" dirty="0">
                <a:solidFill>
                  <a:schemeClr val="tx1"/>
                </a:solidFill>
              </a:rPr>
              <a:t>담당자에게 미리 받을 것</a:t>
            </a:r>
            <a:endParaRPr lang="en-US" sz="1500" dirty="0"/>
          </a:p>
        </p:txBody>
      </p:sp>
      <p:sp>
        <p:nvSpPr>
          <p:cNvPr id="8" name="num"/>
          <p:cNvSpPr/>
          <p:nvPr/>
        </p:nvSpPr>
        <p:spPr>
          <a:xfrm>
            <a:off x="822960" y="2615184"/>
            <a:ext cx="384048" cy="384048"/>
          </a:xfrm>
          <a:prstGeom prst="ellipse">
            <a:avLst/>
          </a:prstGeom>
          <a:solidFill>
            <a:schemeClr val="accent1"/>
          </a:solidFill>
          <a:ln/>
        </p:spPr>
      </p:sp>
      <p:sp>
        <p:nvSpPr>
          <p:cNvPr id="9" name="Text 7"/>
          <p:cNvSpPr txBox="1"/>
          <p:nvPr/>
        </p:nvSpPr>
        <p:spPr>
          <a:xfrm>
            <a:off x="822960" y="26151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0320"/>
            <a:ext cx="4389120" cy="292608"/>
          </a:xfrm>
          <a:prstGeom prst="rect">
            <a:avLst/>
          </a:prstGeom>
          <a:noFill/>
          <a:ln/>
        </p:spPr>
        <p:txBody>
          <a:bodyPr wrap="square" lIns="0" tIns="0" rIns="0" bIns="0" rtlCol="0" anchor="ctr"/>
          <a:lstStyle/>
          <a:p>
            <a:pPr indent="0" marL="0">
              <a:buNone/>
            </a:pPr>
            <a:r>
              <a:rPr lang="en-US" sz="1300" b="1" dirty="0">
                <a:solidFill>
                  <a:schemeClr val="tx1"/>
                </a:solidFill>
              </a:rPr>
              <a:t>GitHub CdBd-in 계정</a:t>
            </a:r>
            <a:endParaRPr lang="en-US" sz="1300" dirty="0"/>
          </a:p>
        </p:txBody>
      </p:sp>
      <p:sp>
        <p:nvSpPr>
          <p:cNvPr id="11" name="Text 9"/>
          <p:cNvSpPr txBox="1"/>
          <p:nvPr/>
        </p:nvSpPr>
        <p:spPr>
          <a:xfrm>
            <a:off x="1371600" y="2852928"/>
            <a:ext cx="4389120" cy="292608"/>
          </a:xfrm>
          <a:prstGeom prst="rect">
            <a:avLst/>
          </a:prstGeom>
          <a:noFill/>
          <a:ln/>
        </p:spPr>
        <p:txBody>
          <a:bodyPr wrap="square" lIns="0" tIns="0" rIns="0" bIns="0" rtlCol="0" anchor="ctr"/>
          <a:lstStyle/>
          <a:p>
            <a:pPr indent="0" marL="0">
              <a:buNone/>
            </a:pPr>
            <a:r>
              <a:rPr lang="en-US" sz="1100" dirty="0">
                <a:solidFill>
                  <a:schemeClr val="tx2"/>
                </a:solidFill>
              </a:rPr>
              <a:t>저장소를 받기 위한 팀 공용 계정</a:t>
            </a:r>
            <a:endParaRPr lang="en-US" sz="1100" dirty="0"/>
          </a:p>
        </p:txBody>
      </p:sp>
      <p:sp>
        <p:nvSpPr>
          <p:cNvPr id="12" name="num"/>
          <p:cNvSpPr/>
          <p:nvPr/>
        </p:nvSpPr>
        <p:spPr>
          <a:xfrm>
            <a:off x="822960" y="3300984"/>
            <a:ext cx="384048" cy="384048"/>
          </a:xfrm>
          <a:prstGeom prst="ellipse">
            <a:avLst/>
          </a:prstGeom>
          <a:solidFill>
            <a:schemeClr val="accent1"/>
          </a:solidFill>
          <a:ln/>
        </p:spPr>
      </p:sp>
      <p:sp>
        <p:nvSpPr>
          <p:cNvPr id="13" name="Text 11"/>
          <p:cNvSpPr txBox="1"/>
          <p:nvPr/>
        </p:nvSpPr>
        <p:spPr>
          <a:xfrm>
            <a:off x="822960" y="33009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4" name="Text 12"/>
          <p:cNvSpPr txBox="1"/>
          <p:nvPr/>
        </p:nvSpPr>
        <p:spPr>
          <a:xfrm>
            <a:off x="1371600" y="3246120"/>
            <a:ext cx="4389120" cy="292608"/>
          </a:xfrm>
          <a:prstGeom prst="rect">
            <a:avLst/>
          </a:prstGeom>
          <a:noFill/>
          <a:ln/>
        </p:spPr>
        <p:txBody>
          <a:bodyPr wrap="square" lIns="0" tIns="0" rIns="0" bIns="0" rtlCol="0" anchor="ctr"/>
          <a:lstStyle/>
          <a:p>
            <a:pPr indent="0" marL="0">
              <a:buNone/>
            </a:pPr>
            <a:r>
              <a:rPr lang="en-US" sz="1300" b="1" dirty="0">
                <a:solidFill>
                  <a:schemeClr val="tx1"/>
                </a:solidFill>
              </a:rPr>
              <a:t>CdBd 공용 계정</a:t>
            </a:r>
            <a:endParaRPr lang="en-US" sz="1300" dirty="0"/>
          </a:p>
        </p:txBody>
      </p:sp>
      <p:sp>
        <p:nvSpPr>
          <p:cNvPr id="15" name="Text 13"/>
          <p:cNvSpPr txBox="1"/>
          <p:nvPr/>
        </p:nvSpPr>
        <p:spPr>
          <a:xfrm>
            <a:off x="1371600" y="3538728"/>
            <a:ext cx="4389120" cy="292608"/>
          </a:xfrm>
          <a:prstGeom prst="rect">
            <a:avLst/>
          </a:prstGeom>
          <a:noFill/>
          <a:ln/>
        </p:spPr>
        <p:txBody>
          <a:bodyPr wrap="square" lIns="0" tIns="0" rIns="0" bIns="0" rtlCol="0" anchor="ctr"/>
          <a:lstStyle/>
          <a:p>
            <a:pPr indent="0" marL="0">
              <a:buNone/>
            </a:pPr>
            <a:r>
              <a:rPr lang="en-US" sz="1100" dirty="0">
                <a:solidFill>
                  <a:schemeClr val="tx2"/>
                </a:solidFill>
              </a:rPr>
              <a:t>이메일 · 비밀번호 (1Password 등 안전한 방법으로)</a:t>
            </a:r>
            <a:endParaRPr lang="en-US" sz="1100" dirty="0"/>
          </a:p>
        </p:txBody>
      </p:sp>
      <p:sp>
        <p:nvSpPr>
          <p:cNvPr id="16" name="num"/>
          <p:cNvSpPr/>
          <p:nvPr/>
        </p:nvSpPr>
        <p:spPr>
          <a:xfrm>
            <a:off x="822960" y="3986784"/>
            <a:ext cx="384048" cy="384048"/>
          </a:xfrm>
          <a:prstGeom prst="ellipse">
            <a:avLst/>
          </a:prstGeom>
          <a:solidFill>
            <a:schemeClr val="accent1"/>
          </a:solidFill>
          <a:ln/>
        </p:spPr>
      </p:sp>
      <p:sp>
        <p:nvSpPr>
          <p:cNvPr id="17" name="Text 15"/>
          <p:cNvSpPr txBox="1"/>
          <p:nvPr/>
        </p:nvSpPr>
        <p:spPr>
          <a:xfrm>
            <a:off x="822960" y="39867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Text 16"/>
          <p:cNvSpPr txBox="1"/>
          <p:nvPr/>
        </p:nvSpPr>
        <p:spPr>
          <a:xfrm>
            <a:off x="1371600" y="3931920"/>
            <a:ext cx="4389120" cy="292608"/>
          </a:xfrm>
          <a:prstGeom prst="rect">
            <a:avLst/>
          </a:prstGeom>
          <a:noFill/>
          <a:ln/>
        </p:spPr>
        <p:txBody>
          <a:bodyPr wrap="square" lIns="0" tIns="0" rIns="0" bIns="0" rtlCol="0" anchor="ctr"/>
          <a:lstStyle/>
          <a:p>
            <a:pPr indent="0" marL="0">
              <a:buNone/>
            </a:pPr>
            <a:r>
              <a:rPr lang="en-US" sz="1300" b="1" dirty="0">
                <a:solidFill>
                  <a:schemeClr val="tx1"/>
                </a:solidFill>
              </a:rPr>
              <a:t>내 전용 테스트 페이지</a:t>
            </a:r>
            <a:endParaRPr lang="en-US" sz="1300" dirty="0"/>
          </a:p>
        </p:txBody>
      </p:sp>
      <p:sp>
        <p:nvSpPr>
          <p:cNvPr id="19" name="Text 17"/>
          <p:cNvSpPr txBox="1"/>
          <p:nvPr/>
        </p:nvSpPr>
        <p:spPr>
          <a:xfrm>
            <a:off x="1371600" y="4224528"/>
            <a:ext cx="4389120" cy="292608"/>
          </a:xfrm>
          <a:prstGeom prst="rect">
            <a:avLst/>
          </a:prstGeom>
          <a:noFill/>
          <a:ln/>
        </p:spPr>
        <p:txBody>
          <a:bodyPr wrap="square" lIns="0" tIns="0" rIns="0" bIns="0" rtlCol="0" anchor="ctr"/>
          <a:lstStyle/>
          <a:p>
            <a:pPr indent="0" marL="0">
              <a:buNone/>
            </a:pPr>
            <a:r>
              <a:rPr lang="en-US" sz="1100" dirty="0">
                <a:solidFill>
                  <a:schemeClr val="tx2"/>
                </a:solidFill>
              </a:rPr>
              <a:t>cdbd.in/editor/숫자 — 연습은 여기서만</a:t>
            </a:r>
            <a:endParaRPr lang="en-US" sz="1100" dirty="0"/>
          </a:p>
        </p:txBody>
      </p:sp>
      <p:sp>
        <p:nvSpPr>
          <p:cNvPr id="20" name="num"/>
          <p:cNvSpPr/>
          <p:nvPr/>
        </p:nvSpPr>
        <p:spPr>
          <a:xfrm>
            <a:off x="822960" y="4672584"/>
            <a:ext cx="384048" cy="384048"/>
          </a:xfrm>
          <a:prstGeom prst="ellipse">
            <a:avLst/>
          </a:prstGeom>
          <a:solidFill>
            <a:schemeClr val="accent1"/>
          </a:solidFill>
          <a:ln/>
        </p:spPr>
      </p:sp>
      <p:sp>
        <p:nvSpPr>
          <p:cNvPr id="21" name="Text 19"/>
          <p:cNvSpPr txBox="1"/>
          <p:nvPr/>
        </p:nvSpPr>
        <p:spPr>
          <a:xfrm>
            <a:off x="822960" y="46725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2" name="Text 20"/>
          <p:cNvSpPr txBox="1"/>
          <p:nvPr/>
        </p:nvSpPr>
        <p:spPr>
          <a:xfrm>
            <a:off x="1371600" y="4617720"/>
            <a:ext cx="4389120" cy="292608"/>
          </a:xfrm>
          <a:prstGeom prst="rect">
            <a:avLst/>
          </a:prstGeom>
          <a:noFill/>
          <a:ln/>
        </p:spPr>
        <p:txBody>
          <a:bodyPr wrap="square" lIns="0" tIns="0" rIns="0" bIns="0" rtlCol="0" anchor="ctr"/>
          <a:lstStyle/>
          <a:p>
            <a:pPr indent="0" marL="0">
              <a:buNone/>
            </a:pPr>
            <a:r>
              <a:rPr lang="en-US" sz="1300" b="1" dirty="0">
                <a:solidFill>
                  <a:schemeClr val="tx1"/>
                </a:solidFill>
              </a:rPr>
              <a:t>cdbd.env의 Supabase 2줄</a:t>
            </a:r>
            <a:endParaRPr lang="en-US" sz="1300" dirty="0"/>
          </a:p>
        </p:txBody>
      </p:sp>
      <p:sp>
        <p:nvSpPr>
          <p:cNvPr id="23" name="Text 21"/>
          <p:cNvSpPr txBox="1"/>
          <p:nvPr/>
        </p:nvSpPr>
        <p:spPr>
          <a:xfrm>
            <a:off x="1371600" y="4910328"/>
            <a:ext cx="4389120" cy="292608"/>
          </a:xfrm>
          <a:prstGeom prst="rect">
            <a:avLst/>
          </a:prstGeom>
          <a:noFill/>
          <a:ln/>
        </p:spPr>
        <p:txBody>
          <a:bodyPr wrap="square" lIns="0" tIns="0" rIns="0" bIns="0" rtlCol="0" anchor="ctr"/>
          <a:lstStyle/>
          <a:p>
            <a:pPr indent="0" marL="0">
              <a:buNone/>
            </a:pPr>
            <a:r>
              <a:rPr lang="en-US" sz="1100" dirty="0">
                <a:solidFill>
                  <a:schemeClr val="tx2"/>
                </a:solidFill>
              </a:rPr>
              <a:t>다른 팀원 파일에서 그대로 옮겨도 됨</a:t>
            </a:r>
            <a:endParaRPr lang="en-US" sz="1100" dirty="0"/>
          </a:p>
        </p:txBody>
      </p:sp>
      <p:sp>
        <p:nvSpPr>
          <p:cNvPr id="24" name="box-red"/>
          <p:cNvSpPr/>
          <p:nvPr/>
        </p:nvSpPr>
        <p:spPr>
          <a:xfrm>
            <a:off x="777240" y="5349240"/>
            <a:ext cx="4956048" cy="594360"/>
          </a:xfrm>
          <a:prstGeom prst="roundRect">
            <a:avLst>
              <a:gd name="adj" fmla="val 15385"/>
            </a:avLst>
          </a:prstGeom>
          <a:solidFill>
            <a:schemeClr val="accent5">
              <a:alpha val="10000"/>
            </a:schemeClr>
          </a:solidFill>
          <a:ln/>
        </p:spPr>
      </p:sp>
      <p:sp>
        <p:nvSpPr>
          <p:cNvPr id="25" name="box-text"/>
          <p:cNvSpPr txBox="1"/>
          <p:nvPr/>
        </p:nvSpPr>
        <p:spPr>
          <a:xfrm>
            <a:off x="978408" y="5477256"/>
            <a:ext cx="4553712" cy="356616"/>
          </a:xfrm>
          <a:prstGeom prst="rect">
            <a:avLst/>
          </a:prstGeom>
          <a:noFill/>
          <a:ln/>
        </p:spPr>
        <p:txBody>
          <a:bodyPr wrap="square" lIns="0" tIns="0" rIns="0" bIns="0" rtlCol="0" anchor="t"/>
          <a:lstStyle/>
          <a:p>
            <a:pPr indent="0" marL="0">
              <a:spcAft>
                <a:spcPts val="200"/>
              </a:spcAft>
              <a:buNone/>
            </a:pPr>
            <a:r>
              <a:rPr lang="en-US" sz="1150" b="1" dirty="0">
                <a:solidFill>
                  <a:schemeClr val="accent5"/>
                </a:solidFill>
              </a:rPr>
              <a:t>🔴 다른 사람의 credentials.json은 받지 마세요</a:t>
            </a:r>
            <a:endParaRPr lang="en-US" sz="1100" dirty="0"/>
          </a:p>
          <a:p>
            <a:pPr indent="0" marL="0">
              <a:spcAft>
                <a:spcPts val="200"/>
              </a:spcAft>
              <a:buNone/>
            </a:pPr>
            <a:endParaRPr lang="en-US" sz="1100" dirty="0"/>
          </a:p>
        </p:txBody>
      </p:sp>
      <p:sp>
        <p:nvSpPr>
          <p:cNvPr id="26" name="term-card"/>
          <p:cNvSpPr/>
          <p:nvPr/>
        </p:nvSpPr>
        <p:spPr>
          <a:xfrm>
            <a:off x="6227064" y="1874520"/>
            <a:ext cx="5413248" cy="4206240"/>
          </a:xfrm>
          <a:prstGeom prst="roundRect">
            <a:avLst>
              <a:gd name="adj" fmla="val 2609"/>
            </a:avLst>
          </a:prstGeom>
          <a:solidFill>
            <a:schemeClr val="bg1"/>
          </a:solidFill>
          <a:ln w="12700">
            <a:solidFill>
              <a:srgbClr val="E3E3EA"/>
            </a:solidFill>
            <a:prstDash val="solid"/>
          </a:ln>
        </p:spPr>
      </p:sp>
      <p:sp>
        <p:nvSpPr>
          <p:cNvPr id="27" name="Text 25"/>
          <p:cNvSpPr txBox="1"/>
          <p:nvPr/>
        </p:nvSpPr>
        <p:spPr>
          <a:xfrm>
            <a:off x="6492240" y="2084832"/>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터미널 쓰는 법 (이것만 알면 됩니다)</a:t>
            </a:r>
            <a:endParaRPr lang="en-US" sz="1500" dirty="0"/>
          </a:p>
        </p:txBody>
      </p:sp>
      <p:sp>
        <p:nvSpPr>
          <p:cNvPr id="28" name="num"/>
          <p:cNvSpPr/>
          <p:nvPr/>
        </p:nvSpPr>
        <p:spPr>
          <a:xfrm>
            <a:off x="6492240" y="2606040"/>
            <a:ext cx="384048" cy="384048"/>
          </a:xfrm>
          <a:prstGeom prst="ellipse">
            <a:avLst/>
          </a:prstGeom>
          <a:solidFill>
            <a:schemeClr val="tx1"/>
          </a:solidFill>
          <a:ln/>
        </p:spPr>
      </p:sp>
      <p:sp>
        <p:nvSpPr>
          <p:cNvPr id="29" name="Text 27"/>
          <p:cNvSpPr txBox="1"/>
          <p:nvPr/>
        </p:nvSpPr>
        <p:spPr>
          <a:xfrm>
            <a:off x="6492240" y="26060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30" name="Text 28"/>
          <p:cNvSpPr txBox="1"/>
          <p:nvPr/>
        </p:nvSpPr>
        <p:spPr>
          <a:xfrm>
            <a:off x="7040880" y="2560320"/>
            <a:ext cx="4434840" cy="329184"/>
          </a:xfrm>
          <a:prstGeom prst="rect">
            <a:avLst/>
          </a:prstGeom>
          <a:noFill/>
          <a:ln/>
        </p:spPr>
        <p:txBody>
          <a:bodyPr wrap="square" lIns="0" tIns="0" rIns="0" bIns="0" rtlCol="0" anchor="ctr"/>
          <a:lstStyle/>
          <a:p>
            <a:pPr indent="0" marL="0">
              <a:buNone/>
            </a:pPr>
            <a:r>
              <a:rPr lang="en-US" sz="1300" b="1" dirty="0">
                <a:solidFill>
                  <a:schemeClr val="tx1"/>
                </a:solidFill>
              </a:rPr>
              <a:t>⌘ + Space → 「터미널」 입력 → Enter</a:t>
            </a:r>
            <a:endParaRPr lang="en-US" sz="1300" dirty="0"/>
          </a:p>
        </p:txBody>
      </p:sp>
      <p:sp>
        <p:nvSpPr>
          <p:cNvPr id="31" name="Text 29"/>
          <p:cNvSpPr txBox="1"/>
          <p:nvPr/>
        </p:nvSpPr>
        <p:spPr>
          <a:xfrm>
            <a:off x="7040880" y="2889504"/>
            <a:ext cx="4434840" cy="329184"/>
          </a:xfrm>
          <a:prstGeom prst="rect">
            <a:avLst/>
          </a:prstGeom>
          <a:noFill/>
          <a:ln/>
        </p:spPr>
        <p:txBody>
          <a:bodyPr wrap="square" lIns="0" tIns="0" rIns="0" bIns="0" rtlCol="0" anchor="ctr"/>
          <a:lstStyle/>
          <a:p>
            <a:pPr indent="0" marL="0">
              <a:buNone/>
            </a:pPr>
            <a:r>
              <a:rPr lang="en-US" sz="1100" dirty="0">
                <a:solidFill>
                  <a:schemeClr val="tx2"/>
                </a:solidFill>
              </a:rPr>
              <a:t>검은(또는 흰) 창이 열리면 준비 끝</a:t>
            </a:r>
            <a:endParaRPr lang="en-US" sz="1100" dirty="0"/>
          </a:p>
        </p:txBody>
      </p:sp>
      <p:sp>
        <p:nvSpPr>
          <p:cNvPr id="32" name="num"/>
          <p:cNvSpPr/>
          <p:nvPr/>
        </p:nvSpPr>
        <p:spPr>
          <a:xfrm>
            <a:off x="6492240" y="3456432"/>
            <a:ext cx="384048" cy="384048"/>
          </a:xfrm>
          <a:prstGeom prst="ellipse">
            <a:avLst/>
          </a:prstGeom>
          <a:solidFill>
            <a:schemeClr val="tx1"/>
          </a:solidFill>
          <a:ln/>
        </p:spPr>
      </p:sp>
      <p:sp>
        <p:nvSpPr>
          <p:cNvPr id="33" name="Text 31"/>
          <p:cNvSpPr txBox="1"/>
          <p:nvPr/>
        </p:nvSpPr>
        <p:spPr>
          <a:xfrm>
            <a:off x="6492240" y="345643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4" name="Text 32"/>
          <p:cNvSpPr txBox="1"/>
          <p:nvPr/>
        </p:nvSpPr>
        <p:spPr>
          <a:xfrm>
            <a:off x="7040880" y="3410712"/>
            <a:ext cx="4434840" cy="329184"/>
          </a:xfrm>
          <a:prstGeom prst="rect">
            <a:avLst/>
          </a:prstGeom>
          <a:noFill/>
          <a:ln/>
        </p:spPr>
        <p:txBody>
          <a:bodyPr wrap="square" lIns="0" tIns="0" rIns="0" bIns="0" rtlCol="0" anchor="ctr"/>
          <a:lstStyle/>
          <a:p>
            <a:pPr indent="0" marL="0">
              <a:buNone/>
            </a:pPr>
            <a:r>
              <a:rPr lang="en-US" sz="1300" b="1" dirty="0">
                <a:solidFill>
                  <a:schemeClr val="tx1"/>
                </a:solidFill>
              </a:rPr>
              <a:t>이 자료의 명령을 통째로 복사 (⌘C)</a:t>
            </a:r>
            <a:endParaRPr lang="en-US" sz="1300" dirty="0"/>
          </a:p>
        </p:txBody>
      </p:sp>
      <p:sp>
        <p:nvSpPr>
          <p:cNvPr id="35" name="Text 33"/>
          <p:cNvSpPr txBox="1"/>
          <p:nvPr/>
        </p:nvSpPr>
        <p:spPr>
          <a:xfrm>
            <a:off x="7040880" y="3739896"/>
            <a:ext cx="4434840" cy="329184"/>
          </a:xfrm>
          <a:prstGeom prst="rect">
            <a:avLst/>
          </a:prstGeom>
          <a:noFill/>
          <a:ln/>
        </p:spPr>
        <p:txBody>
          <a:bodyPr wrap="square" lIns="0" tIns="0" rIns="0" bIns="0" rtlCol="0" anchor="ctr"/>
          <a:lstStyle/>
          <a:p>
            <a:pPr indent="0" marL="0">
              <a:buNone/>
            </a:pPr>
            <a:r>
              <a:rPr lang="en-US" sz="1100" dirty="0">
                <a:solidFill>
                  <a:schemeClr val="tx2"/>
                </a:solidFill>
              </a:rPr>
              <a:t>여러 줄이어도 한 번에 복사해도 됩니다</a:t>
            </a:r>
            <a:endParaRPr lang="en-US" sz="1100" dirty="0"/>
          </a:p>
        </p:txBody>
      </p:sp>
      <p:sp>
        <p:nvSpPr>
          <p:cNvPr id="36" name="num"/>
          <p:cNvSpPr/>
          <p:nvPr/>
        </p:nvSpPr>
        <p:spPr>
          <a:xfrm>
            <a:off x="6492240" y="4306824"/>
            <a:ext cx="384048" cy="384048"/>
          </a:xfrm>
          <a:prstGeom prst="ellipse">
            <a:avLst/>
          </a:prstGeom>
          <a:solidFill>
            <a:schemeClr val="tx1"/>
          </a:solidFill>
          <a:ln/>
        </p:spPr>
      </p:sp>
      <p:sp>
        <p:nvSpPr>
          <p:cNvPr id="37" name="Text 35"/>
          <p:cNvSpPr txBox="1"/>
          <p:nvPr/>
        </p:nvSpPr>
        <p:spPr>
          <a:xfrm>
            <a:off x="6492240" y="430682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8" name="Text 36"/>
          <p:cNvSpPr txBox="1"/>
          <p:nvPr/>
        </p:nvSpPr>
        <p:spPr>
          <a:xfrm>
            <a:off x="7040880" y="4261104"/>
            <a:ext cx="4434840" cy="329184"/>
          </a:xfrm>
          <a:prstGeom prst="rect">
            <a:avLst/>
          </a:prstGeom>
          <a:noFill/>
          <a:ln/>
        </p:spPr>
        <p:txBody>
          <a:bodyPr wrap="square" lIns="0" tIns="0" rIns="0" bIns="0" rtlCol="0" anchor="ctr"/>
          <a:lstStyle/>
          <a:p>
            <a:pPr indent="0" marL="0">
              <a:buNone/>
            </a:pPr>
            <a:r>
              <a:rPr lang="en-US" sz="1300" b="1" dirty="0">
                <a:solidFill>
                  <a:schemeClr val="tx1"/>
                </a:solidFill>
              </a:rPr>
              <a:t>터미널에 붙여넣기 (⌘V) → Enter</a:t>
            </a:r>
            <a:endParaRPr lang="en-US" sz="1300" dirty="0"/>
          </a:p>
        </p:txBody>
      </p:sp>
      <p:sp>
        <p:nvSpPr>
          <p:cNvPr id="39" name="Text 37"/>
          <p:cNvSpPr txBox="1"/>
          <p:nvPr/>
        </p:nvSpPr>
        <p:spPr>
          <a:xfrm>
            <a:off x="7040880" y="4590288"/>
            <a:ext cx="4434840" cy="329184"/>
          </a:xfrm>
          <a:prstGeom prst="rect">
            <a:avLst/>
          </a:prstGeom>
          <a:noFill/>
          <a:ln/>
        </p:spPr>
        <p:txBody>
          <a:bodyPr wrap="square" lIns="0" tIns="0" rIns="0" bIns="0" rtlCol="0" anchor="ctr"/>
          <a:lstStyle/>
          <a:p>
            <a:pPr indent="0" marL="0">
              <a:buNone/>
            </a:pPr>
            <a:r>
              <a:rPr lang="en-US" sz="1100" dirty="0">
                <a:solidFill>
                  <a:schemeClr val="tx2"/>
                </a:solidFill>
              </a:rPr>
              <a:t>끝나면 다시 맨 아래에 입력 줄(%)이 나옵니다</a:t>
            </a:r>
            <a:endParaRPr lang="en-US" sz="1100" dirty="0"/>
          </a:p>
        </p:txBody>
      </p:sp>
      <p:sp>
        <p:nvSpPr>
          <p:cNvPr id="40" name="num"/>
          <p:cNvSpPr/>
          <p:nvPr/>
        </p:nvSpPr>
        <p:spPr>
          <a:xfrm>
            <a:off x="6492240" y="5157216"/>
            <a:ext cx="384048" cy="384048"/>
          </a:xfrm>
          <a:prstGeom prst="ellipse">
            <a:avLst/>
          </a:prstGeom>
          <a:solidFill>
            <a:schemeClr val="tx1"/>
          </a:solidFill>
          <a:ln/>
        </p:spPr>
      </p:sp>
      <p:sp>
        <p:nvSpPr>
          <p:cNvPr id="41" name="Text 39"/>
          <p:cNvSpPr txBox="1"/>
          <p:nvPr/>
        </p:nvSpPr>
        <p:spPr>
          <a:xfrm>
            <a:off x="6492240" y="51572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2" name="Text 40"/>
          <p:cNvSpPr txBox="1"/>
          <p:nvPr/>
        </p:nvSpPr>
        <p:spPr>
          <a:xfrm>
            <a:off x="7040880" y="5111496"/>
            <a:ext cx="4434840" cy="329184"/>
          </a:xfrm>
          <a:prstGeom prst="rect">
            <a:avLst/>
          </a:prstGeom>
          <a:noFill/>
          <a:ln/>
        </p:spPr>
        <p:txBody>
          <a:bodyPr wrap="square" lIns="0" tIns="0" rIns="0" bIns="0" rtlCol="0" anchor="ctr"/>
          <a:lstStyle/>
          <a:p>
            <a:pPr indent="0" marL="0">
              <a:buNone/>
            </a:pPr>
            <a:r>
              <a:rPr lang="en-US" sz="1300" b="1" dirty="0">
                <a:solidFill>
                  <a:schemeClr val="tx1"/>
                </a:solidFill>
              </a:rPr>
              <a:t>비밀번호를 물으면 맥 로그인 비밀번호</a:t>
            </a:r>
            <a:endParaRPr lang="en-US" sz="1300" dirty="0"/>
          </a:p>
        </p:txBody>
      </p:sp>
      <p:sp>
        <p:nvSpPr>
          <p:cNvPr id="43" name="Text 41"/>
          <p:cNvSpPr txBox="1"/>
          <p:nvPr/>
        </p:nvSpPr>
        <p:spPr>
          <a:xfrm>
            <a:off x="7040880" y="5440680"/>
            <a:ext cx="4434840" cy="329184"/>
          </a:xfrm>
          <a:prstGeom prst="rect">
            <a:avLst/>
          </a:prstGeom>
          <a:noFill/>
          <a:ln/>
        </p:spPr>
        <p:txBody>
          <a:bodyPr wrap="square" lIns="0" tIns="0" rIns="0" bIns="0" rtlCol="0" anchor="ctr"/>
          <a:lstStyle/>
          <a:p>
            <a:pPr indent="0" marL="0">
              <a:buNone/>
            </a:pPr>
            <a:r>
              <a:rPr lang="en-US" sz="1100" dirty="0">
                <a:solidFill>
                  <a:schemeClr val="tx2"/>
                </a:solidFill>
              </a:rPr>
              <a:t>입력해도 화면에 안 보이는 게 정상</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04  어디서부터</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어디서부터 시작하나요?</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GitHub 계정은 모두 같습니다 — 차이는 「이 맥에 볼트 6개가 이미 있느냐」 하나뿐입니다.</a:t>
            </a:r>
            <a:endParaRPr lang="en-US" sz="1400" dirty="0"/>
          </a:p>
        </p:txBody>
      </p:sp>
      <p:sp>
        <p:nvSpPr>
          <p:cNvPr id="6" name="path-card"/>
          <p:cNvSpPr/>
          <p:nvPr/>
        </p:nvSpPr>
        <p:spPr>
          <a:xfrm>
            <a:off x="548640" y="1874520"/>
            <a:ext cx="5413248" cy="3657600"/>
          </a:xfrm>
          <a:prstGeom prst="roundRect">
            <a:avLst>
              <a:gd name="adj" fmla="val 3000"/>
            </a:avLst>
          </a:prstGeom>
          <a:solidFill>
            <a:schemeClr val="bg2"/>
          </a:solidFill>
          <a:ln/>
        </p:spPr>
      </p:sp>
      <p:sp>
        <p:nvSpPr>
          <p:cNvPr id="7" name="num"/>
          <p:cNvSpPr/>
          <p:nvPr/>
        </p:nvSpPr>
        <p:spPr>
          <a:xfrm>
            <a:off x="822960" y="2103120"/>
            <a:ext cx="502920" cy="502920"/>
          </a:xfrm>
          <a:prstGeom prst="ellipse">
            <a:avLst/>
          </a:prstGeom>
          <a:solidFill>
            <a:schemeClr val="accent1"/>
          </a:solidFill>
          <a:ln/>
        </p:spPr>
      </p:sp>
      <p:sp>
        <p:nvSpPr>
          <p:cNvPr id="8" name="Text 6"/>
          <p:cNvSpPr txBox="1"/>
          <p:nvPr/>
        </p:nvSpPr>
        <p:spPr>
          <a:xfrm>
            <a:off x="822960" y="210312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9" name="Text 7"/>
          <p:cNvSpPr txBox="1"/>
          <p:nvPr/>
        </p:nvSpPr>
        <p:spPr>
          <a:xfrm>
            <a:off x="1463040" y="2057400"/>
            <a:ext cx="3218688" cy="365760"/>
          </a:xfrm>
          <a:prstGeom prst="rect">
            <a:avLst/>
          </a:prstGeom>
          <a:noFill/>
          <a:ln/>
        </p:spPr>
        <p:txBody>
          <a:bodyPr wrap="square" lIns="0" tIns="0" rIns="0" bIns="0" rtlCol="0" anchor="ctr"/>
          <a:lstStyle/>
          <a:p>
            <a:pPr indent="0" marL="0">
              <a:buNone/>
            </a:pPr>
            <a:r>
              <a:rPr lang="en-US" sz="1600" b="1" dirty="0">
                <a:solidFill>
                  <a:schemeClr val="tx1"/>
                </a:solidFill>
              </a:rPr>
              <a:t>이 맥에 볼트가 아직 없다</a:t>
            </a:r>
            <a:endParaRPr lang="en-US" sz="1600" dirty="0"/>
          </a:p>
        </p:txBody>
      </p:sp>
      <p:sp>
        <p:nvSpPr>
          <p:cNvPr id="10" name="Text 8"/>
          <p:cNvSpPr txBox="1"/>
          <p:nvPr/>
        </p:nvSpPr>
        <p:spPr>
          <a:xfrm>
            <a:off x="1463040" y="2404872"/>
            <a:ext cx="4224528" cy="274320"/>
          </a:xfrm>
          <a:prstGeom prst="rect">
            <a:avLst/>
          </a:prstGeom>
          <a:noFill/>
          <a:ln/>
        </p:spPr>
        <p:txBody>
          <a:bodyPr wrap="square" lIns="0" tIns="0" rIns="0" bIns="0" rtlCol="0" anchor="ctr"/>
          <a:lstStyle/>
          <a:p>
            <a:pPr indent="0" marL="0">
              <a:buNone/>
            </a:pPr>
            <a:r>
              <a:rPr lang="en-US" sz="1100" dirty="0">
                <a:solidFill>
                  <a:schemeClr val="tx2"/>
                </a:solidFill>
              </a:rPr>
              <a:t>새 맥 · 볼트를 받아 본 적 없는 팀원</a:t>
            </a:r>
            <a:endParaRPr lang="en-US" sz="1100" dirty="0"/>
          </a:p>
        </p:txBody>
      </p:sp>
      <p:sp>
        <p:nvSpPr>
          <p:cNvPr id="11" name="pill-bg"/>
          <p:cNvSpPr/>
          <p:nvPr/>
        </p:nvSpPr>
        <p:spPr>
          <a:xfrm>
            <a:off x="4727448" y="2121408"/>
            <a:ext cx="960120" cy="256032"/>
          </a:xfrm>
          <a:prstGeom prst="roundRect">
            <a:avLst>
              <a:gd name="adj" fmla="val 50000"/>
            </a:avLst>
          </a:prstGeom>
          <a:solidFill>
            <a:schemeClr val="accent1">
              <a:alpha val="14000"/>
            </a:schemeClr>
          </a:solidFill>
          <a:ln/>
        </p:spPr>
      </p:sp>
      <p:sp>
        <p:nvSpPr>
          <p:cNvPr id="12" name="pill"/>
          <p:cNvSpPr txBox="1"/>
          <p:nvPr/>
        </p:nvSpPr>
        <p:spPr>
          <a:xfrm>
            <a:off x="4727448" y="2121408"/>
            <a:ext cx="960120" cy="256032"/>
          </a:xfrm>
          <a:prstGeom prst="rect">
            <a:avLst/>
          </a:prstGeom>
          <a:noFill/>
          <a:ln/>
        </p:spPr>
        <p:txBody>
          <a:bodyPr wrap="square" lIns="0" tIns="0" rIns="0" bIns="0" rtlCol="0" anchor="ctr"/>
          <a:lstStyle/>
          <a:p>
            <a:pPr algn="ctr" indent="0" marL="0">
              <a:buNone/>
            </a:pPr>
            <a:r>
              <a:rPr lang="en-US" sz="950" b="1" dirty="0">
                <a:solidFill>
                  <a:schemeClr val="accent1"/>
                </a:solidFill>
              </a:rPr>
              <a:t>약 1시간</a:t>
            </a:r>
            <a:endParaRPr lang="en-US" sz="950" dirty="0"/>
          </a:p>
        </p:txBody>
      </p:sp>
      <p:sp>
        <p:nvSpPr>
          <p:cNvPr id="13" name="Text 11"/>
          <p:cNvSpPr txBox="1"/>
          <p:nvPr/>
        </p:nvSpPr>
        <p:spPr>
          <a:xfrm>
            <a:off x="868680" y="2880360"/>
            <a:ext cx="274320" cy="457200"/>
          </a:xfrm>
          <a:prstGeom prst="rect">
            <a:avLst/>
          </a:prstGeom>
          <a:noFill/>
          <a:ln/>
        </p:spPr>
        <p:txBody>
          <a:bodyPr wrap="square" lIns="0" tIns="0" rIns="0" bIns="0" rtlCol="0" anchor="ctr"/>
          <a:lstStyle/>
          <a:p>
            <a:pPr indent="0" marL="0">
              <a:buNone/>
            </a:pPr>
            <a:r>
              <a:rPr lang="en-US" sz="1200" b="1" dirty="0">
                <a:solidFill>
                  <a:schemeClr val="accent1"/>
                </a:solidFill>
              </a:rPr>
              <a:t>1</a:t>
            </a:r>
            <a:endParaRPr lang="en-US" sz="1200" dirty="0"/>
          </a:p>
        </p:txBody>
      </p:sp>
      <p:sp>
        <p:nvSpPr>
          <p:cNvPr id="14" name="Text 12"/>
          <p:cNvSpPr txBox="1"/>
          <p:nvPr/>
        </p:nvSpPr>
        <p:spPr>
          <a:xfrm>
            <a:off x="1188720" y="2880360"/>
            <a:ext cx="4544568" cy="237744"/>
          </a:xfrm>
          <a:prstGeom prst="rect">
            <a:avLst/>
          </a:prstGeom>
          <a:noFill/>
          <a:ln/>
        </p:spPr>
        <p:txBody>
          <a:bodyPr wrap="square" lIns="0" tIns="0" rIns="0" bIns="0" rtlCol="0" anchor="ctr"/>
          <a:lstStyle/>
          <a:p>
            <a:pPr indent="0" marL="0">
              <a:buNone/>
            </a:pPr>
            <a:r>
              <a:rPr lang="en-US" sz="1250" b="1" dirty="0">
                <a:solidFill>
                  <a:schemeClr val="tx1"/>
                </a:solidFill>
              </a:rPr>
              <a:t>옵시디언 설치 · 준비물 받기</a:t>
            </a:r>
            <a:endParaRPr lang="en-US" sz="1250" dirty="0"/>
          </a:p>
        </p:txBody>
      </p:sp>
      <p:sp>
        <p:nvSpPr>
          <p:cNvPr id="15" name="Text 13"/>
          <p:cNvSpPr txBox="1"/>
          <p:nvPr/>
        </p:nvSpPr>
        <p:spPr>
          <a:xfrm>
            <a:off x="1188720" y="3118104"/>
            <a:ext cx="4544568" cy="228600"/>
          </a:xfrm>
          <a:prstGeom prst="rect">
            <a:avLst/>
          </a:prstGeom>
          <a:noFill/>
          <a:ln/>
        </p:spPr>
        <p:txBody>
          <a:bodyPr wrap="square" lIns="0" tIns="0" rIns="0" bIns="0" rtlCol="0" anchor="ctr"/>
          <a:lstStyle/>
          <a:p>
            <a:pPr indent="0" marL="0">
              <a:buNone/>
            </a:pPr>
            <a:r>
              <a:rPr lang="en-US" sz="1050" dirty="0">
                <a:solidFill>
                  <a:schemeClr val="tx2"/>
                </a:solidFill>
              </a:rPr>
              <a:t>ONBOARDING §2</a:t>
            </a:r>
            <a:endParaRPr lang="en-US" sz="1050" dirty="0"/>
          </a:p>
        </p:txBody>
      </p:sp>
      <p:sp>
        <p:nvSpPr>
          <p:cNvPr id="16" name="Text 14"/>
          <p:cNvSpPr txBox="1"/>
          <p:nvPr/>
        </p:nvSpPr>
        <p:spPr>
          <a:xfrm>
            <a:off x="868680" y="3401568"/>
            <a:ext cx="274320" cy="457200"/>
          </a:xfrm>
          <a:prstGeom prst="rect">
            <a:avLst/>
          </a:prstGeom>
          <a:noFill/>
          <a:ln/>
        </p:spPr>
        <p:txBody>
          <a:bodyPr wrap="square" lIns="0" tIns="0" rIns="0" bIns="0" rtlCol="0" anchor="ctr"/>
          <a:lstStyle/>
          <a:p>
            <a:pPr indent="0" marL="0">
              <a:buNone/>
            </a:pPr>
            <a:r>
              <a:rPr lang="en-US" sz="1200" b="1" dirty="0">
                <a:solidFill>
                  <a:schemeClr val="accent1"/>
                </a:solidFill>
              </a:rPr>
              <a:t>2</a:t>
            </a:r>
            <a:endParaRPr lang="en-US" sz="1200" dirty="0"/>
          </a:p>
        </p:txBody>
      </p:sp>
      <p:sp>
        <p:nvSpPr>
          <p:cNvPr id="17" name="Text 15"/>
          <p:cNvSpPr txBox="1"/>
          <p:nvPr/>
        </p:nvSpPr>
        <p:spPr>
          <a:xfrm>
            <a:off x="1188720" y="3401568"/>
            <a:ext cx="4544568" cy="237744"/>
          </a:xfrm>
          <a:prstGeom prst="rect">
            <a:avLst/>
          </a:prstGeom>
          <a:noFill/>
          <a:ln/>
        </p:spPr>
        <p:txBody>
          <a:bodyPr wrap="square" lIns="0" tIns="0" rIns="0" bIns="0" rtlCol="0" anchor="ctr"/>
          <a:lstStyle/>
          <a:p>
            <a:pPr indent="0" marL="0">
              <a:buNone/>
            </a:pPr>
            <a:r>
              <a:rPr lang="en-US" sz="1250" b="1" dirty="0">
                <a:solidFill>
                  <a:schemeClr val="tx1"/>
                </a:solidFill>
              </a:rPr>
              <a:t>SSH 키 만들기 → 공용 GitHub 계정에 등록</a:t>
            </a:r>
            <a:endParaRPr lang="en-US" sz="1250" dirty="0"/>
          </a:p>
        </p:txBody>
      </p:sp>
      <p:sp>
        <p:nvSpPr>
          <p:cNvPr id="18" name="Text 16"/>
          <p:cNvSpPr txBox="1"/>
          <p:nvPr/>
        </p:nvSpPr>
        <p:spPr>
          <a:xfrm>
            <a:off x="1188720" y="3639312"/>
            <a:ext cx="4544568" cy="228600"/>
          </a:xfrm>
          <a:prstGeom prst="rect">
            <a:avLst/>
          </a:prstGeom>
          <a:noFill/>
          <a:ln/>
        </p:spPr>
        <p:txBody>
          <a:bodyPr wrap="square" lIns="0" tIns="0" rIns="0" bIns="0" rtlCol="0" anchor="ctr"/>
          <a:lstStyle/>
          <a:p>
            <a:pPr indent="0" marL="0">
              <a:buNone/>
            </a:pPr>
            <a:r>
              <a:rPr lang="en-US" sz="1050" dirty="0">
                <a:solidFill>
                  <a:schemeClr val="tx2"/>
                </a:solidFill>
              </a:rPr>
              <a:t>§3-1 · §3-2 — 맥마다 새로 만들어요</a:t>
            </a:r>
            <a:endParaRPr lang="en-US" sz="1050" dirty="0"/>
          </a:p>
        </p:txBody>
      </p:sp>
      <p:sp>
        <p:nvSpPr>
          <p:cNvPr id="19" name="Text 17"/>
          <p:cNvSpPr txBox="1"/>
          <p:nvPr/>
        </p:nvSpPr>
        <p:spPr>
          <a:xfrm>
            <a:off x="868680" y="3922776"/>
            <a:ext cx="274320" cy="457200"/>
          </a:xfrm>
          <a:prstGeom prst="rect">
            <a:avLst/>
          </a:prstGeom>
          <a:noFill/>
          <a:ln/>
        </p:spPr>
        <p:txBody>
          <a:bodyPr wrap="square" lIns="0" tIns="0" rIns="0" bIns="0" rtlCol="0" anchor="ctr"/>
          <a:lstStyle/>
          <a:p>
            <a:pPr indent="0" marL="0">
              <a:buNone/>
            </a:pPr>
            <a:r>
              <a:rPr lang="en-US" sz="1200" b="1" dirty="0">
                <a:solidFill>
                  <a:schemeClr val="accent1"/>
                </a:solidFill>
              </a:rPr>
              <a:t>3</a:t>
            </a:r>
            <a:endParaRPr lang="en-US" sz="1200" dirty="0"/>
          </a:p>
        </p:txBody>
      </p:sp>
      <p:sp>
        <p:nvSpPr>
          <p:cNvPr id="20" name="Text 18"/>
          <p:cNvSpPr txBox="1"/>
          <p:nvPr/>
        </p:nvSpPr>
        <p:spPr>
          <a:xfrm>
            <a:off x="1188720" y="3922776"/>
            <a:ext cx="4544568" cy="237744"/>
          </a:xfrm>
          <a:prstGeom prst="rect">
            <a:avLst/>
          </a:prstGeom>
          <a:noFill/>
          <a:ln/>
        </p:spPr>
        <p:txBody>
          <a:bodyPr wrap="square" lIns="0" tIns="0" rIns="0" bIns="0" rtlCol="0" anchor="ctr"/>
          <a:lstStyle/>
          <a:p>
            <a:pPr indent="0" marL="0">
              <a:buNone/>
            </a:pPr>
            <a:r>
              <a:rPr lang="en-US" sz="1250" b="1" dirty="0">
                <a:solidFill>
                  <a:schemeClr val="tx1"/>
                </a:solidFill>
              </a:rPr>
              <a:t>저장소 6개 받기</a:t>
            </a:r>
            <a:endParaRPr lang="en-US" sz="1250" dirty="0"/>
          </a:p>
        </p:txBody>
      </p:sp>
      <p:sp>
        <p:nvSpPr>
          <p:cNvPr id="21" name="Text 19"/>
          <p:cNvSpPr txBox="1"/>
          <p:nvPr/>
        </p:nvSpPr>
        <p:spPr>
          <a:xfrm>
            <a:off x="1188720" y="4160520"/>
            <a:ext cx="4544568" cy="228600"/>
          </a:xfrm>
          <a:prstGeom prst="rect">
            <a:avLst/>
          </a:prstGeom>
          <a:noFill/>
          <a:ln/>
        </p:spPr>
        <p:txBody>
          <a:bodyPr wrap="square" lIns="0" tIns="0" rIns="0" bIns="0" rtlCol="0" anchor="ctr"/>
          <a:lstStyle/>
          <a:p>
            <a:pPr indent="0" marL="0">
              <a:buNone/>
            </a:pPr>
            <a:r>
              <a:rPr lang="en-US" sz="1050" dirty="0">
                <a:solidFill>
                  <a:schemeClr val="tx2"/>
                </a:solidFill>
              </a:rPr>
              <a:t>§3-3 — 꼭 ~/Documents/GitHub/design 안에</a:t>
            </a:r>
            <a:endParaRPr lang="en-US" sz="1050" dirty="0"/>
          </a:p>
        </p:txBody>
      </p:sp>
      <p:sp>
        <p:nvSpPr>
          <p:cNvPr id="22" name="Text 20"/>
          <p:cNvSpPr txBox="1"/>
          <p:nvPr/>
        </p:nvSpPr>
        <p:spPr>
          <a:xfrm>
            <a:off x="868680" y="4443984"/>
            <a:ext cx="274320" cy="457200"/>
          </a:xfrm>
          <a:prstGeom prst="rect">
            <a:avLst/>
          </a:prstGeom>
          <a:noFill/>
          <a:ln/>
        </p:spPr>
        <p:txBody>
          <a:bodyPr wrap="square" lIns="0" tIns="0" rIns="0" bIns="0" rtlCol="0" anchor="ctr"/>
          <a:lstStyle/>
          <a:p>
            <a:pPr indent="0" marL="0">
              <a:buNone/>
            </a:pPr>
            <a:r>
              <a:rPr lang="en-US" sz="1200" b="1" dirty="0">
                <a:solidFill>
                  <a:schemeClr val="accent1"/>
                </a:solidFill>
              </a:rPr>
              <a:t>4</a:t>
            </a:r>
            <a:endParaRPr lang="en-US" sz="1200" dirty="0"/>
          </a:p>
        </p:txBody>
      </p:sp>
      <p:sp>
        <p:nvSpPr>
          <p:cNvPr id="23" name="Text 21"/>
          <p:cNvSpPr txBox="1"/>
          <p:nvPr/>
        </p:nvSpPr>
        <p:spPr>
          <a:xfrm>
            <a:off x="1188720" y="4443984"/>
            <a:ext cx="4544568" cy="237744"/>
          </a:xfrm>
          <a:prstGeom prst="rect">
            <a:avLst/>
          </a:prstGeom>
          <a:noFill/>
          <a:ln/>
        </p:spPr>
        <p:txBody>
          <a:bodyPr wrap="square" lIns="0" tIns="0" rIns="0" bIns="0" rtlCol="0" anchor="ctr"/>
          <a:lstStyle/>
          <a:p>
            <a:pPr indent="0" marL="0">
              <a:buNone/>
            </a:pPr>
            <a:r>
              <a:rPr lang="en-US" sz="1250" b="1" dirty="0">
                <a:solidFill>
                  <a:schemeClr val="tx1"/>
                </a:solidFill>
              </a:rPr>
              <a:t>옵시디언에서 볼트 6개 열기 · obsidian-git 설정</a:t>
            </a:r>
            <a:endParaRPr lang="en-US" sz="1250" dirty="0"/>
          </a:p>
        </p:txBody>
      </p:sp>
      <p:sp>
        <p:nvSpPr>
          <p:cNvPr id="24" name="Text 22"/>
          <p:cNvSpPr txBox="1"/>
          <p:nvPr/>
        </p:nvSpPr>
        <p:spPr>
          <a:xfrm>
            <a:off x="1188720" y="4681728"/>
            <a:ext cx="4544568" cy="228600"/>
          </a:xfrm>
          <a:prstGeom prst="rect">
            <a:avLst/>
          </a:prstGeom>
          <a:noFill/>
          <a:ln/>
        </p:spPr>
        <p:txBody>
          <a:bodyPr wrap="square" lIns="0" tIns="0" rIns="0" bIns="0" rtlCol="0" anchor="ctr"/>
          <a:lstStyle/>
          <a:p>
            <a:pPr indent="0" marL="0">
              <a:buNone/>
            </a:pPr>
            <a:r>
              <a:rPr lang="en-US" sz="1050" dirty="0">
                <a:solidFill>
                  <a:schemeClr val="tx2"/>
                </a:solidFill>
              </a:rPr>
              <a:t>§3-4 · §3-5</a:t>
            </a:r>
            <a:endParaRPr lang="en-US" sz="1050" dirty="0"/>
          </a:p>
        </p:txBody>
      </p:sp>
      <p:sp>
        <p:nvSpPr>
          <p:cNvPr id="25" name="Text 23"/>
          <p:cNvSpPr txBox="1"/>
          <p:nvPr/>
        </p:nvSpPr>
        <p:spPr>
          <a:xfrm>
            <a:off x="868680" y="4965192"/>
            <a:ext cx="274320" cy="457200"/>
          </a:xfrm>
          <a:prstGeom prst="rect">
            <a:avLst/>
          </a:prstGeom>
          <a:noFill/>
          <a:ln/>
        </p:spPr>
        <p:txBody>
          <a:bodyPr wrap="square" lIns="0" tIns="0" rIns="0" bIns="0" rtlCol="0" anchor="ctr"/>
          <a:lstStyle/>
          <a:p>
            <a:pPr indent="0" marL="0">
              <a:buNone/>
            </a:pPr>
            <a:r>
              <a:rPr lang="en-US" sz="1200" b="1" dirty="0">
                <a:solidFill>
                  <a:schemeClr val="accent1"/>
                </a:solidFill>
              </a:rPr>
              <a:t>5</a:t>
            </a:r>
            <a:endParaRPr lang="en-US" sz="1200" dirty="0"/>
          </a:p>
        </p:txBody>
      </p:sp>
      <p:sp>
        <p:nvSpPr>
          <p:cNvPr id="26" name="Text 24"/>
          <p:cNvSpPr txBox="1"/>
          <p:nvPr/>
        </p:nvSpPr>
        <p:spPr>
          <a:xfrm>
            <a:off x="1188720" y="4965192"/>
            <a:ext cx="4544568" cy="237744"/>
          </a:xfrm>
          <a:prstGeom prst="rect">
            <a:avLst/>
          </a:prstGeom>
          <a:noFill/>
          <a:ln/>
        </p:spPr>
        <p:txBody>
          <a:bodyPr wrap="square" lIns="0" tIns="0" rIns="0" bIns="0" rtlCol="0" anchor="ctr"/>
          <a:lstStyle/>
          <a:p>
            <a:pPr indent="0" marL="0">
              <a:buNone/>
            </a:pPr>
            <a:r>
              <a:rPr lang="en-US" sz="1250" b="1" dirty="0">
                <a:solidFill>
                  <a:schemeClr val="accent1"/>
                </a:solidFill>
              </a:rPr>
              <a:t>STEP 1~9</a:t>
            </a:r>
            <a:endParaRPr lang="en-US" sz="1250" dirty="0"/>
          </a:p>
        </p:txBody>
      </p:sp>
      <p:sp>
        <p:nvSpPr>
          <p:cNvPr id="27" name="Text 25"/>
          <p:cNvSpPr txBox="1"/>
          <p:nvPr/>
        </p:nvSpPr>
        <p:spPr>
          <a:xfrm>
            <a:off x="1188720" y="5202936"/>
            <a:ext cx="4544568" cy="228600"/>
          </a:xfrm>
          <a:prstGeom prst="rect">
            <a:avLst/>
          </a:prstGeom>
          <a:noFill/>
          <a:ln/>
        </p:spPr>
        <p:txBody>
          <a:bodyPr wrap="square" lIns="0" tIns="0" rIns="0" bIns="0" rtlCol="0" anchor="ctr"/>
          <a:lstStyle/>
          <a:p>
            <a:pPr indent="0" marL="0">
              <a:buNone/>
            </a:pPr>
            <a:r>
              <a:rPr lang="en-US" sz="1050" dirty="0">
                <a:solidFill>
                  <a:schemeClr val="tx2"/>
                </a:solidFill>
              </a:rPr>
              <a:t>Claude 셋업 — 다음 장부터</a:t>
            </a:r>
            <a:endParaRPr lang="en-US" sz="1050" dirty="0"/>
          </a:p>
        </p:txBody>
      </p:sp>
      <p:sp>
        <p:nvSpPr>
          <p:cNvPr id="28" name="path-card"/>
          <p:cNvSpPr/>
          <p:nvPr/>
        </p:nvSpPr>
        <p:spPr>
          <a:xfrm>
            <a:off x="6231636" y="1874520"/>
            <a:ext cx="5413248" cy="3657600"/>
          </a:xfrm>
          <a:prstGeom prst="roundRect">
            <a:avLst>
              <a:gd name="adj" fmla="val 3000"/>
            </a:avLst>
          </a:prstGeom>
          <a:solidFill>
            <a:schemeClr val="accent3">
              <a:alpha val="8000"/>
            </a:schemeClr>
          </a:solidFill>
          <a:ln/>
        </p:spPr>
      </p:sp>
      <p:sp>
        <p:nvSpPr>
          <p:cNvPr id="29" name="num"/>
          <p:cNvSpPr/>
          <p:nvPr/>
        </p:nvSpPr>
        <p:spPr>
          <a:xfrm>
            <a:off x="6505956" y="2103120"/>
            <a:ext cx="502920" cy="502920"/>
          </a:xfrm>
          <a:prstGeom prst="ellipse">
            <a:avLst/>
          </a:prstGeom>
          <a:solidFill>
            <a:schemeClr val="accent3"/>
          </a:solidFill>
          <a:ln/>
        </p:spPr>
      </p:sp>
      <p:sp>
        <p:nvSpPr>
          <p:cNvPr id="30" name="Text 28"/>
          <p:cNvSpPr txBox="1"/>
          <p:nvPr/>
        </p:nvSpPr>
        <p:spPr>
          <a:xfrm>
            <a:off x="6505956" y="210312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31" name="Text 29"/>
          <p:cNvSpPr txBox="1"/>
          <p:nvPr/>
        </p:nvSpPr>
        <p:spPr>
          <a:xfrm>
            <a:off x="7146036" y="2057400"/>
            <a:ext cx="3218688" cy="365760"/>
          </a:xfrm>
          <a:prstGeom prst="rect">
            <a:avLst/>
          </a:prstGeom>
          <a:noFill/>
          <a:ln/>
        </p:spPr>
        <p:txBody>
          <a:bodyPr wrap="square" lIns="0" tIns="0" rIns="0" bIns="0" rtlCol="0" anchor="ctr"/>
          <a:lstStyle/>
          <a:p>
            <a:pPr indent="0" marL="0">
              <a:buNone/>
            </a:pPr>
            <a:r>
              <a:rPr lang="en-US" sz="1600" b="1" dirty="0">
                <a:solidFill>
                  <a:schemeClr val="tx1"/>
                </a:solidFill>
              </a:rPr>
              <a:t>볼트 6개가 이미 이 맥에 있다</a:t>
            </a:r>
            <a:endParaRPr lang="en-US" sz="1600" dirty="0"/>
          </a:p>
        </p:txBody>
      </p:sp>
      <p:sp>
        <p:nvSpPr>
          <p:cNvPr id="32" name="Text 30"/>
          <p:cNvSpPr txBox="1"/>
          <p:nvPr/>
        </p:nvSpPr>
        <p:spPr>
          <a:xfrm>
            <a:off x="7146036" y="2404872"/>
            <a:ext cx="4224528" cy="274320"/>
          </a:xfrm>
          <a:prstGeom prst="rect">
            <a:avLst/>
          </a:prstGeom>
          <a:noFill/>
          <a:ln/>
        </p:spPr>
        <p:txBody>
          <a:bodyPr wrap="square" lIns="0" tIns="0" rIns="0" bIns="0" rtlCol="0" anchor="ctr"/>
          <a:lstStyle/>
          <a:p>
            <a:pPr indent="0" marL="0">
              <a:buNone/>
            </a:pPr>
            <a:r>
              <a:rPr lang="en-US" sz="1100" dirty="0">
                <a:solidFill>
                  <a:schemeClr val="tx2"/>
                </a:solidFill>
              </a:rPr>
              <a:t>같은 GitHub 계정으로 볼트를 쓰고 있는 맥</a:t>
            </a:r>
            <a:endParaRPr lang="en-US" sz="1100" dirty="0"/>
          </a:p>
        </p:txBody>
      </p:sp>
      <p:sp>
        <p:nvSpPr>
          <p:cNvPr id="33" name="pill-bg"/>
          <p:cNvSpPr/>
          <p:nvPr/>
        </p:nvSpPr>
        <p:spPr>
          <a:xfrm>
            <a:off x="10410444" y="2121408"/>
            <a:ext cx="960120" cy="256032"/>
          </a:xfrm>
          <a:prstGeom prst="roundRect">
            <a:avLst>
              <a:gd name="adj" fmla="val 50000"/>
            </a:avLst>
          </a:prstGeom>
          <a:solidFill>
            <a:schemeClr val="accent3">
              <a:alpha val="14000"/>
            </a:schemeClr>
          </a:solidFill>
          <a:ln/>
        </p:spPr>
      </p:sp>
      <p:sp>
        <p:nvSpPr>
          <p:cNvPr id="34" name="pill"/>
          <p:cNvSpPr txBox="1"/>
          <p:nvPr/>
        </p:nvSpPr>
        <p:spPr>
          <a:xfrm>
            <a:off x="10410444" y="2121408"/>
            <a:ext cx="960120" cy="256032"/>
          </a:xfrm>
          <a:prstGeom prst="rect">
            <a:avLst/>
          </a:prstGeom>
          <a:noFill/>
          <a:ln/>
        </p:spPr>
        <p:txBody>
          <a:bodyPr wrap="square" lIns="0" tIns="0" rIns="0" bIns="0" rtlCol="0" anchor="ctr"/>
          <a:lstStyle/>
          <a:p>
            <a:pPr algn="ctr" indent="0" marL="0">
              <a:buNone/>
            </a:pPr>
            <a:r>
              <a:rPr lang="en-US" sz="950" b="1" dirty="0">
                <a:solidFill>
                  <a:schemeClr val="accent3"/>
                </a:solidFill>
              </a:rPr>
              <a:t>약 30분</a:t>
            </a:r>
            <a:endParaRPr lang="en-US" sz="950" dirty="0"/>
          </a:p>
        </p:txBody>
      </p:sp>
      <p:sp>
        <p:nvSpPr>
          <p:cNvPr id="35" name="Text 33"/>
          <p:cNvSpPr txBox="1"/>
          <p:nvPr/>
        </p:nvSpPr>
        <p:spPr>
          <a:xfrm>
            <a:off x="6551676" y="2880360"/>
            <a:ext cx="274320" cy="457200"/>
          </a:xfrm>
          <a:prstGeom prst="rect">
            <a:avLst/>
          </a:prstGeom>
          <a:noFill/>
          <a:ln/>
        </p:spPr>
        <p:txBody>
          <a:bodyPr wrap="square" lIns="0" tIns="0" rIns="0" bIns="0" rtlCol="0" anchor="ctr"/>
          <a:lstStyle/>
          <a:p>
            <a:pPr indent="0" marL="0">
              <a:buNone/>
            </a:pPr>
            <a:r>
              <a:rPr lang="en-US" sz="1200" b="1" dirty="0">
                <a:solidFill>
                  <a:schemeClr val="accent3"/>
                </a:solidFill>
              </a:rPr>
              <a:t>1</a:t>
            </a:r>
            <a:endParaRPr lang="en-US" sz="1200" dirty="0"/>
          </a:p>
        </p:txBody>
      </p:sp>
      <p:sp>
        <p:nvSpPr>
          <p:cNvPr id="36" name="Text 34"/>
          <p:cNvSpPr txBox="1"/>
          <p:nvPr/>
        </p:nvSpPr>
        <p:spPr>
          <a:xfrm>
            <a:off x="6871716" y="2880360"/>
            <a:ext cx="4544568" cy="237744"/>
          </a:xfrm>
          <a:prstGeom prst="rect">
            <a:avLst/>
          </a:prstGeom>
          <a:noFill/>
          <a:ln/>
        </p:spPr>
        <p:txBody>
          <a:bodyPr wrap="square" lIns="0" tIns="0" rIns="0" bIns="0" rtlCol="0" anchor="ctr"/>
          <a:lstStyle/>
          <a:p>
            <a:pPr indent="0" marL="0">
              <a:buNone/>
            </a:pPr>
            <a:r>
              <a:rPr lang="en-US" sz="1250" b="1" dirty="0">
                <a:solidFill>
                  <a:schemeClr val="tx1"/>
                </a:solidFill>
              </a:rPr>
              <a:t>볼트 위치 확인</a:t>
            </a:r>
            <a:endParaRPr lang="en-US" sz="1250" dirty="0"/>
          </a:p>
        </p:txBody>
      </p:sp>
      <p:sp>
        <p:nvSpPr>
          <p:cNvPr id="37" name="Text 35"/>
          <p:cNvSpPr txBox="1"/>
          <p:nvPr/>
        </p:nvSpPr>
        <p:spPr>
          <a:xfrm>
            <a:off x="6871716" y="3118104"/>
            <a:ext cx="4544568" cy="228600"/>
          </a:xfrm>
          <a:prstGeom prst="rect">
            <a:avLst/>
          </a:prstGeom>
          <a:noFill/>
          <a:ln/>
        </p:spPr>
        <p:txBody>
          <a:bodyPr wrap="square" lIns="0" tIns="0" rIns="0" bIns="0" rtlCol="0" anchor="ctr"/>
          <a:lstStyle/>
          <a:p>
            <a:pPr indent="0" marL="0">
              <a:buNone/>
            </a:pPr>
            <a:r>
              <a:rPr lang="en-US" sz="950" dirty="0">
                <a:solidFill>
                  <a:schemeClr val="tx2"/>
                </a:solidFill>
                <a:latin typeface="Menlo" pitchFamily="34" charset="0"/>
                <a:ea typeface="Menlo" pitchFamily="34" charset="-122"/>
                <a:cs typeface="Menlo" pitchFamily="34" charset="-120"/>
              </a:rPr>
              <a:t>ls ~/Documents/GitHub/design → 폴더 5개 + 허브 파일</a:t>
            </a:r>
            <a:endParaRPr lang="en-US" sz="950" dirty="0"/>
          </a:p>
        </p:txBody>
      </p:sp>
      <p:sp>
        <p:nvSpPr>
          <p:cNvPr id="38" name="Text 36"/>
          <p:cNvSpPr txBox="1"/>
          <p:nvPr/>
        </p:nvSpPr>
        <p:spPr>
          <a:xfrm>
            <a:off x="6551676" y="3401568"/>
            <a:ext cx="274320" cy="457200"/>
          </a:xfrm>
          <a:prstGeom prst="rect">
            <a:avLst/>
          </a:prstGeom>
          <a:noFill/>
          <a:ln/>
        </p:spPr>
        <p:txBody>
          <a:bodyPr wrap="square" lIns="0" tIns="0" rIns="0" bIns="0" rtlCol="0" anchor="ctr"/>
          <a:lstStyle/>
          <a:p>
            <a:pPr indent="0" marL="0">
              <a:buNone/>
            </a:pPr>
            <a:r>
              <a:rPr lang="en-US" sz="1200" b="1" dirty="0">
                <a:solidFill>
                  <a:schemeClr val="accent3"/>
                </a:solidFill>
              </a:rPr>
              <a:t>2</a:t>
            </a:r>
            <a:endParaRPr lang="en-US" sz="1200" dirty="0"/>
          </a:p>
        </p:txBody>
      </p:sp>
      <p:sp>
        <p:nvSpPr>
          <p:cNvPr id="39" name="Text 37"/>
          <p:cNvSpPr txBox="1"/>
          <p:nvPr/>
        </p:nvSpPr>
        <p:spPr>
          <a:xfrm>
            <a:off x="6871716" y="3401568"/>
            <a:ext cx="4544568" cy="237744"/>
          </a:xfrm>
          <a:prstGeom prst="rect">
            <a:avLst/>
          </a:prstGeom>
          <a:noFill/>
          <a:ln/>
        </p:spPr>
        <p:txBody>
          <a:bodyPr wrap="square" lIns="0" tIns="0" rIns="0" bIns="0" rtlCol="0" anchor="ctr"/>
          <a:lstStyle/>
          <a:p>
            <a:pPr indent="0" marL="0">
              <a:buNone/>
            </a:pPr>
            <a:r>
              <a:rPr lang="en-US" sz="1250" b="1" dirty="0">
                <a:solidFill>
                  <a:schemeClr val="tx1"/>
                </a:solidFill>
              </a:rPr>
              <a:t>허브부터 최신으로 받기</a:t>
            </a:r>
            <a:endParaRPr lang="en-US" sz="1250" dirty="0"/>
          </a:p>
        </p:txBody>
      </p:sp>
      <p:sp>
        <p:nvSpPr>
          <p:cNvPr id="40" name="Text 38"/>
          <p:cNvSpPr txBox="1"/>
          <p:nvPr/>
        </p:nvSpPr>
        <p:spPr>
          <a:xfrm>
            <a:off x="6871716" y="3639312"/>
            <a:ext cx="4544568" cy="228600"/>
          </a:xfrm>
          <a:prstGeom prst="rect">
            <a:avLst/>
          </a:prstGeom>
          <a:noFill/>
          <a:ln/>
        </p:spPr>
        <p:txBody>
          <a:bodyPr wrap="square" lIns="0" tIns="0" rIns="0" bIns="0" rtlCol="0" anchor="ctr"/>
          <a:lstStyle/>
          <a:p>
            <a:pPr indent="0" marL="0">
              <a:buNone/>
            </a:pPr>
            <a:r>
              <a:rPr lang="en-US" sz="950" dirty="0">
                <a:solidFill>
                  <a:schemeClr val="tx2"/>
                </a:solidFill>
                <a:latin typeface="Menlo" pitchFamily="34" charset="0"/>
                <a:ea typeface="Menlo" pitchFamily="34" charset="-122"/>
                <a:cs typeface="Menlo" pitchFamily="34" charset="-120"/>
              </a:rPr>
              <a:t>cd ~/Documents/GitHub/design &amp;&amp; git pull</a:t>
            </a:r>
            <a:endParaRPr lang="en-US" sz="950" dirty="0"/>
          </a:p>
        </p:txBody>
      </p:sp>
      <p:sp>
        <p:nvSpPr>
          <p:cNvPr id="41" name="Text 39"/>
          <p:cNvSpPr txBox="1"/>
          <p:nvPr/>
        </p:nvSpPr>
        <p:spPr>
          <a:xfrm>
            <a:off x="6551676" y="3922776"/>
            <a:ext cx="274320" cy="457200"/>
          </a:xfrm>
          <a:prstGeom prst="rect">
            <a:avLst/>
          </a:prstGeom>
          <a:noFill/>
          <a:ln/>
        </p:spPr>
        <p:txBody>
          <a:bodyPr wrap="square" lIns="0" tIns="0" rIns="0" bIns="0" rtlCol="0" anchor="ctr"/>
          <a:lstStyle/>
          <a:p>
            <a:pPr indent="0" marL="0">
              <a:buNone/>
            </a:pPr>
            <a:r>
              <a:rPr lang="en-US" sz="1200" b="1" dirty="0">
                <a:solidFill>
                  <a:schemeClr val="accent3"/>
                </a:solidFill>
              </a:rPr>
              <a:t>3</a:t>
            </a:r>
            <a:endParaRPr lang="en-US" sz="1200" dirty="0"/>
          </a:p>
        </p:txBody>
      </p:sp>
      <p:sp>
        <p:nvSpPr>
          <p:cNvPr id="42" name="Text 40"/>
          <p:cNvSpPr txBox="1"/>
          <p:nvPr/>
        </p:nvSpPr>
        <p:spPr>
          <a:xfrm>
            <a:off x="6871716" y="3922776"/>
            <a:ext cx="4544568" cy="237744"/>
          </a:xfrm>
          <a:prstGeom prst="rect">
            <a:avLst/>
          </a:prstGeom>
          <a:noFill/>
          <a:ln/>
        </p:spPr>
        <p:txBody>
          <a:bodyPr wrap="square" lIns="0" tIns="0" rIns="0" bIns="0" rtlCol="0" anchor="ctr"/>
          <a:lstStyle/>
          <a:p>
            <a:pPr indent="0" marL="0">
              <a:buNone/>
            </a:pPr>
            <a:r>
              <a:rPr lang="en-US" sz="1250" b="1" dirty="0">
                <a:solidFill>
                  <a:schemeClr val="tx1"/>
                </a:solidFill>
              </a:rPr>
              <a:t>나머지 5개도 한 번에 받기</a:t>
            </a:r>
            <a:endParaRPr lang="en-US" sz="1250" dirty="0"/>
          </a:p>
        </p:txBody>
      </p:sp>
      <p:sp>
        <p:nvSpPr>
          <p:cNvPr id="43" name="Text 41"/>
          <p:cNvSpPr txBox="1"/>
          <p:nvPr/>
        </p:nvSpPr>
        <p:spPr>
          <a:xfrm>
            <a:off x="6871716" y="4160520"/>
            <a:ext cx="4544568" cy="228600"/>
          </a:xfrm>
          <a:prstGeom prst="rect">
            <a:avLst/>
          </a:prstGeom>
          <a:noFill/>
          <a:ln/>
        </p:spPr>
        <p:txBody>
          <a:bodyPr wrap="square" lIns="0" tIns="0" rIns="0" bIns="0" rtlCol="0" anchor="ctr"/>
          <a:lstStyle/>
          <a:p>
            <a:pPr indent="0" marL="0">
              <a:buNone/>
            </a:pPr>
            <a:r>
              <a:rPr lang="en-US" sz="950" dirty="0">
                <a:solidFill>
                  <a:schemeClr val="tx2"/>
                </a:solidFill>
                <a:latin typeface="Menlo" pitchFamily="34" charset="0"/>
                <a:ea typeface="Menlo" pitchFamily="34" charset="-122"/>
                <a:cs typeface="Menlo" pitchFamily="34" charset="-120"/>
              </a:rPr>
              <a:t>bash tools/cdbd-sync.sh → 「전부 최신」</a:t>
            </a:r>
            <a:endParaRPr lang="en-US" sz="950" dirty="0"/>
          </a:p>
        </p:txBody>
      </p:sp>
      <p:sp>
        <p:nvSpPr>
          <p:cNvPr id="44" name="Text 42"/>
          <p:cNvSpPr txBox="1"/>
          <p:nvPr/>
        </p:nvSpPr>
        <p:spPr>
          <a:xfrm>
            <a:off x="6551676" y="4443984"/>
            <a:ext cx="274320" cy="457200"/>
          </a:xfrm>
          <a:prstGeom prst="rect">
            <a:avLst/>
          </a:prstGeom>
          <a:noFill/>
          <a:ln/>
        </p:spPr>
        <p:txBody>
          <a:bodyPr wrap="square" lIns="0" tIns="0" rIns="0" bIns="0" rtlCol="0" anchor="ctr"/>
          <a:lstStyle/>
          <a:p>
            <a:pPr indent="0" marL="0">
              <a:buNone/>
            </a:pPr>
            <a:r>
              <a:rPr lang="en-US" sz="1200" b="1" dirty="0">
                <a:solidFill>
                  <a:schemeClr val="accent3"/>
                </a:solidFill>
              </a:rPr>
              <a:t>4</a:t>
            </a:r>
            <a:endParaRPr lang="en-US" sz="1200" dirty="0"/>
          </a:p>
        </p:txBody>
      </p:sp>
      <p:sp>
        <p:nvSpPr>
          <p:cNvPr id="45" name="Text 43"/>
          <p:cNvSpPr txBox="1"/>
          <p:nvPr/>
        </p:nvSpPr>
        <p:spPr>
          <a:xfrm>
            <a:off x="6871716" y="4443984"/>
            <a:ext cx="4544568" cy="237744"/>
          </a:xfrm>
          <a:prstGeom prst="rect">
            <a:avLst/>
          </a:prstGeom>
          <a:noFill/>
          <a:ln/>
        </p:spPr>
        <p:txBody>
          <a:bodyPr wrap="square" lIns="0" tIns="0" rIns="0" bIns="0" rtlCol="0" anchor="ctr"/>
          <a:lstStyle/>
          <a:p>
            <a:pPr indent="0" marL="0">
              <a:buNone/>
            </a:pPr>
            <a:r>
              <a:rPr lang="en-US" sz="1250" b="1" dirty="0">
                <a:solidFill>
                  <a:schemeClr val="accent3"/>
                </a:solidFill>
              </a:rPr>
              <a:t>STEP 1~9</a:t>
            </a:r>
            <a:endParaRPr lang="en-US" sz="1250" dirty="0"/>
          </a:p>
        </p:txBody>
      </p:sp>
      <p:sp>
        <p:nvSpPr>
          <p:cNvPr id="46" name="Text 44"/>
          <p:cNvSpPr txBox="1"/>
          <p:nvPr/>
        </p:nvSpPr>
        <p:spPr>
          <a:xfrm>
            <a:off x="6871716" y="4681728"/>
            <a:ext cx="4544568" cy="228600"/>
          </a:xfrm>
          <a:prstGeom prst="rect">
            <a:avLst/>
          </a:prstGeom>
          <a:noFill/>
          <a:ln/>
        </p:spPr>
        <p:txBody>
          <a:bodyPr wrap="square" lIns="0" tIns="0" rIns="0" bIns="0" rtlCol="0" anchor="ctr"/>
          <a:lstStyle/>
          <a:p>
            <a:pPr indent="0" marL="0">
              <a:buNone/>
            </a:pPr>
            <a:r>
              <a:rPr lang="en-US" sz="1050" dirty="0">
                <a:solidFill>
                  <a:schemeClr val="tx2"/>
                </a:solidFill>
              </a:rPr>
              <a:t>이미 깔린 건 확인만 하고 넘어가도 돼요</a:t>
            </a:r>
            <a:endParaRPr lang="en-US" sz="1050" dirty="0"/>
          </a:p>
        </p:txBody>
      </p:sp>
      <p:sp>
        <p:nvSpPr>
          <p:cNvPr id="47" name="box-no"/>
          <p:cNvSpPr/>
          <p:nvPr/>
        </p:nvSpPr>
        <p:spPr>
          <a:xfrm>
            <a:off x="548640" y="5669280"/>
            <a:ext cx="11091672" cy="457200"/>
          </a:xfrm>
          <a:prstGeom prst="roundRect">
            <a:avLst>
              <a:gd name="adj" fmla="val 20000"/>
            </a:avLst>
          </a:prstGeom>
          <a:solidFill>
            <a:schemeClr val="bg2"/>
          </a:solidFill>
          <a:ln/>
        </p:spPr>
      </p:sp>
      <p:sp>
        <p:nvSpPr>
          <p:cNvPr id="48" name="box-text"/>
          <p:cNvSpPr txBox="1"/>
          <p:nvPr/>
        </p:nvSpPr>
        <p:spPr>
          <a:xfrm>
            <a:off x="749808" y="5797296"/>
            <a:ext cx="10689336" cy="219456"/>
          </a:xfrm>
          <a:prstGeom prst="rect">
            <a:avLst/>
          </a:prstGeom>
          <a:noFill/>
          <a:ln/>
        </p:spPr>
        <p:txBody>
          <a:bodyPr wrap="square" lIns="0" tIns="0" rIns="0" bIns="0" rtlCol="0" anchor="t"/>
          <a:lstStyle/>
          <a:p>
            <a:pPr indent="0" marL="0">
              <a:spcAft>
                <a:spcPts val="200"/>
              </a:spcAft>
              <a:buNone/>
            </a:pPr>
            <a:endParaRPr lang="en-US" sz="1000" dirty="0"/>
          </a:p>
          <a:p>
            <a:pPr indent="0" marL="0">
              <a:spcAft>
                <a:spcPts val="200"/>
              </a:spcAft>
              <a:buNone/>
            </a:pPr>
            <a:endParaRPr lang="en-US" sz="1000" dirty="0"/>
          </a:p>
        </p:txBody>
      </p:sp>
      <p:sp>
        <p:nvSpPr>
          <p:cNvPr id="49" name="Text 47"/>
          <p:cNvSpPr txBox="1"/>
          <p:nvPr/>
        </p:nvSpPr>
        <p:spPr>
          <a:xfrm>
            <a:off x="777240" y="5669280"/>
            <a:ext cx="10698480" cy="457200"/>
          </a:xfrm>
          <a:prstGeom prst="rect">
            <a:avLst/>
          </a:prstGeom>
          <a:noFill/>
          <a:ln/>
        </p:spPr>
        <p:txBody>
          <a:bodyPr wrap="square" lIns="0" tIns="0" rIns="0" bIns="0" rtlCol="0" anchor="ctr"/>
          <a:lstStyle/>
          <a:p>
            <a:pPr indent="0" marL="0">
              <a:buNone/>
            </a:pPr>
            <a:r>
              <a:rPr lang="en-US" sz="1100" b="1" dirty="0">
                <a:solidFill>
                  <a:schemeClr val="tx1"/>
                </a:solidFill>
              </a:rPr>
              <a:t>어느 쪽인지 모르겠다면  </a:t>
            </a:r>
            <a:pPr indent="0" marL="0">
              <a:buNone/>
            </a:pPr>
            <a:r>
              <a:rPr lang="en-US" sz="1100" dirty="0">
                <a:solidFill>
                  <a:schemeClr val="tx2"/>
                </a:solidFill>
              </a:rPr>
              <a:t>터미널에 </a:t>
            </a:r>
            <a:pPr indent="0" marL="0">
              <a:buNone/>
            </a:pPr>
            <a:r>
              <a:rPr lang="en-US" sz="1100" dirty="0">
                <a:solidFill>
                  <a:schemeClr val="tx1"/>
                </a:solidFill>
                <a:latin typeface="Menlo" pitchFamily="34" charset="0"/>
                <a:ea typeface="Menlo" pitchFamily="34" charset="-122"/>
                <a:cs typeface="Menlo" pitchFamily="34" charset="-120"/>
              </a:rPr>
              <a:t>ssh -T git@github.com</a:t>
            </a:r>
            <a:pPr indent="0" marL="0">
              <a:buNone/>
            </a:pPr>
            <a:r>
              <a:rPr lang="en-US" sz="1100" dirty="0">
                <a:solidFill>
                  <a:schemeClr val="tx2"/>
                </a:solidFill>
              </a:rPr>
              <a:t>  →  「successfully authenticated」면 이 맥은 GitHub 연결 완료 · 그다음 위 B-1로 볼트 위치를 확인하세요.</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04  전체 지도</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9단계 = 설치 3 · 연결 2 · 확인 4</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앞 장의 A는 ONBOARDING §2~§3를 마친 뒤, B는 최신으로 받은 뒤 — 둘 다 여기 STEP 1부터 같습니다.</a:t>
            </a:r>
            <a:endParaRPr lang="en-US" sz="1400" dirty="0"/>
          </a:p>
        </p:txBody>
      </p:sp>
      <p:sp>
        <p:nvSpPr>
          <p:cNvPr id="6" name="group-card"/>
          <p:cNvSpPr/>
          <p:nvPr/>
        </p:nvSpPr>
        <p:spPr>
          <a:xfrm>
            <a:off x="548640" y="1965960"/>
            <a:ext cx="3291840" cy="4114800"/>
          </a:xfrm>
          <a:prstGeom prst="roundRect">
            <a:avLst>
              <a:gd name="adj" fmla="val 3333"/>
            </a:avLst>
          </a:prstGeom>
          <a:solidFill>
            <a:schemeClr val="bg2"/>
          </a:solidFill>
          <a:ln/>
        </p:spPr>
      </p:sp>
      <p:sp>
        <p:nvSpPr>
          <p:cNvPr id="7" name="Text 5"/>
          <p:cNvSpPr txBox="1"/>
          <p:nvPr/>
        </p:nvSpPr>
        <p:spPr>
          <a:xfrm>
            <a:off x="822960" y="21488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설치</a:t>
            </a:r>
            <a:endParaRPr lang="en-US" sz="1800" dirty="0"/>
          </a:p>
        </p:txBody>
      </p:sp>
      <p:sp>
        <p:nvSpPr>
          <p:cNvPr id="8" name="Text 6"/>
          <p:cNvSpPr txBox="1"/>
          <p:nvPr/>
        </p:nvSpPr>
        <p:spPr>
          <a:xfrm>
            <a:off x="2377440" y="2194560"/>
            <a:ext cx="1188720" cy="274320"/>
          </a:xfrm>
          <a:prstGeom prst="rect">
            <a:avLst/>
          </a:prstGeom>
          <a:noFill/>
          <a:ln/>
        </p:spPr>
        <p:txBody>
          <a:bodyPr wrap="square" lIns="0" tIns="0" rIns="0" bIns="0" rtlCol="0" anchor="ctr"/>
          <a:lstStyle/>
          <a:p>
            <a:pPr algn="r" indent="0" marL="0">
              <a:buNone/>
            </a:pPr>
            <a:r>
              <a:rPr lang="en-US" sz="1100" dirty="0">
                <a:solidFill>
                  <a:schemeClr val="tx2"/>
                </a:solidFill>
              </a:rPr>
              <a:t>약 10분</a:t>
            </a:r>
            <a:endParaRPr lang="en-US" sz="1100" dirty="0"/>
          </a:p>
        </p:txBody>
      </p:sp>
      <p:sp>
        <p:nvSpPr>
          <p:cNvPr id="9" name="map-item"/>
          <p:cNvSpPr/>
          <p:nvPr/>
        </p:nvSpPr>
        <p:spPr>
          <a:xfrm>
            <a:off x="731520" y="2697480"/>
            <a:ext cx="2926080" cy="713232"/>
          </a:xfrm>
          <a:prstGeom prst="roundRect">
            <a:avLst>
              <a:gd name="adj" fmla="val 15385"/>
            </a:avLst>
          </a:prstGeom>
          <a:solidFill>
            <a:schemeClr val="bg1"/>
          </a:solidFill>
          <a:ln/>
        </p:spPr>
      </p:sp>
      <p:sp>
        <p:nvSpPr>
          <p:cNvPr id="10" name="num"/>
          <p:cNvSpPr/>
          <p:nvPr/>
        </p:nvSpPr>
        <p:spPr>
          <a:xfrm>
            <a:off x="868680" y="2834640"/>
            <a:ext cx="438912" cy="438912"/>
          </a:xfrm>
          <a:prstGeom prst="ellipse">
            <a:avLst/>
          </a:prstGeom>
          <a:solidFill>
            <a:schemeClr val="accent1"/>
          </a:solidFill>
          <a:ln/>
        </p:spPr>
      </p:sp>
      <p:sp>
        <p:nvSpPr>
          <p:cNvPr id="11" name="Text 9"/>
          <p:cNvSpPr txBox="1"/>
          <p:nvPr/>
        </p:nvSpPr>
        <p:spPr>
          <a:xfrm>
            <a:off x="868680" y="2834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10"/>
          <p:cNvSpPr txBox="1"/>
          <p:nvPr/>
        </p:nvSpPr>
        <p:spPr>
          <a:xfrm>
            <a:off x="1463040" y="2752344"/>
            <a:ext cx="2103120" cy="329184"/>
          </a:xfrm>
          <a:prstGeom prst="rect">
            <a:avLst/>
          </a:prstGeom>
          <a:noFill/>
          <a:ln/>
        </p:spPr>
        <p:txBody>
          <a:bodyPr wrap="square" lIns="0" tIns="0" rIns="0" bIns="0" rtlCol="0" anchor="ctr"/>
          <a:lstStyle/>
          <a:p>
            <a:pPr indent="0" marL="0">
              <a:buNone/>
            </a:pPr>
            <a:r>
              <a:rPr lang="en-US" sz="1350" b="1" dirty="0">
                <a:solidFill>
                  <a:schemeClr val="tx1"/>
                </a:solidFill>
              </a:rPr>
              <a:t>Claude Code</a:t>
            </a:r>
            <a:endParaRPr lang="en-US" sz="1350" dirty="0"/>
          </a:p>
        </p:txBody>
      </p:sp>
      <p:sp>
        <p:nvSpPr>
          <p:cNvPr id="13" name="Text 11"/>
          <p:cNvSpPr txBox="1"/>
          <p:nvPr/>
        </p:nvSpPr>
        <p:spPr>
          <a:xfrm>
            <a:off x="1463040" y="3063240"/>
            <a:ext cx="2103120" cy="292608"/>
          </a:xfrm>
          <a:prstGeom prst="rect">
            <a:avLst/>
          </a:prstGeom>
          <a:noFill/>
          <a:ln/>
        </p:spPr>
        <p:txBody>
          <a:bodyPr wrap="square" lIns="0" tIns="0" rIns="0" bIns="0" rtlCol="0" anchor="ctr"/>
          <a:lstStyle/>
          <a:p>
            <a:pPr indent="0" marL="0">
              <a:buNone/>
            </a:pPr>
            <a:r>
              <a:rPr lang="en-US" sz="1100" dirty="0">
                <a:solidFill>
                  <a:schemeClr val="tx2"/>
                </a:solidFill>
              </a:rPr>
              <a:t>Claude 프로그램 설치 · 로그인</a:t>
            </a:r>
            <a:endParaRPr lang="en-US" sz="1100" dirty="0"/>
          </a:p>
        </p:txBody>
      </p:sp>
      <p:sp>
        <p:nvSpPr>
          <p:cNvPr id="14" name="map-item"/>
          <p:cNvSpPr/>
          <p:nvPr/>
        </p:nvSpPr>
        <p:spPr>
          <a:xfrm>
            <a:off x="731520" y="3520440"/>
            <a:ext cx="2926080" cy="713232"/>
          </a:xfrm>
          <a:prstGeom prst="roundRect">
            <a:avLst>
              <a:gd name="adj" fmla="val 15385"/>
            </a:avLst>
          </a:prstGeom>
          <a:solidFill>
            <a:schemeClr val="bg1"/>
          </a:solidFill>
          <a:ln/>
        </p:spPr>
      </p:sp>
      <p:sp>
        <p:nvSpPr>
          <p:cNvPr id="15" name="num"/>
          <p:cNvSpPr/>
          <p:nvPr/>
        </p:nvSpPr>
        <p:spPr>
          <a:xfrm>
            <a:off x="868680" y="3657600"/>
            <a:ext cx="438912" cy="438912"/>
          </a:xfrm>
          <a:prstGeom prst="ellipse">
            <a:avLst/>
          </a:prstGeom>
          <a:solidFill>
            <a:schemeClr val="accent1"/>
          </a:solidFill>
          <a:ln/>
        </p:spPr>
      </p:sp>
      <p:sp>
        <p:nvSpPr>
          <p:cNvPr id="16" name="Text 14"/>
          <p:cNvSpPr txBox="1"/>
          <p:nvPr/>
        </p:nvSpPr>
        <p:spPr>
          <a:xfrm>
            <a:off x="868680" y="365760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7" name="Text 15"/>
          <p:cNvSpPr txBox="1"/>
          <p:nvPr/>
        </p:nvSpPr>
        <p:spPr>
          <a:xfrm>
            <a:off x="1463040" y="3575304"/>
            <a:ext cx="2103120" cy="329184"/>
          </a:xfrm>
          <a:prstGeom prst="rect">
            <a:avLst/>
          </a:prstGeom>
          <a:noFill/>
          <a:ln/>
        </p:spPr>
        <p:txBody>
          <a:bodyPr wrap="square" lIns="0" tIns="0" rIns="0" bIns="0" rtlCol="0" anchor="ctr"/>
          <a:lstStyle/>
          <a:p>
            <a:pPr indent="0" marL="0">
              <a:buNone/>
            </a:pPr>
            <a:r>
              <a:rPr lang="en-US" sz="1350" b="1" dirty="0">
                <a:solidFill>
                  <a:schemeClr val="tx1"/>
                </a:solidFill>
              </a:rPr>
              <a:t>Claudian</a:t>
            </a:r>
            <a:endParaRPr lang="en-US" sz="1350" dirty="0"/>
          </a:p>
        </p:txBody>
      </p:sp>
      <p:sp>
        <p:nvSpPr>
          <p:cNvPr id="18" name="Text 16"/>
          <p:cNvSpPr txBox="1"/>
          <p:nvPr/>
        </p:nvSpPr>
        <p:spPr>
          <a:xfrm>
            <a:off x="1463040" y="3886200"/>
            <a:ext cx="2103120" cy="292608"/>
          </a:xfrm>
          <a:prstGeom prst="rect">
            <a:avLst/>
          </a:prstGeom>
          <a:noFill/>
          <a:ln/>
        </p:spPr>
        <p:txBody>
          <a:bodyPr wrap="square" lIns="0" tIns="0" rIns="0" bIns="0" rtlCol="0" anchor="ctr"/>
          <a:lstStyle/>
          <a:p>
            <a:pPr indent="0" marL="0">
              <a:buNone/>
            </a:pPr>
            <a:r>
              <a:rPr lang="en-US" sz="1100" dirty="0">
                <a:solidFill>
                  <a:schemeClr val="tx2"/>
                </a:solidFill>
              </a:rPr>
              <a:t>옵시디언 안의 Claude 창</a:t>
            </a:r>
            <a:endParaRPr lang="en-US" sz="1100" dirty="0"/>
          </a:p>
        </p:txBody>
      </p:sp>
      <p:sp>
        <p:nvSpPr>
          <p:cNvPr id="19" name="map-item"/>
          <p:cNvSpPr/>
          <p:nvPr/>
        </p:nvSpPr>
        <p:spPr>
          <a:xfrm>
            <a:off x="731520" y="4343400"/>
            <a:ext cx="2926080" cy="713232"/>
          </a:xfrm>
          <a:prstGeom prst="roundRect">
            <a:avLst>
              <a:gd name="adj" fmla="val 15385"/>
            </a:avLst>
          </a:prstGeom>
          <a:solidFill>
            <a:schemeClr val="bg1"/>
          </a:solidFill>
          <a:ln/>
        </p:spPr>
      </p:sp>
      <p:sp>
        <p:nvSpPr>
          <p:cNvPr id="20" name="num"/>
          <p:cNvSpPr/>
          <p:nvPr/>
        </p:nvSpPr>
        <p:spPr>
          <a:xfrm>
            <a:off x="868680" y="4480560"/>
            <a:ext cx="438912" cy="438912"/>
          </a:xfrm>
          <a:prstGeom prst="ellipse">
            <a:avLst/>
          </a:prstGeom>
          <a:solidFill>
            <a:schemeClr val="accent1"/>
          </a:solidFill>
          <a:ln/>
        </p:spPr>
      </p:sp>
      <p:sp>
        <p:nvSpPr>
          <p:cNvPr id="21" name="Text 19"/>
          <p:cNvSpPr txBox="1"/>
          <p:nvPr/>
        </p:nvSpPr>
        <p:spPr>
          <a:xfrm>
            <a:off x="868680" y="448056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20"/>
          <p:cNvSpPr txBox="1"/>
          <p:nvPr/>
        </p:nvSpPr>
        <p:spPr>
          <a:xfrm>
            <a:off x="1463040" y="4398264"/>
            <a:ext cx="2103120" cy="329184"/>
          </a:xfrm>
          <a:prstGeom prst="rect">
            <a:avLst/>
          </a:prstGeom>
          <a:noFill/>
          <a:ln/>
        </p:spPr>
        <p:txBody>
          <a:bodyPr wrap="square" lIns="0" tIns="0" rIns="0" bIns="0" rtlCol="0" anchor="ctr"/>
          <a:lstStyle/>
          <a:p>
            <a:pPr indent="0" marL="0">
              <a:buNone/>
            </a:pPr>
            <a:r>
              <a:rPr lang="en-US" sz="1350" b="1" dirty="0">
                <a:solidFill>
                  <a:schemeClr val="tx1"/>
                </a:solidFill>
              </a:rPr>
              <a:t>gstack</a:t>
            </a:r>
            <a:endParaRPr lang="en-US" sz="1350" dirty="0"/>
          </a:p>
        </p:txBody>
      </p:sp>
      <p:sp>
        <p:nvSpPr>
          <p:cNvPr id="23" name="Text 21"/>
          <p:cNvSpPr txBox="1"/>
          <p:nvPr/>
        </p:nvSpPr>
        <p:spPr>
          <a:xfrm>
            <a:off x="1463040" y="4709160"/>
            <a:ext cx="2103120" cy="292608"/>
          </a:xfrm>
          <a:prstGeom prst="rect">
            <a:avLst/>
          </a:prstGeom>
          <a:noFill/>
          <a:ln/>
        </p:spPr>
        <p:txBody>
          <a:bodyPr wrap="square" lIns="0" tIns="0" rIns="0" bIns="0" rtlCol="0" anchor="ctr"/>
          <a:lstStyle/>
          <a:p>
            <a:pPr indent="0" marL="0">
              <a:buNone/>
            </a:pPr>
            <a:r>
              <a:rPr lang="en-US" sz="1100" dirty="0">
                <a:solidFill>
                  <a:schemeClr val="tx2"/>
                </a:solidFill>
              </a:rPr>
              <a:t>Claude가 쓰는 브라우저</a:t>
            </a:r>
            <a:endParaRPr lang="en-US" sz="1100" dirty="0"/>
          </a:p>
        </p:txBody>
      </p:sp>
      <p:sp>
        <p:nvSpPr>
          <p:cNvPr id="24" name="group-card"/>
          <p:cNvSpPr/>
          <p:nvPr/>
        </p:nvSpPr>
        <p:spPr>
          <a:xfrm>
            <a:off x="4114800" y="1965960"/>
            <a:ext cx="3291840" cy="4114800"/>
          </a:xfrm>
          <a:prstGeom prst="roundRect">
            <a:avLst>
              <a:gd name="adj" fmla="val 3333"/>
            </a:avLst>
          </a:prstGeom>
          <a:solidFill>
            <a:schemeClr val="bg2"/>
          </a:solidFill>
          <a:ln/>
        </p:spPr>
      </p:sp>
      <p:sp>
        <p:nvSpPr>
          <p:cNvPr id="25" name="Text 23"/>
          <p:cNvSpPr txBox="1"/>
          <p:nvPr/>
        </p:nvSpPr>
        <p:spPr>
          <a:xfrm>
            <a:off x="4389120" y="21488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연결</a:t>
            </a:r>
            <a:endParaRPr lang="en-US" sz="1800" dirty="0"/>
          </a:p>
        </p:txBody>
      </p:sp>
      <p:sp>
        <p:nvSpPr>
          <p:cNvPr id="26" name="Text 24"/>
          <p:cNvSpPr txBox="1"/>
          <p:nvPr/>
        </p:nvSpPr>
        <p:spPr>
          <a:xfrm>
            <a:off x="5943600" y="2194560"/>
            <a:ext cx="1188720" cy="274320"/>
          </a:xfrm>
          <a:prstGeom prst="rect">
            <a:avLst/>
          </a:prstGeom>
          <a:noFill/>
          <a:ln/>
        </p:spPr>
        <p:txBody>
          <a:bodyPr wrap="square" lIns="0" tIns="0" rIns="0" bIns="0" rtlCol="0" anchor="ctr"/>
          <a:lstStyle/>
          <a:p>
            <a:pPr algn="r" indent="0" marL="0">
              <a:buNone/>
            </a:pPr>
            <a:r>
              <a:rPr lang="en-US" sz="1100" dirty="0">
                <a:solidFill>
                  <a:schemeClr val="tx2"/>
                </a:solidFill>
              </a:rPr>
              <a:t>약 5분</a:t>
            </a:r>
            <a:endParaRPr lang="en-US" sz="1100" dirty="0"/>
          </a:p>
        </p:txBody>
      </p:sp>
      <p:sp>
        <p:nvSpPr>
          <p:cNvPr id="27" name="map-item"/>
          <p:cNvSpPr/>
          <p:nvPr/>
        </p:nvSpPr>
        <p:spPr>
          <a:xfrm>
            <a:off x="4297680" y="2697480"/>
            <a:ext cx="2926080" cy="713232"/>
          </a:xfrm>
          <a:prstGeom prst="roundRect">
            <a:avLst>
              <a:gd name="adj" fmla="val 15385"/>
            </a:avLst>
          </a:prstGeom>
          <a:solidFill>
            <a:schemeClr val="bg1"/>
          </a:solidFill>
          <a:ln/>
        </p:spPr>
      </p:sp>
      <p:sp>
        <p:nvSpPr>
          <p:cNvPr id="28" name="num"/>
          <p:cNvSpPr/>
          <p:nvPr/>
        </p:nvSpPr>
        <p:spPr>
          <a:xfrm>
            <a:off x="4434840" y="2834640"/>
            <a:ext cx="438912" cy="438912"/>
          </a:xfrm>
          <a:prstGeom prst="ellipse">
            <a:avLst/>
          </a:prstGeom>
          <a:solidFill>
            <a:schemeClr val="accent1"/>
          </a:solidFill>
          <a:ln/>
        </p:spPr>
      </p:sp>
      <p:sp>
        <p:nvSpPr>
          <p:cNvPr id="29" name="Text 27"/>
          <p:cNvSpPr txBox="1"/>
          <p:nvPr/>
        </p:nvSpPr>
        <p:spPr>
          <a:xfrm>
            <a:off x="4434840" y="2834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0" name="Text 28"/>
          <p:cNvSpPr txBox="1"/>
          <p:nvPr/>
        </p:nvSpPr>
        <p:spPr>
          <a:xfrm>
            <a:off x="5029200" y="2752344"/>
            <a:ext cx="2103120" cy="329184"/>
          </a:xfrm>
          <a:prstGeom prst="rect">
            <a:avLst/>
          </a:prstGeom>
          <a:noFill/>
          <a:ln/>
        </p:spPr>
        <p:txBody>
          <a:bodyPr wrap="square" lIns="0" tIns="0" rIns="0" bIns="0" rtlCol="0" anchor="ctr"/>
          <a:lstStyle/>
          <a:p>
            <a:pPr indent="0" marL="0">
              <a:buNone/>
            </a:pPr>
            <a:r>
              <a:rPr lang="en-US" sz="1350" b="1" dirty="0">
                <a:solidFill>
                  <a:schemeClr val="tx1"/>
                </a:solidFill>
              </a:rPr>
              <a:t>셋업 스크립트</a:t>
            </a:r>
            <a:endParaRPr lang="en-US" sz="1350" dirty="0"/>
          </a:p>
        </p:txBody>
      </p:sp>
      <p:sp>
        <p:nvSpPr>
          <p:cNvPr id="31" name="Text 29"/>
          <p:cNvSpPr txBox="1"/>
          <p:nvPr/>
        </p:nvSpPr>
        <p:spPr>
          <a:xfrm>
            <a:off x="5029200" y="3063240"/>
            <a:ext cx="2103120" cy="292608"/>
          </a:xfrm>
          <a:prstGeom prst="rect">
            <a:avLst/>
          </a:prstGeom>
          <a:noFill/>
          <a:ln/>
        </p:spPr>
        <p:txBody>
          <a:bodyPr wrap="square" lIns="0" tIns="0" rIns="0" bIns="0" rtlCol="0" anchor="ctr"/>
          <a:lstStyle/>
          <a:p>
            <a:pPr indent="0" marL="0">
              <a:buNone/>
            </a:pPr>
            <a:r>
              <a:rPr lang="en-US" sz="1100" dirty="0">
                <a:solidFill>
                  <a:schemeClr val="tx2"/>
                </a:solidFill>
              </a:rPr>
              <a:t>필요한 연결을 한 번에</a:t>
            </a:r>
            <a:endParaRPr lang="en-US" sz="1100" dirty="0"/>
          </a:p>
        </p:txBody>
      </p:sp>
      <p:sp>
        <p:nvSpPr>
          <p:cNvPr id="32" name="map-item"/>
          <p:cNvSpPr/>
          <p:nvPr/>
        </p:nvSpPr>
        <p:spPr>
          <a:xfrm>
            <a:off x="4297680" y="3520440"/>
            <a:ext cx="2926080" cy="713232"/>
          </a:xfrm>
          <a:prstGeom prst="roundRect">
            <a:avLst>
              <a:gd name="adj" fmla="val 15385"/>
            </a:avLst>
          </a:prstGeom>
          <a:solidFill>
            <a:schemeClr val="bg1"/>
          </a:solidFill>
          <a:ln/>
        </p:spPr>
      </p:sp>
      <p:sp>
        <p:nvSpPr>
          <p:cNvPr id="33" name="num"/>
          <p:cNvSpPr/>
          <p:nvPr/>
        </p:nvSpPr>
        <p:spPr>
          <a:xfrm>
            <a:off x="4434840" y="3657600"/>
            <a:ext cx="438912" cy="438912"/>
          </a:xfrm>
          <a:prstGeom prst="ellipse">
            <a:avLst/>
          </a:prstGeom>
          <a:solidFill>
            <a:schemeClr val="accent1"/>
          </a:solidFill>
          <a:ln/>
        </p:spPr>
      </p:sp>
      <p:sp>
        <p:nvSpPr>
          <p:cNvPr id="34" name="Text 32"/>
          <p:cNvSpPr txBox="1"/>
          <p:nvPr/>
        </p:nvSpPr>
        <p:spPr>
          <a:xfrm>
            <a:off x="4434840" y="365760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5" name="Text 33"/>
          <p:cNvSpPr txBox="1"/>
          <p:nvPr/>
        </p:nvSpPr>
        <p:spPr>
          <a:xfrm>
            <a:off x="5029200" y="3575304"/>
            <a:ext cx="2103120" cy="329184"/>
          </a:xfrm>
          <a:prstGeom prst="rect">
            <a:avLst/>
          </a:prstGeom>
          <a:noFill/>
          <a:ln/>
        </p:spPr>
        <p:txBody>
          <a:bodyPr wrap="square" lIns="0" tIns="0" rIns="0" bIns="0" rtlCol="0" anchor="ctr"/>
          <a:lstStyle/>
          <a:p>
            <a:pPr indent="0" marL="0">
              <a:buNone/>
            </a:pPr>
            <a:r>
              <a:rPr lang="en-US" sz="1350" b="1" dirty="0">
                <a:solidFill>
                  <a:schemeClr val="tx1"/>
                </a:solidFill>
              </a:rPr>
              <a:t>cdbd.env</a:t>
            </a:r>
            <a:endParaRPr lang="en-US" sz="1350" dirty="0"/>
          </a:p>
        </p:txBody>
      </p:sp>
      <p:sp>
        <p:nvSpPr>
          <p:cNvPr id="36" name="Text 34"/>
          <p:cNvSpPr txBox="1"/>
          <p:nvPr/>
        </p:nvSpPr>
        <p:spPr>
          <a:xfrm>
            <a:off x="5029200" y="3886200"/>
            <a:ext cx="2103120" cy="292608"/>
          </a:xfrm>
          <a:prstGeom prst="rect">
            <a:avLst/>
          </a:prstGeom>
          <a:noFill/>
          <a:ln/>
        </p:spPr>
        <p:txBody>
          <a:bodyPr wrap="square" lIns="0" tIns="0" rIns="0" bIns="0" rtlCol="0" anchor="ctr"/>
          <a:lstStyle/>
          <a:p>
            <a:pPr indent="0" marL="0">
              <a:buNone/>
            </a:pPr>
            <a:r>
              <a:rPr lang="en-US" sz="1100" dirty="0">
                <a:solidFill>
                  <a:schemeClr val="tx2"/>
                </a:solidFill>
              </a:rPr>
              <a:t>CdBd 공용 계정 넣기</a:t>
            </a:r>
            <a:endParaRPr lang="en-US" sz="1100" dirty="0"/>
          </a:p>
        </p:txBody>
      </p:sp>
      <p:sp>
        <p:nvSpPr>
          <p:cNvPr id="37" name="group-card"/>
          <p:cNvSpPr/>
          <p:nvPr/>
        </p:nvSpPr>
        <p:spPr>
          <a:xfrm>
            <a:off x="7680960" y="1965960"/>
            <a:ext cx="3959352" cy="4114800"/>
          </a:xfrm>
          <a:prstGeom prst="roundRect">
            <a:avLst>
              <a:gd name="adj" fmla="val 2771"/>
            </a:avLst>
          </a:prstGeom>
          <a:solidFill>
            <a:schemeClr val="bg2"/>
          </a:solidFill>
          <a:ln/>
        </p:spPr>
      </p:sp>
      <p:sp>
        <p:nvSpPr>
          <p:cNvPr id="38" name="Text 36"/>
          <p:cNvSpPr txBox="1"/>
          <p:nvPr/>
        </p:nvSpPr>
        <p:spPr>
          <a:xfrm>
            <a:off x="7955280" y="21488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확인</a:t>
            </a:r>
            <a:endParaRPr lang="en-US" sz="1800" dirty="0"/>
          </a:p>
        </p:txBody>
      </p:sp>
      <p:sp>
        <p:nvSpPr>
          <p:cNvPr id="39" name="Text 37"/>
          <p:cNvSpPr txBox="1"/>
          <p:nvPr/>
        </p:nvSpPr>
        <p:spPr>
          <a:xfrm>
            <a:off x="10177272" y="2194560"/>
            <a:ext cx="1188720" cy="274320"/>
          </a:xfrm>
          <a:prstGeom prst="rect">
            <a:avLst/>
          </a:prstGeom>
          <a:noFill/>
          <a:ln/>
        </p:spPr>
        <p:txBody>
          <a:bodyPr wrap="square" lIns="0" tIns="0" rIns="0" bIns="0" rtlCol="0" anchor="ctr"/>
          <a:lstStyle/>
          <a:p>
            <a:pPr algn="r" indent="0" marL="0">
              <a:buNone/>
            </a:pPr>
            <a:r>
              <a:rPr lang="en-US" sz="1100" dirty="0">
                <a:solidFill>
                  <a:schemeClr val="tx2"/>
                </a:solidFill>
              </a:rPr>
              <a:t>약 10분</a:t>
            </a:r>
            <a:endParaRPr lang="en-US" sz="1100" dirty="0"/>
          </a:p>
        </p:txBody>
      </p:sp>
      <p:sp>
        <p:nvSpPr>
          <p:cNvPr id="40" name="map-item"/>
          <p:cNvSpPr/>
          <p:nvPr/>
        </p:nvSpPr>
        <p:spPr>
          <a:xfrm>
            <a:off x="7863840" y="2697480"/>
            <a:ext cx="3593592" cy="713232"/>
          </a:xfrm>
          <a:prstGeom prst="roundRect">
            <a:avLst>
              <a:gd name="adj" fmla="val 15385"/>
            </a:avLst>
          </a:prstGeom>
          <a:solidFill>
            <a:schemeClr val="bg1"/>
          </a:solidFill>
          <a:ln/>
        </p:spPr>
      </p:sp>
      <p:sp>
        <p:nvSpPr>
          <p:cNvPr id="41" name="num"/>
          <p:cNvSpPr/>
          <p:nvPr/>
        </p:nvSpPr>
        <p:spPr>
          <a:xfrm>
            <a:off x="8001000" y="2834640"/>
            <a:ext cx="438912" cy="438912"/>
          </a:xfrm>
          <a:prstGeom prst="ellipse">
            <a:avLst/>
          </a:prstGeom>
          <a:solidFill>
            <a:schemeClr val="accent1"/>
          </a:solidFill>
          <a:ln/>
        </p:spPr>
      </p:sp>
      <p:sp>
        <p:nvSpPr>
          <p:cNvPr id="42" name="Text 40"/>
          <p:cNvSpPr txBox="1"/>
          <p:nvPr/>
        </p:nvSpPr>
        <p:spPr>
          <a:xfrm>
            <a:off x="8001000" y="2834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43" name="Text 41"/>
          <p:cNvSpPr txBox="1"/>
          <p:nvPr/>
        </p:nvSpPr>
        <p:spPr>
          <a:xfrm>
            <a:off x="8595360" y="2752344"/>
            <a:ext cx="2770632" cy="329184"/>
          </a:xfrm>
          <a:prstGeom prst="rect">
            <a:avLst/>
          </a:prstGeom>
          <a:noFill/>
          <a:ln/>
        </p:spPr>
        <p:txBody>
          <a:bodyPr wrap="square" lIns="0" tIns="0" rIns="0" bIns="0" rtlCol="0" anchor="ctr"/>
          <a:lstStyle/>
          <a:p>
            <a:pPr indent="0" marL="0">
              <a:buNone/>
            </a:pPr>
            <a:r>
              <a:rPr lang="en-US" sz="1350" b="1" dirty="0">
                <a:solidFill>
                  <a:schemeClr val="tx1"/>
                </a:solidFill>
              </a:rPr>
              <a:t>폴더 신뢰 승인</a:t>
            </a:r>
            <a:endParaRPr lang="en-US" sz="1350" dirty="0"/>
          </a:p>
        </p:txBody>
      </p:sp>
      <p:sp>
        <p:nvSpPr>
          <p:cNvPr id="44" name="Text 42"/>
          <p:cNvSpPr txBox="1"/>
          <p:nvPr/>
        </p:nvSpPr>
        <p:spPr>
          <a:xfrm>
            <a:off x="8595360" y="3063240"/>
            <a:ext cx="2770632" cy="292608"/>
          </a:xfrm>
          <a:prstGeom prst="rect">
            <a:avLst/>
          </a:prstGeom>
          <a:noFill/>
          <a:ln/>
        </p:spPr>
        <p:txBody>
          <a:bodyPr wrap="square" lIns="0" tIns="0" rIns="0" bIns="0" rtlCol="0" anchor="ctr"/>
          <a:lstStyle/>
          <a:p>
            <a:pPr indent="0" marL="0">
              <a:buNone/>
            </a:pPr>
            <a:r>
              <a:rPr lang="en-US" sz="1100" dirty="0">
                <a:solidFill>
                  <a:schemeClr val="tx2"/>
                </a:solidFill>
              </a:rPr>
              <a:t>볼트 6곳 한 번씩</a:t>
            </a:r>
            <a:endParaRPr lang="en-US" sz="1100" dirty="0"/>
          </a:p>
        </p:txBody>
      </p:sp>
      <p:sp>
        <p:nvSpPr>
          <p:cNvPr id="45" name="map-item"/>
          <p:cNvSpPr/>
          <p:nvPr/>
        </p:nvSpPr>
        <p:spPr>
          <a:xfrm>
            <a:off x="7863840" y="3520440"/>
            <a:ext cx="3593592" cy="713232"/>
          </a:xfrm>
          <a:prstGeom prst="roundRect">
            <a:avLst>
              <a:gd name="adj" fmla="val 15385"/>
            </a:avLst>
          </a:prstGeom>
          <a:solidFill>
            <a:schemeClr val="bg1"/>
          </a:solidFill>
          <a:ln/>
        </p:spPr>
      </p:sp>
      <p:sp>
        <p:nvSpPr>
          <p:cNvPr id="46" name="num"/>
          <p:cNvSpPr/>
          <p:nvPr/>
        </p:nvSpPr>
        <p:spPr>
          <a:xfrm>
            <a:off x="8001000" y="3657600"/>
            <a:ext cx="438912" cy="438912"/>
          </a:xfrm>
          <a:prstGeom prst="ellipse">
            <a:avLst/>
          </a:prstGeom>
          <a:solidFill>
            <a:schemeClr val="accent1"/>
          </a:solidFill>
          <a:ln/>
        </p:spPr>
      </p:sp>
      <p:sp>
        <p:nvSpPr>
          <p:cNvPr id="47" name="Text 45"/>
          <p:cNvSpPr txBox="1"/>
          <p:nvPr/>
        </p:nvSpPr>
        <p:spPr>
          <a:xfrm>
            <a:off x="8001000" y="365760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48" name="Text 46"/>
          <p:cNvSpPr txBox="1"/>
          <p:nvPr/>
        </p:nvSpPr>
        <p:spPr>
          <a:xfrm>
            <a:off x="8595360" y="3575304"/>
            <a:ext cx="2770632" cy="329184"/>
          </a:xfrm>
          <a:prstGeom prst="rect">
            <a:avLst/>
          </a:prstGeom>
          <a:noFill/>
          <a:ln/>
        </p:spPr>
        <p:txBody>
          <a:bodyPr wrap="square" lIns="0" tIns="0" rIns="0" bIns="0" rtlCol="0" anchor="ctr"/>
          <a:lstStyle/>
          <a:p>
            <a:pPr indent="0" marL="0">
              <a:buNone/>
            </a:pPr>
            <a:r>
              <a:rPr lang="en-US" sz="1350" b="1" dirty="0">
                <a:solidFill>
                  <a:schemeClr val="tx1"/>
                </a:solidFill>
              </a:rPr>
              <a:t>Figma 연결</a:t>
            </a:r>
            <a:endParaRPr lang="en-US" sz="1350" dirty="0"/>
          </a:p>
        </p:txBody>
      </p:sp>
      <p:sp>
        <p:nvSpPr>
          <p:cNvPr id="49" name="Text 47"/>
          <p:cNvSpPr txBox="1"/>
          <p:nvPr/>
        </p:nvSpPr>
        <p:spPr>
          <a:xfrm>
            <a:off x="8595360" y="3886200"/>
            <a:ext cx="2770632" cy="292608"/>
          </a:xfrm>
          <a:prstGeom prst="rect">
            <a:avLst/>
          </a:prstGeom>
          <a:noFill/>
          <a:ln/>
        </p:spPr>
        <p:txBody>
          <a:bodyPr wrap="square" lIns="0" tIns="0" rIns="0" bIns="0" rtlCol="0" anchor="ctr"/>
          <a:lstStyle/>
          <a:p>
            <a:pPr indent="0" marL="0">
              <a:buNone/>
            </a:pPr>
            <a:r>
              <a:rPr lang="en-US" sz="1100" dirty="0">
                <a:solidFill>
                  <a:schemeClr val="tx2"/>
                </a:solidFill>
              </a:rPr>
              <a:t>계정에 한 번만</a:t>
            </a:r>
            <a:endParaRPr lang="en-US" sz="1100" dirty="0"/>
          </a:p>
        </p:txBody>
      </p:sp>
      <p:sp>
        <p:nvSpPr>
          <p:cNvPr id="50" name="map-item"/>
          <p:cNvSpPr/>
          <p:nvPr/>
        </p:nvSpPr>
        <p:spPr>
          <a:xfrm>
            <a:off x="7863840" y="4343400"/>
            <a:ext cx="3593592" cy="713232"/>
          </a:xfrm>
          <a:prstGeom prst="roundRect">
            <a:avLst>
              <a:gd name="adj" fmla="val 15385"/>
            </a:avLst>
          </a:prstGeom>
          <a:solidFill>
            <a:schemeClr val="bg1"/>
          </a:solidFill>
          <a:ln/>
        </p:spPr>
      </p:sp>
      <p:sp>
        <p:nvSpPr>
          <p:cNvPr id="51" name="num"/>
          <p:cNvSpPr/>
          <p:nvPr/>
        </p:nvSpPr>
        <p:spPr>
          <a:xfrm>
            <a:off x="8001000" y="4480560"/>
            <a:ext cx="438912" cy="438912"/>
          </a:xfrm>
          <a:prstGeom prst="ellipse">
            <a:avLst/>
          </a:prstGeom>
          <a:solidFill>
            <a:schemeClr val="accent1"/>
          </a:solidFill>
          <a:ln/>
        </p:spPr>
      </p:sp>
      <p:sp>
        <p:nvSpPr>
          <p:cNvPr id="52" name="Text 50"/>
          <p:cNvSpPr txBox="1"/>
          <p:nvPr/>
        </p:nvSpPr>
        <p:spPr>
          <a:xfrm>
            <a:off x="8001000" y="448056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53" name="Text 51"/>
          <p:cNvSpPr txBox="1"/>
          <p:nvPr/>
        </p:nvSpPr>
        <p:spPr>
          <a:xfrm>
            <a:off x="8595360" y="4398264"/>
            <a:ext cx="2770632" cy="329184"/>
          </a:xfrm>
          <a:prstGeom prst="rect">
            <a:avLst/>
          </a:prstGeom>
          <a:noFill/>
          <a:ln/>
        </p:spPr>
        <p:txBody>
          <a:bodyPr wrap="square" lIns="0" tIns="0" rIns="0" bIns="0" rtlCol="0" anchor="ctr"/>
          <a:lstStyle/>
          <a:p>
            <a:pPr indent="0" marL="0">
              <a:buNone/>
            </a:pPr>
            <a:r>
              <a:rPr lang="en-US" sz="1350" b="1" dirty="0">
                <a:solidFill>
                  <a:schemeClr val="tx1"/>
                </a:solidFill>
              </a:rPr>
              <a:t>점검표</a:t>
            </a:r>
            <a:endParaRPr lang="en-US" sz="1350" dirty="0"/>
          </a:p>
        </p:txBody>
      </p:sp>
      <p:sp>
        <p:nvSpPr>
          <p:cNvPr id="54" name="Text 52"/>
          <p:cNvSpPr txBox="1"/>
          <p:nvPr/>
        </p:nvSpPr>
        <p:spPr>
          <a:xfrm>
            <a:off x="8595360" y="4709160"/>
            <a:ext cx="2770632" cy="292608"/>
          </a:xfrm>
          <a:prstGeom prst="rect">
            <a:avLst/>
          </a:prstGeom>
          <a:noFill/>
          <a:ln/>
        </p:spPr>
        <p:txBody>
          <a:bodyPr wrap="square" lIns="0" tIns="0" rIns="0" bIns="0" rtlCol="0" anchor="ctr"/>
          <a:lstStyle/>
          <a:p>
            <a:pPr indent="0" marL="0">
              <a:buNone/>
            </a:pPr>
            <a:r>
              <a:rPr lang="en-US" sz="1100" dirty="0">
                <a:solidFill>
                  <a:schemeClr val="tx2"/>
                </a:solidFill>
              </a:rPr>
              <a:t>전부 ✅인지</a:t>
            </a:r>
            <a:endParaRPr lang="en-US" sz="1100" dirty="0"/>
          </a:p>
        </p:txBody>
      </p:sp>
      <p:sp>
        <p:nvSpPr>
          <p:cNvPr id="55" name="map-item"/>
          <p:cNvSpPr/>
          <p:nvPr/>
        </p:nvSpPr>
        <p:spPr>
          <a:xfrm>
            <a:off x="7863840" y="5166360"/>
            <a:ext cx="3593592" cy="713232"/>
          </a:xfrm>
          <a:prstGeom prst="roundRect">
            <a:avLst>
              <a:gd name="adj" fmla="val 15385"/>
            </a:avLst>
          </a:prstGeom>
          <a:solidFill>
            <a:schemeClr val="bg1"/>
          </a:solidFill>
          <a:ln/>
        </p:spPr>
      </p:sp>
      <p:sp>
        <p:nvSpPr>
          <p:cNvPr id="56" name="num"/>
          <p:cNvSpPr/>
          <p:nvPr/>
        </p:nvSpPr>
        <p:spPr>
          <a:xfrm>
            <a:off x="8001000" y="5303520"/>
            <a:ext cx="438912" cy="438912"/>
          </a:xfrm>
          <a:prstGeom prst="ellipse">
            <a:avLst/>
          </a:prstGeom>
          <a:solidFill>
            <a:schemeClr val="accent1"/>
          </a:solidFill>
          <a:ln/>
        </p:spPr>
      </p:sp>
      <p:sp>
        <p:nvSpPr>
          <p:cNvPr id="57" name="Text 55"/>
          <p:cNvSpPr txBox="1"/>
          <p:nvPr/>
        </p:nvSpPr>
        <p:spPr>
          <a:xfrm>
            <a:off x="8001000" y="530352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58" name="Text 56"/>
          <p:cNvSpPr txBox="1"/>
          <p:nvPr/>
        </p:nvSpPr>
        <p:spPr>
          <a:xfrm>
            <a:off x="8595360" y="5221224"/>
            <a:ext cx="2770632" cy="329184"/>
          </a:xfrm>
          <a:prstGeom prst="rect">
            <a:avLst/>
          </a:prstGeom>
          <a:noFill/>
          <a:ln/>
        </p:spPr>
        <p:txBody>
          <a:bodyPr wrap="square" lIns="0" tIns="0" rIns="0" bIns="0" rtlCol="0" anchor="ctr"/>
          <a:lstStyle/>
          <a:p>
            <a:pPr indent="0" marL="0">
              <a:buNone/>
            </a:pPr>
            <a:r>
              <a:rPr lang="en-US" sz="1350" b="1" dirty="0">
                <a:solidFill>
                  <a:schemeClr val="tx1"/>
                </a:solidFill>
              </a:rPr>
              <a:t>확인 질문</a:t>
            </a:r>
            <a:endParaRPr lang="en-US" sz="1350" dirty="0"/>
          </a:p>
        </p:txBody>
      </p:sp>
      <p:sp>
        <p:nvSpPr>
          <p:cNvPr id="59" name="Text 57"/>
          <p:cNvSpPr txBox="1"/>
          <p:nvPr/>
        </p:nvSpPr>
        <p:spPr>
          <a:xfrm>
            <a:off x="8595360" y="5532120"/>
            <a:ext cx="2770632" cy="292608"/>
          </a:xfrm>
          <a:prstGeom prst="rect">
            <a:avLst/>
          </a:prstGeom>
          <a:noFill/>
          <a:ln/>
        </p:spPr>
        <p:txBody>
          <a:bodyPr wrap="square" lIns="0" tIns="0" rIns="0" bIns="0" rtlCol="0" anchor="ctr"/>
          <a:lstStyle/>
          <a:p>
            <a:pPr indent="0" marL="0">
              <a:buNone/>
            </a:pPr>
            <a:r>
              <a:rPr lang="en-US" sz="1100" dirty="0">
                <a:solidFill>
                  <a:schemeClr val="tx2"/>
                </a:solidFill>
              </a:rPr>
              <a:t>Claude에게 물어보기</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설치</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1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1.  Claude Code 설치 · 로그인</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옵시디언 안의 Claude(Claudian)가 내부에서 이 프로그램을 씁니다.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621792"/>
          </a:xfrm>
          <a:prstGeom prst="rect">
            <a:avLst/>
          </a:prstGeom>
          <a:noFill/>
          <a:ln/>
        </p:spPr>
        <p:txBody>
          <a:bodyPr wrap="square" lIns="0" tIns="0" rIns="0" bIns="0" rtlCol="0" anchor="t"/>
          <a:lstStyle/>
          <a:p>
            <a:pPr indent="0" marL="0">
              <a:buNone/>
            </a:pPr>
            <a:r>
              <a:rPr lang="en-US" sz="1300" dirty="0">
                <a:solidFill>
                  <a:schemeClr val="tx1"/>
                </a:solidFill>
              </a:rPr>
              <a:t>터미널을 연다 (⌘ + Space → 터미널)</a:t>
            </a:r>
            <a:endParaRPr lang="en-US" sz="1300" dirty="0"/>
          </a:p>
        </p:txBody>
      </p:sp>
      <p:sp>
        <p:nvSpPr>
          <p:cNvPr id="11" name="num"/>
          <p:cNvSpPr/>
          <p:nvPr/>
        </p:nvSpPr>
        <p:spPr>
          <a:xfrm>
            <a:off x="822960" y="3319272"/>
            <a:ext cx="384048" cy="384048"/>
          </a:xfrm>
          <a:prstGeom prst="ellipse">
            <a:avLst/>
          </a:prstGeom>
          <a:solidFill>
            <a:schemeClr val="accent1"/>
          </a:solidFill>
          <a:ln/>
        </p:spPr>
      </p:sp>
      <p:sp>
        <p:nvSpPr>
          <p:cNvPr id="12" name="Text 10"/>
          <p:cNvSpPr txBox="1"/>
          <p:nvPr/>
        </p:nvSpPr>
        <p:spPr>
          <a:xfrm>
            <a:off x="822960" y="331927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246120"/>
            <a:ext cx="4206240" cy="621792"/>
          </a:xfrm>
          <a:prstGeom prst="rect">
            <a:avLst/>
          </a:prstGeom>
          <a:noFill/>
          <a:ln/>
        </p:spPr>
        <p:txBody>
          <a:bodyPr wrap="square" lIns="0" tIns="0" rIns="0" bIns="0" rtlCol="0" anchor="t"/>
          <a:lstStyle/>
          <a:p>
            <a:pPr indent="0" marL="0">
              <a:buNone/>
            </a:pPr>
            <a:r>
              <a:rPr lang="en-US" sz="1300" dirty="0">
                <a:solidFill>
                  <a:schemeClr val="tx1"/>
                </a:solidFill>
              </a:rPr>
              <a:t>오른쪽 첫 줄을 붙여넣고 Enter — 설치가 끝날 때까지 기다린다</a:t>
            </a:r>
            <a:endParaRPr lang="en-US" sz="1300" dirty="0"/>
          </a:p>
        </p:txBody>
      </p:sp>
      <p:sp>
        <p:nvSpPr>
          <p:cNvPr id="14" name="num"/>
          <p:cNvSpPr/>
          <p:nvPr/>
        </p:nvSpPr>
        <p:spPr>
          <a:xfrm>
            <a:off x="822960" y="3995928"/>
            <a:ext cx="384048" cy="384048"/>
          </a:xfrm>
          <a:prstGeom prst="ellipse">
            <a:avLst/>
          </a:prstGeom>
          <a:solidFill>
            <a:schemeClr val="accent1"/>
          </a:solidFill>
          <a:ln/>
        </p:spPr>
      </p:sp>
      <p:sp>
        <p:nvSpPr>
          <p:cNvPr id="15" name="Text 13"/>
          <p:cNvSpPr txBox="1"/>
          <p:nvPr/>
        </p:nvSpPr>
        <p:spPr>
          <a:xfrm>
            <a:off x="822960" y="39959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3922776"/>
            <a:ext cx="4206240" cy="621792"/>
          </a:xfrm>
          <a:prstGeom prst="rect">
            <a:avLst/>
          </a:prstGeom>
          <a:noFill/>
          <a:ln/>
        </p:spPr>
        <p:txBody>
          <a:bodyPr wrap="square" lIns="0" tIns="0" rIns="0" bIns="0" rtlCol="0" anchor="t"/>
          <a:lstStyle/>
          <a:p>
            <a:pPr indent="0" marL="0">
              <a:buNone/>
            </a:pPr>
            <a:r>
              <a:rPr lang="en-US" sz="1300" dirty="0">
                <a:solidFill>
                  <a:schemeClr val="tx1"/>
                </a:solidFill>
              </a:rPr>
              <a:t>claude 를 입력하고 Enter</a:t>
            </a:r>
            <a:endParaRPr lang="en-US" sz="1300" dirty="0"/>
          </a:p>
        </p:txBody>
      </p:sp>
      <p:sp>
        <p:nvSpPr>
          <p:cNvPr id="17" name="num"/>
          <p:cNvSpPr/>
          <p:nvPr/>
        </p:nvSpPr>
        <p:spPr>
          <a:xfrm>
            <a:off x="822960" y="4672584"/>
            <a:ext cx="384048" cy="384048"/>
          </a:xfrm>
          <a:prstGeom prst="ellipse">
            <a:avLst/>
          </a:prstGeom>
          <a:solidFill>
            <a:schemeClr val="accent1"/>
          </a:solidFill>
          <a:ln/>
        </p:spPr>
      </p:sp>
      <p:sp>
        <p:nvSpPr>
          <p:cNvPr id="18" name="Text 16"/>
          <p:cNvSpPr txBox="1"/>
          <p:nvPr/>
        </p:nvSpPr>
        <p:spPr>
          <a:xfrm>
            <a:off x="822960" y="46725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599432"/>
            <a:ext cx="4206240" cy="621792"/>
          </a:xfrm>
          <a:prstGeom prst="rect">
            <a:avLst/>
          </a:prstGeom>
          <a:noFill/>
          <a:ln/>
        </p:spPr>
        <p:txBody>
          <a:bodyPr wrap="square" lIns="0" tIns="0" rIns="0" bIns="0" rtlCol="0" anchor="t"/>
          <a:lstStyle/>
          <a:p>
            <a:pPr indent="0" marL="0">
              <a:buNone/>
            </a:pPr>
            <a:r>
              <a:rPr lang="en-US" sz="1300" dirty="0">
                <a:solidFill>
                  <a:schemeClr val="tx1"/>
                </a:solidFill>
              </a:rPr>
              <a:t>브라우저가 열리면 Claude 계정으로 로그인</a:t>
            </a:r>
            <a:endParaRPr lang="en-US" sz="1300" dirty="0"/>
          </a:p>
        </p:txBody>
      </p:sp>
      <p:sp>
        <p:nvSpPr>
          <p:cNvPr id="20" name="num"/>
          <p:cNvSpPr/>
          <p:nvPr/>
        </p:nvSpPr>
        <p:spPr>
          <a:xfrm>
            <a:off x="822960" y="5349240"/>
            <a:ext cx="384048" cy="384048"/>
          </a:xfrm>
          <a:prstGeom prst="ellipse">
            <a:avLst/>
          </a:prstGeom>
          <a:solidFill>
            <a:schemeClr val="accent1"/>
          </a:solidFill>
          <a:ln/>
        </p:spPr>
      </p:sp>
      <p:sp>
        <p:nvSpPr>
          <p:cNvPr id="21" name="Text 19"/>
          <p:cNvSpPr txBox="1"/>
          <p:nvPr/>
        </p:nvSpPr>
        <p:spPr>
          <a:xfrm>
            <a:off x="822960" y="53492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2" name="Text 20"/>
          <p:cNvSpPr txBox="1"/>
          <p:nvPr/>
        </p:nvSpPr>
        <p:spPr>
          <a:xfrm>
            <a:off x="1371600" y="5276088"/>
            <a:ext cx="4206240" cy="621792"/>
          </a:xfrm>
          <a:prstGeom prst="rect">
            <a:avLst/>
          </a:prstGeom>
          <a:noFill/>
          <a:ln/>
        </p:spPr>
        <p:txBody>
          <a:bodyPr wrap="square" lIns="0" tIns="0" rIns="0" bIns="0" rtlCol="0" anchor="t"/>
          <a:lstStyle/>
          <a:p>
            <a:pPr indent="0" marL="0">
              <a:buNone/>
            </a:pPr>
            <a:r>
              <a:rPr lang="en-US" sz="1300" dirty="0">
                <a:solidFill>
                  <a:schemeClr val="tx1"/>
                </a:solidFill>
              </a:rPr>
              <a:t>터미널에 입력창이 나오면 /exit 입력 → Enter</a:t>
            </a:r>
            <a:endParaRPr lang="en-US" sz="1300" dirty="0"/>
          </a:p>
        </p:txBody>
      </p:sp>
      <p:sp>
        <p:nvSpPr>
          <p:cNvPr id="23" name="terminal"/>
          <p:cNvSpPr/>
          <p:nvPr/>
        </p:nvSpPr>
        <p:spPr>
          <a:xfrm>
            <a:off x="6035040" y="1920240"/>
            <a:ext cx="5605272" cy="1100328"/>
          </a:xfrm>
          <a:prstGeom prst="roundRect">
            <a:avLst>
              <a:gd name="adj" fmla="val 6648"/>
            </a:avLst>
          </a:prstGeom>
          <a:solidFill>
            <a:schemeClr val="tx1"/>
          </a:solidFill>
          <a:ln/>
        </p:spPr>
      </p:sp>
      <p:sp>
        <p:nvSpPr>
          <p:cNvPr id="24" name="terminal-text"/>
          <p:cNvSpPr txBox="1"/>
          <p:nvPr/>
        </p:nvSpPr>
        <p:spPr>
          <a:xfrm>
            <a:off x="6217920" y="2066544"/>
            <a:ext cx="5239512" cy="807720"/>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curl -fsSL https://claude.ai/install.sh | bash</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claude</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로그인 후 → /exit</a:t>
            </a:r>
            <a:endParaRPr lang="en-US" sz="1150" dirty="0"/>
          </a:p>
        </p:txBody>
      </p:sp>
      <p:sp>
        <p:nvSpPr>
          <p:cNvPr id="25" name="box-ok"/>
          <p:cNvSpPr/>
          <p:nvPr/>
        </p:nvSpPr>
        <p:spPr>
          <a:xfrm>
            <a:off x="6035040" y="3249168"/>
            <a:ext cx="5605272" cy="1143000"/>
          </a:xfrm>
          <a:prstGeom prst="roundRect">
            <a:avLst>
              <a:gd name="adj" fmla="val 8000"/>
            </a:avLst>
          </a:prstGeom>
          <a:solidFill>
            <a:schemeClr val="accent3">
              <a:alpha val="10000"/>
            </a:schemeClr>
          </a:solidFill>
          <a:ln/>
        </p:spPr>
      </p:sp>
      <p:sp>
        <p:nvSpPr>
          <p:cNvPr id="26" name="box-text"/>
          <p:cNvSpPr txBox="1"/>
          <p:nvPr/>
        </p:nvSpPr>
        <p:spPr>
          <a:xfrm>
            <a:off x="6236208" y="3377184"/>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claude --version 을 입력하면 버전 번호(예: 2.1.x)가 나온다</a:t>
            </a:r>
            <a:endParaRPr lang="en-US" sz="1200" dirty="0"/>
          </a:p>
        </p:txBody>
      </p:sp>
      <p:sp>
        <p:nvSpPr>
          <p:cNvPr id="27" name="box-no"/>
          <p:cNvSpPr/>
          <p:nvPr/>
        </p:nvSpPr>
        <p:spPr>
          <a:xfrm>
            <a:off x="6035040" y="4575048"/>
            <a:ext cx="5605272" cy="1505712"/>
          </a:xfrm>
          <a:prstGeom prst="roundRect">
            <a:avLst>
              <a:gd name="adj" fmla="val 6073"/>
            </a:avLst>
          </a:prstGeom>
          <a:solidFill>
            <a:schemeClr val="bg2"/>
          </a:solidFill>
          <a:ln/>
        </p:spPr>
      </p:sp>
      <p:sp>
        <p:nvSpPr>
          <p:cNvPr id="28" name="box-text"/>
          <p:cNvSpPr txBox="1"/>
          <p:nvPr/>
        </p:nvSpPr>
        <p:spPr>
          <a:xfrm>
            <a:off x="6236208" y="4703064"/>
            <a:ext cx="5202936" cy="1267968"/>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「command not found: claude」 → 터미널을 닫고 새로 연 뒤 다시 claude</a:t>
            </a:r>
            <a:endParaRPr lang="en-US" sz="1200" dirty="0"/>
          </a:p>
        </p:txBody>
      </p:sp>
      <p:sp>
        <p:nvSpPr>
          <p:cNvPr id="29"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5212080" y="6437376"/>
            <a:ext cx="118872" cy="118872"/>
          </a:xfrm>
          <a:prstGeom prst="ellipse">
            <a:avLst/>
          </a:prstGeom>
          <a:solidFill>
            <a:schemeClr val="bg2"/>
          </a:solidFill>
          <a:ln w="9525">
            <a:solidFill>
              <a:srgbClr val="C9C9D2"/>
            </a:solidFill>
            <a:prstDash val="solid"/>
          </a:ln>
        </p:spPr>
      </p:sp>
      <p:sp>
        <p:nvSpPr>
          <p:cNvPr id="31" name="tracker"/>
          <p:cNvSpPr/>
          <p:nvPr/>
        </p:nvSpPr>
        <p:spPr>
          <a:xfrm>
            <a:off x="5486400" y="6437376"/>
            <a:ext cx="118872" cy="118872"/>
          </a:xfrm>
          <a:prstGeom prst="ellipse">
            <a:avLst/>
          </a:prstGeom>
          <a:solidFill>
            <a:schemeClr val="bg2"/>
          </a:solidFill>
          <a:ln w="9525">
            <a:solidFill>
              <a:srgbClr val="C9C9D2"/>
            </a:solidFill>
            <a:prstDash val="solid"/>
          </a:ln>
        </p:spPr>
      </p:sp>
      <p:sp>
        <p:nvSpPr>
          <p:cNvPr id="32" name="tracker"/>
          <p:cNvSpPr/>
          <p:nvPr/>
        </p:nvSpPr>
        <p:spPr>
          <a:xfrm>
            <a:off x="576072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03504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6309360" y="6437376"/>
            <a:ext cx="118872" cy="118872"/>
          </a:xfrm>
          <a:prstGeom prst="ellipse">
            <a:avLst/>
          </a:prstGeom>
          <a:solidFill>
            <a:schemeClr val="bg2"/>
          </a:solidFill>
          <a:ln w="9525">
            <a:solidFill>
              <a:srgbClr val="C9C9D2"/>
            </a:solidFill>
            <a:prstDash val="solid"/>
          </a:ln>
        </p:spPr>
      </p:sp>
      <p:sp>
        <p:nvSpPr>
          <p:cNvPr id="35"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6"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7"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8" name="Text 36"/>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1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설치</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2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2.  Claudian 플러그인 넣기</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옵시디언 안에서 Claude와 대화하는 창입니다. 6개 볼트 모두에 있어야 합니다.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오른쪽 명령을 통째로 붙여넣고 Enter (허브에 있는 플러그인을 나머지 4개 볼트로 복사)</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옵시디언을 완전히 종료(⌘Q)했다가 다시 연다</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볼트마다 설정(⌘,) → 커뮤니티 플러그인 → Claudian이 켜져 있는지 확인</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Claudian 설정의 「사용자 설정 불러오기」가 켜져 있는지 확인 (기본값 켜짐)</a:t>
            </a:r>
            <a:endParaRPr lang="en-US" sz="1300" dirty="0"/>
          </a:p>
        </p:txBody>
      </p:sp>
      <p:sp>
        <p:nvSpPr>
          <p:cNvPr id="20" name="terminal"/>
          <p:cNvSpPr/>
          <p:nvPr/>
        </p:nvSpPr>
        <p:spPr>
          <a:xfrm>
            <a:off x="6035040" y="1920240"/>
            <a:ext cx="5605272" cy="1678686"/>
          </a:xfrm>
          <a:prstGeom prst="roundRect">
            <a:avLst>
              <a:gd name="adj" fmla="val 4358"/>
            </a:avLst>
          </a:prstGeom>
          <a:solidFill>
            <a:schemeClr val="tx1"/>
          </a:solidFill>
          <a:ln/>
        </p:spPr>
      </p:sp>
      <p:sp>
        <p:nvSpPr>
          <p:cNvPr id="21" name="terminal-text"/>
          <p:cNvSpPr txBox="1"/>
          <p:nvPr/>
        </p:nvSpPr>
        <p:spPr>
          <a:xfrm>
            <a:off x="6217920" y="2066544"/>
            <a:ext cx="5239512" cy="1386078"/>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cd ~/Documents/GitHub/design</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for v in cdbd-design-system cdbd-marketing \</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cdbd-templates makevu-qrstp; do</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mkdir -p "$v/.obsidian/plugins"</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cp -R .obsidian/plugins/realclaudian \</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"$v/.obsidian/plugins/"</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done</a:t>
            </a:r>
            <a:endParaRPr lang="en-US" sz="1150" dirty="0"/>
          </a:p>
        </p:txBody>
      </p:sp>
      <p:sp>
        <p:nvSpPr>
          <p:cNvPr id="22" name="box-ok"/>
          <p:cNvSpPr/>
          <p:nvPr/>
        </p:nvSpPr>
        <p:spPr>
          <a:xfrm>
            <a:off x="6035040" y="3827526"/>
            <a:ext cx="5605272" cy="1126617"/>
          </a:xfrm>
          <a:prstGeom prst="roundRect">
            <a:avLst>
              <a:gd name="adj" fmla="val 8116"/>
            </a:avLst>
          </a:prstGeom>
          <a:solidFill>
            <a:schemeClr val="accent3">
              <a:alpha val="10000"/>
            </a:schemeClr>
          </a:solidFill>
          <a:ln/>
        </p:spPr>
      </p:sp>
      <p:sp>
        <p:nvSpPr>
          <p:cNvPr id="23" name="box-text"/>
          <p:cNvSpPr txBox="1"/>
          <p:nvPr/>
        </p:nvSpPr>
        <p:spPr>
          <a:xfrm>
            <a:off x="6236208" y="3955542"/>
            <a:ext cx="5202936" cy="888873"/>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6개 볼트 모두 커뮤니티 플러그인 목록에 Claudian이 켜져 있다</a:t>
            </a:r>
            <a:endParaRPr lang="en-US" sz="1200" dirty="0"/>
          </a:p>
        </p:txBody>
      </p:sp>
      <p:sp>
        <p:nvSpPr>
          <p:cNvPr id="24" name="box-no"/>
          <p:cNvSpPr/>
          <p:nvPr/>
        </p:nvSpPr>
        <p:spPr>
          <a:xfrm>
            <a:off x="6035040" y="5137023"/>
            <a:ext cx="5605272" cy="943737"/>
          </a:xfrm>
          <a:prstGeom prst="roundRect">
            <a:avLst>
              <a:gd name="adj" fmla="val 9689"/>
            </a:avLst>
          </a:prstGeom>
          <a:solidFill>
            <a:schemeClr val="bg2"/>
          </a:solidFill>
          <a:ln/>
        </p:spPr>
      </p:sp>
      <p:sp>
        <p:nvSpPr>
          <p:cNvPr id="25" name="box-text"/>
          <p:cNvSpPr txBox="1"/>
          <p:nvPr/>
        </p:nvSpPr>
        <p:spPr>
          <a:xfrm>
            <a:off x="6236208" y="5265039"/>
            <a:ext cx="5202936" cy="705993"/>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커뮤니티 플러그인이 꺼져 있으면 「커뮤니티 플러그인 켜기」를 먼저 (ONBOARDING §3-5)</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bg2"/>
          </a:solidFill>
          <a:ln w="9525">
            <a:solidFill>
              <a:srgbClr val="C9C9D2"/>
            </a:solidFill>
            <a:prstDash val="solid"/>
          </a:ln>
        </p:spPr>
      </p:sp>
      <p:sp>
        <p:nvSpPr>
          <p:cNvPr id="29" name="tracker"/>
          <p:cNvSpPr/>
          <p:nvPr/>
        </p:nvSpPr>
        <p:spPr>
          <a:xfrm>
            <a:off x="5760720" y="6437376"/>
            <a:ext cx="118872" cy="118872"/>
          </a:xfrm>
          <a:prstGeom prst="ellipse">
            <a:avLst/>
          </a:prstGeom>
          <a:solidFill>
            <a:schemeClr val="bg2"/>
          </a:solidFill>
          <a:ln w="9525">
            <a:solidFill>
              <a:srgbClr val="C9C9D2"/>
            </a:solidFill>
            <a:prstDash val="solid"/>
          </a:ln>
        </p:spPr>
      </p:sp>
      <p:sp>
        <p:nvSpPr>
          <p:cNvPr id="30" name="tracker"/>
          <p:cNvSpPr/>
          <p:nvPr/>
        </p:nvSpPr>
        <p:spPr>
          <a:xfrm>
            <a:off x="6035040" y="6437376"/>
            <a:ext cx="118872" cy="118872"/>
          </a:xfrm>
          <a:prstGeom prst="ellipse">
            <a:avLst/>
          </a:prstGeom>
          <a:solidFill>
            <a:schemeClr val="bg2"/>
          </a:solidFill>
          <a:ln w="9525">
            <a:solidFill>
              <a:srgbClr val="C9C9D2"/>
            </a:solidFill>
            <a:prstDash val="solid"/>
          </a:ln>
        </p:spPr>
      </p:sp>
      <p:sp>
        <p:nvSpPr>
          <p:cNvPr id="31" name="tracker"/>
          <p:cNvSpPr/>
          <p:nvPr/>
        </p:nvSpPr>
        <p:spPr>
          <a:xfrm>
            <a:off x="6309360" y="6437376"/>
            <a:ext cx="118872" cy="118872"/>
          </a:xfrm>
          <a:prstGeom prst="ellipse">
            <a:avLst/>
          </a:prstGeom>
          <a:solidFill>
            <a:schemeClr val="bg2"/>
          </a:solidFill>
          <a:ln w="9525">
            <a:solidFill>
              <a:srgbClr val="C9C9D2"/>
            </a:solidFill>
            <a:prstDash val="solid"/>
          </a:ln>
        </p:spPr>
      </p:sp>
      <p:sp>
        <p:nvSpPr>
          <p:cNvPr id="32"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2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설치</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3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3.  gstack 설치 (Claude용 브라우저)</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Claude가 CdBd 에디터를 화면 없이 직접 조작할 때 쓰는 브라우저입니다.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첫 줄 붙여넣기 — Bun(설치 도구)이 없으면 설치된다</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Bun을 새로 설치했다면 터미널을 닫고 새로 연다</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나머지 두 줄을 붙여넣고 Enter — 몇 분 걸릴 수 있다</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끝나면 마지막 줄로 설치를 확인한다</a:t>
            </a:r>
            <a:endParaRPr lang="en-US" sz="1300" dirty="0"/>
          </a:p>
        </p:txBody>
      </p:sp>
      <p:sp>
        <p:nvSpPr>
          <p:cNvPr id="20" name="terminal"/>
          <p:cNvSpPr/>
          <p:nvPr/>
        </p:nvSpPr>
        <p:spPr>
          <a:xfrm>
            <a:off x="6035040" y="1920240"/>
            <a:ext cx="5605272" cy="1385316"/>
          </a:xfrm>
          <a:prstGeom prst="roundRect">
            <a:avLst>
              <a:gd name="adj" fmla="val 5281"/>
            </a:avLst>
          </a:prstGeom>
          <a:solidFill>
            <a:schemeClr val="tx1"/>
          </a:solidFill>
          <a:ln/>
        </p:spPr>
      </p:sp>
      <p:sp>
        <p:nvSpPr>
          <p:cNvPr id="21" name="terminal-text"/>
          <p:cNvSpPr txBox="1"/>
          <p:nvPr/>
        </p:nvSpPr>
        <p:spPr>
          <a:xfrm>
            <a:off x="6217920" y="2066544"/>
            <a:ext cx="5239512" cy="1092708"/>
          </a:xfrm>
          <a:prstGeom prst="rect">
            <a:avLst/>
          </a:prstGeom>
          <a:noFill/>
          <a:ln/>
        </p:spPr>
        <p:txBody>
          <a:bodyPr wrap="square" lIns="0" tIns="0" rIns="0" bIns="0" rtlCol="0" anchor="t"/>
          <a:lstStyle/>
          <a:p>
            <a:pPr indent="0" marL="0">
              <a:buNone/>
            </a:pPr>
            <a:r>
              <a:rPr lang="en-US" sz="1050" dirty="0">
                <a:solidFill>
                  <a:schemeClr val="bg1"/>
                </a:solidFill>
                <a:latin typeface="Menlo" pitchFamily="34" charset="0"/>
                <a:ea typeface="Menlo" pitchFamily="34" charset="-122"/>
                <a:cs typeface="Menlo" pitchFamily="34" charset="-120"/>
              </a:rPr>
              <a:t>command -v bun || curl -fsSL https://bun.sh/install | bash</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 </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git clone --depth 1 https://github.com/garrytan/gstack.git \</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  ~/.claude/skills/gstack &amp;&amp; cd ~/.claude/skills/gstack &amp;&amp; ./setup</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 </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ls ~/.claude/skills/gstack/browse/dist/browse   # 확인</a:t>
            </a:r>
            <a:endParaRPr lang="en-US" sz="1050" dirty="0"/>
          </a:p>
        </p:txBody>
      </p:sp>
      <p:sp>
        <p:nvSpPr>
          <p:cNvPr id="22" name="box-ok"/>
          <p:cNvSpPr/>
          <p:nvPr/>
        </p:nvSpPr>
        <p:spPr>
          <a:xfrm>
            <a:off x="6035040" y="3534156"/>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3662172"/>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마지막 줄을 실행하면 「…/browse」 경로가 그대로 출력된다</a:t>
            </a:r>
            <a:endParaRPr lang="en-US" sz="1200" dirty="0"/>
          </a:p>
        </p:txBody>
      </p:sp>
      <p:sp>
        <p:nvSpPr>
          <p:cNvPr id="24" name="box-no"/>
          <p:cNvSpPr/>
          <p:nvPr/>
        </p:nvSpPr>
        <p:spPr>
          <a:xfrm>
            <a:off x="6035040" y="4860036"/>
            <a:ext cx="5605272" cy="1220724"/>
          </a:xfrm>
          <a:prstGeom prst="roundRect">
            <a:avLst>
              <a:gd name="adj" fmla="val 7491"/>
            </a:avLst>
          </a:prstGeom>
          <a:solidFill>
            <a:schemeClr val="bg2"/>
          </a:solidFill>
          <a:ln/>
        </p:spPr>
      </p:sp>
      <p:sp>
        <p:nvSpPr>
          <p:cNvPr id="25" name="box-text"/>
          <p:cNvSpPr txBox="1"/>
          <p:nvPr/>
        </p:nvSpPr>
        <p:spPr>
          <a:xfrm>
            <a:off x="6236208" y="4988052"/>
            <a:ext cx="5202936" cy="98298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「No such file」 → cd ~/.claude/skills/gstack &amp;&amp; bun install &amp;&amp; bun run build</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bg2"/>
          </a:solidFill>
          <a:ln w="9525">
            <a:solidFill>
              <a:srgbClr val="C9C9D2"/>
            </a:solidFill>
            <a:prstDash val="solid"/>
          </a:ln>
        </p:spPr>
      </p:sp>
      <p:sp>
        <p:nvSpPr>
          <p:cNvPr id="30" name="tracker"/>
          <p:cNvSpPr/>
          <p:nvPr/>
        </p:nvSpPr>
        <p:spPr>
          <a:xfrm>
            <a:off x="6035040" y="6437376"/>
            <a:ext cx="118872" cy="118872"/>
          </a:xfrm>
          <a:prstGeom prst="ellipse">
            <a:avLst/>
          </a:prstGeom>
          <a:solidFill>
            <a:schemeClr val="bg2"/>
          </a:solidFill>
          <a:ln w="9525">
            <a:solidFill>
              <a:srgbClr val="C9C9D2"/>
            </a:solidFill>
            <a:prstDash val="solid"/>
          </a:ln>
        </p:spPr>
      </p:sp>
      <p:sp>
        <p:nvSpPr>
          <p:cNvPr id="31" name="tracker"/>
          <p:cNvSpPr/>
          <p:nvPr/>
        </p:nvSpPr>
        <p:spPr>
          <a:xfrm>
            <a:off x="6309360" y="6437376"/>
            <a:ext cx="118872" cy="118872"/>
          </a:xfrm>
          <a:prstGeom prst="ellipse">
            <a:avLst/>
          </a:prstGeom>
          <a:solidFill>
            <a:schemeClr val="bg2"/>
          </a:solidFill>
          <a:ln w="9525">
            <a:solidFill>
              <a:srgbClr val="C9C9D2"/>
            </a:solidFill>
            <a:prstDash val="solid"/>
          </a:ln>
        </p:spPr>
      </p:sp>
      <p:sp>
        <p:nvSpPr>
          <p:cNvPr id="32"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3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연결</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4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4.  셋업 스크립트 실행</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카드 자동화 · 로그인 도구 · 팀 안내 · 시작 점검을 한 번에 연결합니다. 몇 번 실행해도 안전합니다.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오른쪽 한 줄을 붙여넣고 Enter</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1~8번 항목이 차례로 ✅ · 🔧 로 찍힌다</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처음에는 「⚠️ cdbd.env 견본을 만들었습니다」가 나온다 — 정상</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그대로 STEP 5로 넘어간다</a:t>
            </a:r>
            <a:endParaRPr lang="en-US" sz="1300" dirty="0"/>
          </a:p>
        </p:txBody>
      </p:sp>
      <p:sp>
        <p:nvSpPr>
          <p:cNvPr id="20" name="terminal"/>
          <p:cNvSpPr/>
          <p:nvPr/>
        </p:nvSpPr>
        <p:spPr>
          <a:xfrm>
            <a:off x="6035040" y="1920240"/>
            <a:ext cx="5605272" cy="1485900"/>
          </a:xfrm>
          <a:prstGeom prst="roundRect">
            <a:avLst>
              <a:gd name="adj" fmla="val 4923"/>
            </a:avLst>
          </a:prstGeom>
          <a:solidFill>
            <a:schemeClr val="tx1"/>
          </a:solidFill>
          <a:ln/>
        </p:spPr>
      </p:sp>
      <p:sp>
        <p:nvSpPr>
          <p:cNvPr id="21" name="terminal-text"/>
          <p:cNvSpPr txBox="1"/>
          <p:nvPr/>
        </p:nvSpPr>
        <p:spPr>
          <a:xfrm>
            <a:off x="6217920" y="2066544"/>
            <a:ext cx="5239512" cy="1193292"/>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bash ~/Documents/GitHub/design/tools/cdbd-setup.sh</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첫 실행 결과 예시</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 cdbd-templates</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 cdbd-card-automation — 링크 생성</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  cdbd.env 견본을 만들었습니다 → …</a:t>
            </a:r>
            <a:endParaRPr lang="en-US" sz="1150" dirty="0"/>
          </a:p>
        </p:txBody>
      </p:sp>
      <p:sp>
        <p:nvSpPr>
          <p:cNvPr id="22" name="box-ok"/>
          <p:cNvSpPr/>
          <p:nvPr/>
        </p:nvSpPr>
        <p:spPr>
          <a:xfrm>
            <a:off x="6035040" y="3634740"/>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3762756"/>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마지막 줄 「완료 — ✅ … · 🔧 고침 … · ⚠️ 확인 필요 1」 (cdbd.env 1개)</a:t>
            </a:r>
            <a:endParaRPr lang="en-US" sz="1200" dirty="0"/>
          </a:p>
        </p:txBody>
      </p:sp>
      <p:sp>
        <p:nvSpPr>
          <p:cNvPr id="24" name="box-no"/>
          <p:cNvSpPr/>
          <p:nvPr/>
        </p:nvSpPr>
        <p:spPr>
          <a:xfrm>
            <a:off x="6035040" y="4960620"/>
            <a:ext cx="5605272" cy="1120140"/>
          </a:xfrm>
          <a:prstGeom prst="roundRect">
            <a:avLst>
              <a:gd name="adj" fmla="val 8163"/>
            </a:avLst>
          </a:prstGeom>
          <a:solidFill>
            <a:schemeClr val="bg2"/>
          </a:solidFill>
          <a:ln/>
        </p:spPr>
      </p:sp>
      <p:sp>
        <p:nvSpPr>
          <p:cNvPr id="25" name="box-text"/>
          <p:cNvSpPr txBox="1"/>
          <p:nvPr/>
        </p:nvSpPr>
        <p:spPr>
          <a:xfrm>
            <a:off x="6236208" y="5088636"/>
            <a:ext cx="5202936" cy="882396"/>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 gstack이 없습니다」 → STEP 3 · 「clone 실패」 → SSH 키 확인 (ONBOARDING §3-2)</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bg2"/>
          </a:solidFill>
          <a:ln w="9525">
            <a:solidFill>
              <a:srgbClr val="C9C9D2"/>
            </a:solidFill>
            <a:prstDash val="solid"/>
          </a:ln>
        </p:spPr>
      </p:sp>
      <p:sp>
        <p:nvSpPr>
          <p:cNvPr id="31" name="tracker"/>
          <p:cNvSpPr/>
          <p:nvPr/>
        </p:nvSpPr>
        <p:spPr>
          <a:xfrm>
            <a:off x="6309360" y="6437376"/>
            <a:ext cx="118872" cy="118872"/>
          </a:xfrm>
          <a:prstGeom prst="ellipse">
            <a:avLst/>
          </a:prstGeom>
          <a:solidFill>
            <a:schemeClr val="bg2"/>
          </a:solidFill>
          <a:ln w="9525">
            <a:solidFill>
              <a:srgbClr val="C9C9D2"/>
            </a:solidFill>
            <a:prstDash val="solid"/>
          </a:ln>
        </p:spPr>
      </p:sp>
      <p:sp>
        <p:nvSpPr>
          <p:cNvPr id="32"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4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연결</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5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5.  cdbd.env 채우기</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Claude가 CdBd에 로그인할 때 쓰는 공용 계정 정보입니다. 내 맥에만 저장되고 GitHub에는 올라가지 않습니다.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첫 줄을 붙여넣으면 텍스트 편집기가 열린다</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각 줄의 = 뒤에 값을 붙여 쓴다 (띄어쓰기 · 따옴표 없이)</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⌘S로 저장하고 창을 닫는다</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STEP 4 명령을 한 번 더 실행한다</a:t>
            </a:r>
            <a:endParaRPr lang="en-US" sz="1300" dirty="0"/>
          </a:p>
        </p:txBody>
      </p:sp>
      <p:sp>
        <p:nvSpPr>
          <p:cNvPr id="20" name="terminal"/>
          <p:cNvSpPr/>
          <p:nvPr/>
        </p:nvSpPr>
        <p:spPr>
          <a:xfrm>
            <a:off x="6035040" y="1920240"/>
            <a:ext cx="5605272" cy="1871472"/>
          </a:xfrm>
          <a:prstGeom prst="roundRect">
            <a:avLst>
              <a:gd name="adj" fmla="val 3909"/>
            </a:avLst>
          </a:prstGeom>
          <a:solidFill>
            <a:schemeClr val="tx1"/>
          </a:solidFill>
          <a:ln/>
        </p:spPr>
      </p:sp>
      <p:sp>
        <p:nvSpPr>
          <p:cNvPr id="21" name="terminal-text"/>
          <p:cNvSpPr txBox="1"/>
          <p:nvPr/>
        </p:nvSpPr>
        <p:spPr>
          <a:xfrm>
            <a:off x="6217920" y="2066544"/>
            <a:ext cx="5239512" cy="1578864"/>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open -e ~/.config/cdbd/cdbd.env</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이렇게 채웁니다</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CDBD_EMAIL=공용계정이메일</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CDBD_PASSWORD=공용계정비밀번호</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CDBD_SUPABASE_URL=https://…(받은 값)</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CDBD_SUPABASE_ANON_KEY=…(받은 값)</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FIGMA_PAT=            # 비워 둬도 됨</a:t>
            </a:r>
            <a:endParaRPr lang="en-US" sz="1150" dirty="0"/>
          </a:p>
        </p:txBody>
      </p:sp>
      <p:sp>
        <p:nvSpPr>
          <p:cNvPr id="22" name="box-ok"/>
          <p:cNvSpPr/>
          <p:nvPr/>
        </p:nvSpPr>
        <p:spPr>
          <a:xfrm>
            <a:off x="6035040" y="4020312"/>
            <a:ext cx="5605272" cy="1030224"/>
          </a:xfrm>
          <a:prstGeom prst="roundRect">
            <a:avLst>
              <a:gd name="adj" fmla="val 8876"/>
            </a:avLst>
          </a:prstGeom>
          <a:solidFill>
            <a:schemeClr val="accent3">
              <a:alpha val="10000"/>
            </a:schemeClr>
          </a:solidFill>
          <a:ln/>
        </p:spPr>
      </p:sp>
      <p:sp>
        <p:nvSpPr>
          <p:cNvPr id="23" name="box-text"/>
          <p:cNvSpPr txBox="1"/>
          <p:nvPr/>
        </p:nvSpPr>
        <p:spPr>
          <a:xfrm>
            <a:off x="6236208" y="4148328"/>
            <a:ext cx="5202936" cy="792480"/>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다시 실행한 셋업의 마지막 줄이 「⚠️ 확인 필요 0」, 8번이 「✅ get_credentials()」</a:t>
            </a:r>
            <a:endParaRPr lang="en-US" sz="1200" dirty="0"/>
          </a:p>
        </p:txBody>
      </p:sp>
      <p:sp>
        <p:nvSpPr>
          <p:cNvPr id="24" name="box-red"/>
          <p:cNvSpPr/>
          <p:nvPr/>
        </p:nvSpPr>
        <p:spPr>
          <a:xfrm>
            <a:off x="6035040" y="5233416"/>
            <a:ext cx="5605272" cy="847344"/>
          </a:xfrm>
          <a:prstGeom prst="roundRect">
            <a:avLst>
              <a:gd name="adj" fmla="val 10791"/>
            </a:avLst>
          </a:prstGeom>
          <a:solidFill>
            <a:schemeClr val="accent5">
              <a:alpha val="10000"/>
            </a:schemeClr>
          </a:solidFill>
          <a:ln/>
        </p:spPr>
      </p:sp>
      <p:sp>
        <p:nvSpPr>
          <p:cNvPr id="25" name="box-text"/>
          <p:cNvSpPr txBox="1"/>
          <p:nvPr/>
        </p:nvSpPr>
        <p:spPr>
          <a:xfrm>
            <a:off x="6236208" y="5361432"/>
            <a:ext cx="5202936" cy="609600"/>
          </a:xfrm>
          <a:prstGeom prst="rect">
            <a:avLst/>
          </a:prstGeom>
          <a:noFill/>
          <a:ln/>
        </p:spPr>
        <p:txBody>
          <a:bodyPr wrap="square" lIns="0" tIns="0" rIns="0" bIns="0" rtlCol="0" anchor="t"/>
          <a:lstStyle/>
          <a:p>
            <a:pPr indent="0" marL="0">
              <a:spcAft>
                <a:spcPts val="200"/>
              </a:spcAft>
              <a:buNone/>
            </a:pPr>
            <a:r>
              <a:rPr lang="en-US" sz="1250" b="1" dirty="0">
                <a:solidFill>
                  <a:schemeClr val="accent5"/>
                </a:solidFill>
              </a:rPr>
              <a:t>주의</a:t>
            </a:r>
            <a:endParaRPr lang="en-US" sz="1200" dirty="0"/>
          </a:p>
          <a:p>
            <a:pPr indent="0" marL="0">
              <a:spcAft>
                <a:spcPts val="200"/>
              </a:spcAft>
              <a:buNone/>
            </a:pPr>
            <a:r>
              <a:rPr lang="en-US" sz="1200" dirty="0">
                <a:solidFill>
                  <a:schemeClr val="tx1"/>
                </a:solidFill>
              </a:rPr>
              <a:t>🔴 credentials.json은 복사하지 않습니다 — 셋업이 내 맥용을 자동으로 받습니다 (cdbd.env는 옮겨도 OK)</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accent1"/>
          </a:solidFill>
          <a:ln w="9525">
            <a:solidFill>
              <a:schemeClr val="accent1"/>
            </a:solidFill>
            <a:prstDash val="solid"/>
          </a:ln>
        </p:spPr>
      </p:sp>
      <p:sp>
        <p:nvSpPr>
          <p:cNvPr id="31" name="tracker"/>
          <p:cNvSpPr/>
          <p:nvPr/>
        </p:nvSpPr>
        <p:spPr>
          <a:xfrm>
            <a:off x="6309360" y="6437376"/>
            <a:ext cx="118872" cy="118872"/>
          </a:xfrm>
          <a:prstGeom prst="ellipse">
            <a:avLst/>
          </a:prstGeom>
          <a:solidFill>
            <a:schemeClr val="bg2"/>
          </a:solidFill>
          <a:ln w="9525">
            <a:solidFill>
              <a:srgbClr val="C9C9D2"/>
            </a:solidFill>
            <a:prstDash val="solid"/>
          </a:ln>
        </p:spPr>
      </p:sp>
      <p:sp>
        <p:nvSpPr>
          <p:cNvPr id="32"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5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확인</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6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6.  폴더 신뢰 승인 (볼트 6곳)</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승인 전에는 볼트에 넣어 둔 Claude 허용 설정이 무시됩니다. 볼트마다 한 번만 하면 됩니다.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오른쪽 첫 줄을 붙여넣고 Enter</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「Do you trust the files in this folder?」 → 1. Yes, proceed 에서 Enter</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입력창이 나오면 /exit → Enter</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나머지 5줄도 하나씩 같은 방법으로</a:t>
            </a:r>
            <a:endParaRPr lang="en-US" sz="1300" dirty="0"/>
          </a:p>
        </p:txBody>
      </p:sp>
      <p:sp>
        <p:nvSpPr>
          <p:cNvPr id="20" name="terminal"/>
          <p:cNvSpPr/>
          <p:nvPr/>
        </p:nvSpPr>
        <p:spPr>
          <a:xfrm>
            <a:off x="6035040" y="1920240"/>
            <a:ext cx="5605272" cy="1385316"/>
          </a:xfrm>
          <a:prstGeom prst="roundRect">
            <a:avLst>
              <a:gd name="adj" fmla="val 5281"/>
            </a:avLst>
          </a:prstGeom>
          <a:solidFill>
            <a:schemeClr val="tx1"/>
          </a:solidFill>
          <a:ln/>
        </p:spPr>
      </p:sp>
      <p:sp>
        <p:nvSpPr>
          <p:cNvPr id="21" name="terminal-text"/>
          <p:cNvSpPr txBox="1"/>
          <p:nvPr/>
        </p:nvSpPr>
        <p:spPr>
          <a:xfrm>
            <a:off x="6217920" y="2066544"/>
            <a:ext cx="5239512" cy="1092708"/>
          </a:xfrm>
          <a:prstGeom prst="rect">
            <a:avLst/>
          </a:prstGeom>
          <a:noFill/>
          <a:ln/>
        </p:spPr>
        <p:txBody>
          <a:bodyPr wrap="square" lIns="0" tIns="0" rIns="0" bIns="0" rtlCol="0" anchor="t"/>
          <a:lstStyle/>
          <a:p>
            <a:pPr indent="0" marL="0">
              <a:buNone/>
            </a:pPr>
            <a:r>
              <a:rPr lang="en-US" sz="1050" dirty="0">
                <a:solidFill>
                  <a:schemeClr val="bg1"/>
                </a:solidFill>
                <a:latin typeface="Menlo" pitchFamily="34" charset="0"/>
                <a:ea typeface="Menlo" pitchFamily="34" charset="-122"/>
                <a:cs typeface="Menlo" pitchFamily="34" charset="-120"/>
              </a:rPr>
              <a:t>cd ~/Documents/GitHub/design &amp;&amp; claude</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cd ~/Documents/GitHub/design/cdbd-templates &amp;&amp; claude</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cd ~/Documents/GitHub/design/cdbd-design-service &amp;&amp; claude</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cd ~/Documents/GitHub/design/cdbd-design-system &amp;&amp; claude</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cd ~/Documents/GitHub/design/cdbd-marketing &amp;&amp; claude</a:t>
            </a:r>
            <a:endParaRPr lang="en-US" sz="1050" dirty="0"/>
          </a:p>
          <a:p>
            <a:pPr indent="0" marL="0">
              <a:buNone/>
            </a:pPr>
            <a:r>
              <a:rPr lang="en-US" sz="1050" dirty="0">
                <a:solidFill>
                  <a:schemeClr val="bg1"/>
                </a:solidFill>
                <a:latin typeface="Menlo" pitchFamily="34" charset="0"/>
                <a:ea typeface="Menlo" pitchFamily="34" charset="-122"/>
                <a:cs typeface="Menlo" pitchFamily="34" charset="-120"/>
              </a:rPr>
              <a:t>cd ~/Documents/GitHub/design/makevu-qrstp &amp;&amp; claude</a:t>
            </a:r>
            <a:endParaRPr lang="en-US" sz="1050" dirty="0"/>
          </a:p>
        </p:txBody>
      </p:sp>
      <p:sp>
        <p:nvSpPr>
          <p:cNvPr id="22" name="box-ok"/>
          <p:cNvSpPr/>
          <p:nvPr/>
        </p:nvSpPr>
        <p:spPr>
          <a:xfrm>
            <a:off x="6035040" y="3534156"/>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3662172"/>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같은 줄을 다시 실행하면 질문 없이 바로 입력창이 나온다</a:t>
            </a:r>
            <a:endParaRPr lang="en-US" sz="1200" dirty="0"/>
          </a:p>
        </p:txBody>
      </p:sp>
      <p:sp>
        <p:nvSpPr>
          <p:cNvPr id="24" name="box-no"/>
          <p:cNvSpPr/>
          <p:nvPr/>
        </p:nvSpPr>
        <p:spPr>
          <a:xfrm>
            <a:off x="6035040" y="4860036"/>
            <a:ext cx="5605272" cy="1220724"/>
          </a:xfrm>
          <a:prstGeom prst="roundRect">
            <a:avLst>
              <a:gd name="adj" fmla="val 7491"/>
            </a:avLst>
          </a:prstGeom>
          <a:solidFill>
            <a:schemeClr val="bg2"/>
          </a:solidFill>
          <a:ln/>
        </p:spPr>
      </p:sp>
      <p:sp>
        <p:nvSpPr>
          <p:cNvPr id="25" name="box-text"/>
          <p:cNvSpPr txBox="1"/>
          <p:nvPr/>
        </p:nvSpPr>
        <p:spPr>
          <a:xfrm>
            <a:off x="6236208" y="4988052"/>
            <a:ext cx="5202936" cy="98298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/exit가 안 먹으면 Ctrl + C 두 번</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accent1"/>
          </a:solidFill>
          <a:ln w="9525">
            <a:solidFill>
              <a:schemeClr val="accent1"/>
            </a:solidFill>
            <a:prstDash val="solid"/>
          </a:ln>
        </p:spPr>
      </p:sp>
      <p:sp>
        <p:nvSpPr>
          <p:cNvPr id="31" name="tracker"/>
          <p:cNvSpPr/>
          <p:nvPr/>
        </p:nvSpPr>
        <p:spPr>
          <a:xfrm>
            <a:off x="6309360" y="6437376"/>
            <a:ext cx="118872" cy="118872"/>
          </a:xfrm>
          <a:prstGeom prst="ellipse">
            <a:avLst/>
          </a:prstGeom>
          <a:solidFill>
            <a:schemeClr val="accent1"/>
          </a:solidFill>
          <a:ln w="9525">
            <a:solidFill>
              <a:schemeClr val="accent1"/>
            </a:solidFill>
            <a:prstDash val="solid"/>
          </a:ln>
        </p:spPr>
      </p:sp>
      <p:sp>
        <p:nvSpPr>
          <p:cNvPr id="32" name="tracker"/>
          <p:cNvSpPr/>
          <p:nvPr/>
        </p:nvSpPr>
        <p:spPr>
          <a:xfrm>
            <a:off x="6583680" y="6437376"/>
            <a:ext cx="118872" cy="118872"/>
          </a:xfrm>
          <a:prstGeom prst="ellipse">
            <a:avLst/>
          </a:prstGeom>
          <a:solidFill>
            <a:schemeClr val="bg2"/>
          </a:solidFill>
          <a:ln w="9525">
            <a:solidFill>
              <a:srgbClr val="C9C9D2"/>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6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확인</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7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7.  Figma 연결</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Claude가 Figma 시안을 읽고 만들 수 있게 합니다. 계정에 한 번만 하면 모든 맥에 적용됩니다.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브라우저에서 claude.ai 에 로그인</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설정 → 커넥터(Connectors)로 이동</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Figma를 찾아 「연결」 → Figma 로그인 · 허용</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이미 「연결됨」이면 건너뛴다</a:t>
            </a:r>
            <a:endParaRPr lang="en-US" sz="1300" dirty="0"/>
          </a:p>
        </p:txBody>
      </p:sp>
      <p:sp>
        <p:nvSpPr>
          <p:cNvPr id="20" name="web-card"/>
          <p:cNvSpPr/>
          <p:nvPr/>
        </p:nvSpPr>
        <p:spPr>
          <a:xfrm>
            <a:off x="6035040" y="1920240"/>
            <a:ext cx="5605272" cy="1463040"/>
          </a:xfrm>
          <a:prstGeom prst="roundRect">
            <a:avLst>
              <a:gd name="adj" fmla="val 7500"/>
            </a:avLst>
          </a:prstGeom>
          <a:solidFill>
            <a:schemeClr val="accent1">
              <a:alpha val="10000"/>
            </a:schemeClr>
          </a:solidFill>
          <a:ln/>
        </p:spPr>
      </p:sp>
      <p:sp>
        <p:nvSpPr>
          <p:cNvPr id="21" name="Text 19"/>
          <p:cNvSpPr txBox="1"/>
          <p:nvPr/>
        </p:nvSpPr>
        <p:spPr>
          <a:xfrm>
            <a:off x="6263640" y="2103120"/>
            <a:ext cx="5148072" cy="1097280"/>
          </a:xfrm>
          <a:prstGeom prst="rect">
            <a:avLst/>
          </a:prstGeom>
          <a:noFill/>
          <a:ln/>
        </p:spPr>
        <p:txBody>
          <a:bodyPr wrap="square" lIns="0" tIns="0" rIns="0" bIns="0" rtlCol="0" anchor="ctr"/>
          <a:lstStyle/>
          <a:p>
            <a:pPr indent="0" marL="0">
              <a:buNone/>
            </a:pPr>
            <a:r>
              <a:rPr lang="en-US" sz="1300" b="1" dirty="0">
                <a:solidFill>
                  <a:schemeClr val="accent1"/>
                </a:solidFill>
              </a:rPr>
              <a:t>터미널이 아니라 브라우저에서 합니다</a:t>
            </a:r>
            <a:endParaRPr lang="en-US" sz="1300" dirty="0"/>
          </a:p>
          <a:p>
            <a:pPr indent="0" marL="0">
              <a:buNone/>
            </a:pPr>
            <a:r>
              <a:rPr lang="en-US" sz="1300" dirty="0">
                <a:solidFill>
                  <a:schemeClr val="tx1"/>
                </a:solidFill>
                <a:latin typeface="Menlo" pitchFamily="34" charset="0"/>
                <a:ea typeface="Menlo" pitchFamily="34" charset="-122"/>
                <a:cs typeface="Menlo" pitchFamily="34" charset="-120"/>
              </a:rPr>
              <a:t>claude.ai  →  설정  →  커넥터  →  Figma  →  연결</a:t>
            </a:r>
            <a:endParaRPr lang="en-US" sz="1300" dirty="0"/>
          </a:p>
        </p:txBody>
      </p:sp>
      <p:sp>
        <p:nvSpPr>
          <p:cNvPr id="22" name="box-ok"/>
          <p:cNvSpPr/>
          <p:nvPr/>
        </p:nvSpPr>
        <p:spPr>
          <a:xfrm>
            <a:off x="6035040" y="3611880"/>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3739896"/>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커넥터 목록에서 Figma가 「연결됨」으로 보인다</a:t>
            </a:r>
            <a:endParaRPr lang="en-US" sz="1200" dirty="0"/>
          </a:p>
        </p:txBody>
      </p:sp>
      <p:sp>
        <p:nvSpPr>
          <p:cNvPr id="24" name="box-no"/>
          <p:cNvSpPr/>
          <p:nvPr/>
        </p:nvSpPr>
        <p:spPr>
          <a:xfrm>
            <a:off x="6035040" y="4937760"/>
            <a:ext cx="5605272" cy="1143000"/>
          </a:xfrm>
          <a:prstGeom prst="roundRect">
            <a:avLst>
              <a:gd name="adj" fmla="val 8000"/>
            </a:avLst>
          </a:prstGeom>
          <a:solidFill>
            <a:schemeClr val="bg2"/>
          </a:solidFill>
          <a:ln/>
        </p:spPr>
      </p:sp>
      <p:sp>
        <p:nvSpPr>
          <p:cNvPr id="25" name="box-text"/>
          <p:cNvSpPr txBox="1"/>
          <p:nvPr/>
        </p:nvSpPr>
        <p:spPr>
          <a:xfrm>
            <a:off x="6236208" y="5065776"/>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Figma 계정 권한이 없으면 담당자에게 팀 Figma 초대를 요청</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accent1"/>
          </a:solidFill>
          <a:ln w="9525">
            <a:solidFill>
              <a:schemeClr val="accent1"/>
            </a:solidFill>
            <a:prstDash val="solid"/>
          </a:ln>
        </p:spPr>
      </p:sp>
      <p:sp>
        <p:nvSpPr>
          <p:cNvPr id="31" name="tracker"/>
          <p:cNvSpPr/>
          <p:nvPr/>
        </p:nvSpPr>
        <p:spPr>
          <a:xfrm>
            <a:off x="6309360" y="6437376"/>
            <a:ext cx="118872" cy="118872"/>
          </a:xfrm>
          <a:prstGeom prst="ellipse">
            <a:avLst/>
          </a:prstGeom>
          <a:solidFill>
            <a:schemeClr val="accent1"/>
          </a:solidFill>
          <a:ln w="9525">
            <a:solidFill>
              <a:schemeClr val="accent1"/>
            </a:solidFill>
            <a:prstDash val="solid"/>
          </a:ln>
        </p:spPr>
      </p:sp>
      <p:sp>
        <p:nvSpPr>
          <p:cNvPr id="32" name="tracker"/>
          <p:cNvSpPr/>
          <p:nvPr/>
        </p:nvSpPr>
        <p:spPr>
          <a:xfrm>
            <a:off x="6583680" y="6437376"/>
            <a:ext cx="118872" cy="118872"/>
          </a:xfrm>
          <a:prstGeom prst="ellipse">
            <a:avLst/>
          </a:prstGeom>
          <a:solidFill>
            <a:schemeClr val="accent1"/>
          </a:solidFill>
          <a:ln w="9525">
            <a:solidFill>
              <a:schemeClr val="accent1"/>
            </a:solidFill>
            <a:prstDash val="solid"/>
          </a:ln>
        </p:spPr>
      </p:sp>
      <p:sp>
        <p:nvSpPr>
          <p:cNvPr id="33" name="tracker"/>
          <p:cNvSpPr/>
          <p:nvPr/>
        </p:nvSpPr>
        <p:spPr>
          <a:xfrm>
            <a:off x="6858000" y="6437376"/>
            <a:ext cx="118872" cy="118872"/>
          </a:xfrm>
          <a:prstGeom prst="ellipse">
            <a:avLst/>
          </a:prstGeom>
          <a:solidFill>
            <a:schemeClr val="bg2"/>
          </a:solidFill>
          <a:ln w="9525">
            <a:solidFill>
              <a:srgbClr val="C9C9D2"/>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7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확인</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8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8.  점검표 돌리기</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지금까지의 셋업이 전부 제대로 됐는지 28개 항목을 자동으로 확인합니다. 약 30초.</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오른쪽 한 줄을 붙여넣고 Enter</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1~6번 묶음이 차례로 ✅ / ❌ 로 찍힌다</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마지막 줄을 확인한다</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❌가 있으면 그 줄 끝의 → 안내대로 하고 다시 실행</a:t>
            </a:r>
            <a:endParaRPr lang="en-US" sz="1300" dirty="0"/>
          </a:p>
        </p:txBody>
      </p:sp>
      <p:sp>
        <p:nvSpPr>
          <p:cNvPr id="20" name="terminal"/>
          <p:cNvSpPr/>
          <p:nvPr/>
        </p:nvSpPr>
        <p:spPr>
          <a:xfrm>
            <a:off x="6035040" y="1920240"/>
            <a:ext cx="5605272" cy="1293114"/>
          </a:xfrm>
          <a:prstGeom prst="roundRect">
            <a:avLst>
              <a:gd name="adj" fmla="val 5657"/>
            </a:avLst>
          </a:prstGeom>
          <a:solidFill>
            <a:schemeClr val="tx1"/>
          </a:solidFill>
          <a:ln/>
        </p:spPr>
      </p:sp>
      <p:sp>
        <p:nvSpPr>
          <p:cNvPr id="21" name="terminal-text"/>
          <p:cNvSpPr txBox="1"/>
          <p:nvPr/>
        </p:nvSpPr>
        <p:spPr>
          <a:xfrm>
            <a:off x="6217920" y="2066544"/>
            <a:ext cx="5239512" cy="1000506"/>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bash ~/Documents/GitHub/design/tools/cdbd-doctor.sh</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 </a:t>
            </a:r>
            <a:endParaRPr lang="en-US" sz="1150" dirty="0"/>
          </a:p>
          <a:p>
            <a:pPr indent="0" marL="0">
              <a:buNone/>
            </a:pPr>
            <a:r>
              <a:rPr lang="en-US" sz="1150" dirty="0">
                <a:solidFill>
                  <a:schemeClr val="tx2"/>
                </a:solidFill>
                <a:latin typeface="Menlo" pitchFamily="34" charset="0"/>
                <a:ea typeface="Menlo" pitchFamily="34" charset="-122"/>
                <a:cs typeface="Menlo" pitchFamily="34" charset="-120"/>
              </a:rPr>
              <a:t># 마지막 줄</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결과 — ✅ 28 · ⚠️ 0 · ❌ 0</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이 기기는 CdBd 작업 준비가 끝났습니다.</a:t>
            </a:r>
            <a:endParaRPr lang="en-US" sz="1150" dirty="0"/>
          </a:p>
        </p:txBody>
      </p:sp>
      <p:sp>
        <p:nvSpPr>
          <p:cNvPr id="22" name="box-ok"/>
          <p:cNvSpPr/>
          <p:nvPr/>
        </p:nvSpPr>
        <p:spPr>
          <a:xfrm>
            <a:off x="6035040" y="3441954"/>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3569970"/>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 28 · ⚠️ 0 · ❌ 0」 — 셋업 완료</a:t>
            </a:r>
            <a:endParaRPr lang="en-US" sz="1200" dirty="0"/>
          </a:p>
        </p:txBody>
      </p:sp>
      <p:sp>
        <p:nvSpPr>
          <p:cNvPr id="24" name="box-no"/>
          <p:cNvSpPr/>
          <p:nvPr/>
        </p:nvSpPr>
        <p:spPr>
          <a:xfrm>
            <a:off x="6035040" y="4767834"/>
            <a:ext cx="5605272" cy="1312926"/>
          </a:xfrm>
          <a:prstGeom prst="roundRect">
            <a:avLst>
              <a:gd name="adj" fmla="val 6965"/>
            </a:avLst>
          </a:prstGeom>
          <a:solidFill>
            <a:schemeClr val="bg2"/>
          </a:solidFill>
          <a:ln/>
        </p:spPr>
      </p:sp>
      <p:sp>
        <p:nvSpPr>
          <p:cNvPr id="25" name="box-text"/>
          <p:cNvSpPr txBox="1"/>
          <p:nvPr/>
        </p:nvSpPr>
        <p:spPr>
          <a:xfrm>
            <a:off x="6236208" y="4895850"/>
            <a:ext cx="5202936" cy="1075182"/>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 해결 방법은 「막혔을 때」 표 (다음다음 장)</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accent1"/>
          </a:solidFill>
          <a:ln w="9525">
            <a:solidFill>
              <a:schemeClr val="accent1"/>
            </a:solidFill>
            <a:prstDash val="solid"/>
          </a:ln>
        </p:spPr>
      </p:sp>
      <p:sp>
        <p:nvSpPr>
          <p:cNvPr id="31" name="tracker"/>
          <p:cNvSpPr/>
          <p:nvPr/>
        </p:nvSpPr>
        <p:spPr>
          <a:xfrm>
            <a:off x="6309360" y="6437376"/>
            <a:ext cx="118872" cy="118872"/>
          </a:xfrm>
          <a:prstGeom prst="ellipse">
            <a:avLst/>
          </a:prstGeom>
          <a:solidFill>
            <a:schemeClr val="accent1"/>
          </a:solidFill>
          <a:ln w="9525">
            <a:solidFill>
              <a:schemeClr val="accent1"/>
            </a:solidFill>
            <a:prstDash val="solid"/>
          </a:ln>
        </p:spPr>
      </p:sp>
      <p:sp>
        <p:nvSpPr>
          <p:cNvPr id="32" name="tracker"/>
          <p:cNvSpPr/>
          <p:nvPr/>
        </p:nvSpPr>
        <p:spPr>
          <a:xfrm>
            <a:off x="6583680" y="6437376"/>
            <a:ext cx="118872" cy="118872"/>
          </a:xfrm>
          <a:prstGeom prst="ellipse">
            <a:avLst/>
          </a:prstGeom>
          <a:solidFill>
            <a:schemeClr val="accent1"/>
          </a:solidFill>
          <a:ln w="9525">
            <a:solidFill>
              <a:schemeClr val="accent1"/>
            </a:solidFill>
            <a:prstDash val="solid"/>
          </a:ln>
        </p:spPr>
      </p:sp>
      <p:sp>
        <p:nvSpPr>
          <p:cNvPr id="33" name="tracker"/>
          <p:cNvSpPr/>
          <p:nvPr/>
        </p:nvSpPr>
        <p:spPr>
          <a:xfrm>
            <a:off x="6858000" y="6437376"/>
            <a:ext cx="118872" cy="118872"/>
          </a:xfrm>
          <a:prstGeom prst="ellipse">
            <a:avLst/>
          </a:prstGeom>
          <a:solidFill>
            <a:schemeClr val="accent1"/>
          </a:solidFill>
          <a:ln w="9525">
            <a:solidFill>
              <a:schemeClr val="accent1"/>
            </a:solidFill>
            <a:prstDash val="solid"/>
          </a:ln>
        </p:spPr>
      </p:sp>
      <p:sp>
        <p:nvSpPr>
          <p:cNvPr id="34" name="tracker"/>
          <p:cNvSpPr/>
          <p:nvPr/>
        </p:nvSpPr>
        <p:spPr>
          <a:xfrm>
            <a:off x="7132320" y="6437376"/>
            <a:ext cx="118872" cy="118872"/>
          </a:xfrm>
          <a:prstGeom prst="ellipse">
            <a:avLst/>
          </a:prstGeom>
          <a:solidFill>
            <a:schemeClr val="bg2"/>
          </a:solidFill>
          <a:ln w="9525">
            <a:solidFill>
              <a:srgbClr val="C9C9D2"/>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8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 확인</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STEP 9 / 9</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STEP 9.  Claude에게 확인 질문</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왜 하나요 — 팀 규칙과 기능 사전이 실제로 Claude에게 실렸는지 마지막으로 확인합니다.</a:t>
            </a:r>
            <a:endParaRPr lang="en-US" sz="1400" dirty="0"/>
          </a:p>
        </p:txBody>
      </p:sp>
      <p:sp>
        <p:nvSpPr>
          <p:cNvPr id="6" name="todo-card"/>
          <p:cNvSpPr/>
          <p:nvPr/>
        </p:nvSpPr>
        <p:spPr>
          <a:xfrm>
            <a:off x="548640" y="1920240"/>
            <a:ext cx="5212080" cy="4160520"/>
          </a:xfrm>
          <a:prstGeom prst="roundRect">
            <a:avLst>
              <a:gd name="adj" fmla="val 2637"/>
            </a:avLst>
          </a:prstGeom>
          <a:solidFill>
            <a:schemeClr val="bg2"/>
          </a:solidFill>
          <a:ln/>
        </p:spPr>
      </p:sp>
      <p:sp>
        <p:nvSpPr>
          <p:cNvPr id="7" name="Text 5"/>
          <p:cNvSpPr txBox="1"/>
          <p:nvPr/>
        </p:nvSpPr>
        <p:spPr>
          <a:xfrm>
            <a:off x="822960" y="2103120"/>
            <a:ext cx="4572000" cy="320040"/>
          </a:xfrm>
          <a:prstGeom prst="rect">
            <a:avLst/>
          </a:prstGeom>
          <a:noFill/>
          <a:ln/>
        </p:spPr>
        <p:txBody>
          <a:bodyPr wrap="square" lIns="0" tIns="0" rIns="0" bIns="0" rtlCol="0" anchor="ctr"/>
          <a:lstStyle/>
          <a:p>
            <a:pPr indent="0" marL="0">
              <a:buNone/>
            </a:pPr>
            <a:r>
              <a:rPr lang="en-US" sz="1500" b="1" dirty="0">
                <a:solidFill>
                  <a:schemeClr val="tx1"/>
                </a:solidFill>
              </a:rPr>
              <a:t>이렇게 하세요</a:t>
            </a:r>
            <a:endParaRPr lang="en-US" sz="1500" dirty="0"/>
          </a:p>
        </p:txBody>
      </p:sp>
      <p:sp>
        <p:nvSpPr>
          <p:cNvPr id="8" name="num"/>
          <p:cNvSpPr/>
          <p:nvPr/>
        </p:nvSpPr>
        <p:spPr>
          <a:xfrm>
            <a:off x="822960" y="2642616"/>
            <a:ext cx="384048" cy="384048"/>
          </a:xfrm>
          <a:prstGeom prst="ellipse">
            <a:avLst/>
          </a:prstGeom>
          <a:solidFill>
            <a:schemeClr val="accent1"/>
          </a:solidFill>
          <a:ln/>
        </p:spPr>
      </p:sp>
      <p:sp>
        <p:nvSpPr>
          <p:cNvPr id="9" name="Text 7"/>
          <p:cNvSpPr txBox="1"/>
          <p:nvPr/>
        </p:nvSpPr>
        <p:spPr>
          <a:xfrm>
            <a:off x="822960" y="26426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 8"/>
          <p:cNvSpPr txBox="1"/>
          <p:nvPr/>
        </p:nvSpPr>
        <p:spPr>
          <a:xfrm>
            <a:off x="1371600" y="2569464"/>
            <a:ext cx="4206240" cy="731520"/>
          </a:xfrm>
          <a:prstGeom prst="rect">
            <a:avLst/>
          </a:prstGeom>
          <a:noFill/>
          <a:ln/>
        </p:spPr>
        <p:txBody>
          <a:bodyPr wrap="square" lIns="0" tIns="0" rIns="0" bIns="0" rtlCol="0" anchor="t"/>
          <a:lstStyle/>
          <a:p>
            <a:pPr indent="0" marL="0">
              <a:buNone/>
            </a:pPr>
            <a:r>
              <a:rPr lang="en-US" sz="1300" dirty="0">
                <a:solidFill>
                  <a:schemeClr val="tx1"/>
                </a:solidFill>
              </a:rPr>
              <a:t>옵시디언에서 아무 볼트나 연다</a:t>
            </a:r>
            <a:endParaRPr lang="en-US" sz="1300" dirty="0"/>
          </a:p>
        </p:txBody>
      </p:sp>
      <p:sp>
        <p:nvSpPr>
          <p:cNvPr id="11" name="num"/>
          <p:cNvSpPr/>
          <p:nvPr/>
        </p:nvSpPr>
        <p:spPr>
          <a:xfrm>
            <a:off x="822960" y="3429000"/>
            <a:ext cx="384048" cy="384048"/>
          </a:xfrm>
          <a:prstGeom prst="ellipse">
            <a:avLst/>
          </a:prstGeom>
          <a:solidFill>
            <a:schemeClr val="accent1"/>
          </a:solidFill>
          <a:ln/>
        </p:spPr>
      </p:sp>
      <p:sp>
        <p:nvSpPr>
          <p:cNvPr id="12" name="Text 10"/>
          <p:cNvSpPr txBox="1"/>
          <p:nvPr/>
        </p:nvSpPr>
        <p:spPr>
          <a:xfrm>
            <a:off x="82296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1371600" y="3355848"/>
            <a:ext cx="4206240" cy="731520"/>
          </a:xfrm>
          <a:prstGeom prst="rect">
            <a:avLst/>
          </a:prstGeom>
          <a:noFill/>
          <a:ln/>
        </p:spPr>
        <p:txBody>
          <a:bodyPr wrap="square" lIns="0" tIns="0" rIns="0" bIns="0" rtlCol="0" anchor="t"/>
          <a:lstStyle/>
          <a:p>
            <a:pPr indent="0" marL="0">
              <a:buNone/>
            </a:pPr>
            <a:r>
              <a:rPr lang="en-US" sz="1300" dirty="0">
                <a:solidFill>
                  <a:schemeClr val="tx1"/>
                </a:solidFill>
              </a:rPr>
              <a:t>Claudian 창을 연다</a:t>
            </a:r>
            <a:endParaRPr lang="en-US" sz="1300" dirty="0"/>
          </a:p>
        </p:txBody>
      </p:sp>
      <p:sp>
        <p:nvSpPr>
          <p:cNvPr id="14" name="num"/>
          <p:cNvSpPr/>
          <p:nvPr/>
        </p:nvSpPr>
        <p:spPr>
          <a:xfrm>
            <a:off x="822960" y="4215384"/>
            <a:ext cx="384048" cy="384048"/>
          </a:xfrm>
          <a:prstGeom prst="ellipse">
            <a:avLst/>
          </a:prstGeom>
          <a:solidFill>
            <a:schemeClr val="accent1"/>
          </a:solidFill>
          <a:ln/>
        </p:spPr>
      </p:sp>
      <p:sp>
        <p:nvSpPr>
          <p:cNvPr id="15" name="Text 13"/>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371600" y="4142232"/>
            <a:ext cx="4206240" cy="731520"/>
          </a:xfrm>
          <a:prstGeom prst="rect">
            <a:avLst/>
          </a:prstGeom>
          <a:noFill/>
          <a:ln/>
        </p:spPr>
        <p:txBody>
          <a:bodyPr wrap="square" lIns="0" tIns="0" rIns="0" bIns="0" rtlCol="0" anchor="t"/>
          <a:lstStyle/>
          <a:p>
            <a:pPr indent="0" marL="0">
              <a:buNone/>
            </a:pPr>
            <a:r>
              <a:rPr lang="en-US" sz="1300" dirty="0">
                <a:solidFill>
                  <a:schemeClr val="tx1"/>
                </a:solidFill>
              </a:rPr>
              <a:t>오른쪽 질문을 그대로 입력한다</a:t>
            </a:r>
            <a:endParaRPr lang="en-US" sz="1300" dirty="0"/>
          </a:p>
        </p:txBody>
      </p:sp>
      <p:sp>
        <p:nvSpPr>
          <p:cNvPr id="17" name="num"/>
          <p:cNvSpPr/>
          <p:nvPr/>
        </p:nvSpPr>
        <p:spPr>
          <a:xfrm>
            <a:off x="822960" y="5001768"/>
            <a:ext cx="384048" cy="384048"/>
          </a:xfrm>
          <a:prstGeom prst="ellipse">
            <a:avLst/>
          </a:prstGeom>
          <a:solidFill>
            <a:schemeClr val="accent1"/>
          </a:solidFill>
          <a:ln/>
        </p:spPr>
      </p:sp>
      <p:sp>
        <p:nvSpPr>
          <p:cNvPr id="18" name="Text 16"/>
          <p:cNvSpPr txBox="1"/>
          <p:nvPr/>
        </p:nvSpPr>
        <p:spPr>
          <a:xfrm>
            <a:off x="822960" y="50017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371600" y="4928616"/>
            <a:ext cx="4206240" cy="731520"/>
          </a:xfrm>
          <a:prstGeom prst="rect">
            <a:avLst/>
          </a:prstGeom>
          <a:noFill/>
          <a:ln/>
        </p:spPr>
        <p:txBody>
          <a:bodyPr wrap="square" lIns="0" tIns="0" rIns="0" bIns="0" rtlCol="0" anchor="t"/>
          <a:lstStyle/>
          <a:p>
            <a:pPr indent="0" marL="0">
              <a:buNone/>
            </a:pPr>
            <a:r>
              <a:rPr lang="en-US" sz="1300" dirty="0">
                <a:solidFill>
                  <a:schemeClr val="tx1"/>
                </a:solidFill>
              </a:rPr>
              <a:t>답이 「아니요」로 시작해 「빈칸」이라고 바로잡는지 본다</a:t>
            </a:r>
            <a:endParaRPr lang="en-US" sz="1300" dirty="0"/>
          </a:p>
        </p:txBody>
      </p:sp>
      <p:sp>
        <p:nvSpPr>
          <p:cNvPr id="20" name="terminal"/>
          <p:cNvSpPr/>
          <p:nvPr/>
        </p:nvSpPr>
        <p:spPr>
          <a:xfrm>
            <a:off x="6035040" y="1920240"/>
            <a:ext cx="5605272" cy="714756"/>
          </a:xfrm>
          <a:prstGeom prst="roundRect">
            <a:avLst>
              <a:gd name="adj" fmla="val 10235"/>
            </a:avLst>
          </a:prstGeom>
          <a:solidFill>
            <a:schemeClr val="tx1"/>
          </a:solidFill>
          <a:ln/>
        </p:spPr>
      </p:sp>
      <p:sp>
        <p:nvSpPr>
          <p:cNvPr id="21" name="terminal-text"/>
          <p:cNvSpPr txBox="1"/>
          <p:nvPr/>
        </p:nvSpPr>
        <p:spPr>
          <a:xfrm>
            <a:off x="6217920" y="2066544"/>
            <a:ext cx="5239512" cy="422148"/>
          </a:xfrm>
          <a:prstGeom prst="rect">
            <a:avLst/>
          </a:prstGeom>
          <a:noFill/>
          <a:ln/>
        </p:spPr>
        <p:txBody>
          <a:bodyPr wrap="square" lIns="0" tIns="0" rIns="0" bIns="0" rtlCol="0" anchor="t"/>
          <a:lstStyle/>
          <a:p>
            <a:pPr indent="0" marL="0">
              <a:buNone/>
            </a:pPr>
            <a:r>
              <a:rPr lang="en-US" sz="1150" dirty="0">
                <a:solidFill>
                  <a:schemeClr val="bg1"/>
                </a:solidFill>
                <a:latin typeface="Menlo" pitchFamily="34" charset="0"/>
                <a:ea typeface="Menlo" pitchFamily="34" charset="-122"/>
                <a:cs typeface="Menlo" pitchFamily="34" charset="-120"/>
              </a:rPr>
              <a:t>개별 URL에서 이름 칸이 비면</a:t>
            </a:r>
            <a:endParaRPr lang="en-US" sz="1150" dirty="0"/>
          </a:p>
          <a:p>
            <a:pPr indent="0" marL="0">
              <a:buNone/>
            </a:pPr>
            <a:r>
              <a:rPr lang="en-US" sz="1150" dirty="0">
                <a:solidFill>
                  <a:schemeClr val="bg1"/>
                </a:solidFill>
                <a:latin typeface="Menlo" pitchFamily="34" charset="0"/>
                <a:ea typeface="Menlo" pitchFamily="34" charset="-122"/>
                <a:cs typeface="Menlo" pitchFamily="34" charset="-120"/>
              </a:rPr>
              <a:t>대체어가 나오죠?</a:t>
            </a:r>
            <a:endParaRPr lang="en-US" sz="1150" dirty="0"/>
          </a:p>
        </p:txBody>
      </p:sp>
      <p:sp>
        <p:nvSpPr>
          <p:cNvPr id="22" name="box-ok"/>
          <p:cNvSpPr/>
          <p:nvPr/>
        </p:nvSpPr>
        <p:spPr>
          <a:xfrm>
            <a:off x="6035040" y="2863596"/>
            <a:ext cx="5605272" cy="1143000"/>
          </a:xfrm>
          <a:prstGeom prst="roundRect">
            <a:avLst>
              <a:gd name="adj" fmla="val 8000"/>
            </a:avLst>
          </a:prstGeom>
          <a:solidFill>
            <a:schemeClr val="accent3">
              <a:alpha val="10000"/>
            </a:schemeClr>
          </a:solidFill>
          <a:ln/>
        </p:spPr>
      </p:sp>
      <p:sp>
        <p:nvSpPr>
          <p:cNvPr id="23" name="box-text"/>
          <p:cNvSpPr txBox="1"/>
          <p:nvPr/>
        </p:nvSpPr>
        <p:spPr>
          <a:xfrm>
            <a:off x="6236208" y="2991612"/>
            <a:ext cx="5202936" cy="905256"/>
          </a:xfrm>
          <a:prstGeom prst="rect">
            <a:avLst/>
          </a:prstGeom>
          <a:noFill/>
          <a:ln/>
        </p:spPr>
        <p:txBody>
          <a:bodyPr wrap="square" lIns="0" tIns="0" rIns="0" bIns="0" rtlCol="0" anchor="t"/>
          <a:lstStyle/>
          <a:p>
            <a:pPr indent="0" marL="0">
              <a:spcAft>
                <a:spcPts val="200"/>
              </a:spcAft>
              <a:buNone/>
            </a:pPr>
            <a:r>
              <a:rPr lang="en-US" sz="1250" b="1" dirty="0">
                <a:solidFill>
                  <a:schemeClr val="accent3"/>
                </a:solidFill>
              </a:rPr>
              <a:t>✅ 이렇게 보이면 성공</a:t>
            </a:r>
            <a:endParaRPr lang="en-US" sz="1200" dirty="0"/>
          </a:p>
          <a:p>
            <a:pPr indent="0" marL="0">
              <a:spcAft>
                <a:spcPts val="200"/>
              </a:spcAft>
              <a:buNone/>
            </a:pPr>
            <a:r>
              <a:rPr lang="en-US" sz="1200" dirty="0">
                <a:solidFill>
                  <a:schemeClr val="tx1"/>
                </a:solidFill>
              </a:rPr>
              <a:t>「아니요, 개별 URL에서는 대체어가 아니라 빈칸으로 나옵니다 …」</a:t>
            </a:r>
            <a:endParaRPr lang="en-US" sz="1200" dirty="0"/>
          </a:p>
        </p:txBody>
      </p:sp>
      <p:sp>
        <p:nvSpPr>
          <p:cNvPr id="24" name="box-no"/>
          <p:cNvSpPr/>
          <p:nvPr/>
        </p:nvSpPr>
        <p:spPr>
          <a:xfrm>
            <a:off x="6035040" y="4189476"/>
            <a:ext cx="5605272" cy="1891284"/>
          </a:xfrm>
          <a:prstGeom prst="roundRect">
            <a:avLst>
              <a:gd name="adj" fmla="val 4835"/>
            </a:avLst>
          </a:prstGeom>
          <a:solidFill>
            <a:schemeClr val="bg2"/>
          </a:solidFill>
          <a:ln/>
        </p:spPr>
      </p:sp>
      <p:sp>
        <p:nvSpPr>
          <p:cNvPr id="25" name="box-text"/>
          <p:cNvSpPr txBox="1"/>
          <p:nvPr/>
        </p:nvSpPr>
        <p:spPr>
          <a:xfrm>
            <a:off x="6236208" y="4317492"/>
            <a:ext cx="5202936" cy="165354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막히면</a:t>
            </a:r>
            <a:endParaRPr lang="en-US" sz="1200" dirty="0"/>
          </a:p>
          <a:p>
            <a:pPr indent="0" marL="0">
              <a:spcAft>
                <a:spcPts val="200"/>
              </a:spcAft>
              <a:buNone/>
            </a:pPr>
            <a:r>
              <a:rPr lang="en-US" sz="1200" dirty="0">
                <a:solidFill>
                  <a:schemeClr val="tx1"/>
                </a:solidFill>
              </a:rPr>
              <a:t>다르게 답하면 담당자에게 — 담당자가 수용 테스트 전체를 돌려 확인합니다</a:t>
            </a:r>
            <a:endParaRPr lang="en-US" sz="1200" dirty="0"/>
          </a:p>
        </p:txBody>
      </p:sp>
      <p:sp>
        <p:nvSpPr>
          <p:cNvPr id="26" name="tracker"/>
          <p:cNvSpPr/>
          <p:nvPr/>
        </p:nvSpPr>
        <p:spPr>
          <a:xfrm>
            <a:off x="4937760" y="6437376"/>
            <a:ext cx="118872" cy="118872"/>
          </a:xfrm>
          <a:prstGeom prst="ellipse">
            <a:avLst/>
          </a:prstGeom>
          <a:solidFill>
            <a:schemeClr val="accent1"/>
          </a:solidFill>
          <a:ln w="9525">
            <a:solidFill>
              <a:schemeClr val="accent1"/>
            </a:solidFill>
            <a:prstDash val="solid"/>
          </a:ln>
        </p:spPr>
      </p:sp>
      <p:sp>
        <p:nvSpPr>
          <p:cNvPr id="27" name="tracker"/>
          <p:cNvSpPr/>
          <p:nvPr/>
        </p:nvSpPr>
        <p:spPr>
          <a:xfrm>
            <a:off x="5212080" y="6437376"/>
            <a:ext cx="118872" cy="118872"/>
          </a:xfrm>
          <a:prstGeom prst="ellipse">
            <a:avLst/>
          </a:prstGeom>
          <a:solidFill>
            <a:schemeClr val="accent1"/>
          </a:solidFill>
          <a:ln w="9525">
            <a:solidFill>
              <a:schemeClr val="accent1"/>
            </a:solidFill>
            <a:prstDash val="solid"/>
          </a:ln>
        </p:spPr>
      </p:sp>
      <p:sp>
        <p:nvSpPr>
          <p:cNvPr id="28" name="tracker"/>
          <p:cNvSpPr/>
          <p:nvPr/>
        </p:nvSpPr>
        <p:spPr>
          <a:xfrm>
            <a:off x="5486400" y="6437376"/>
            <a:ext cx="118872" cy="118872"/>
          </a:xfrm>
          <a:prstGeom prst="ellipse">
            <a:avLst/>
          </a:prstGeom>
          <a:solidFill>
            <a:schemeClr val="accent1"/>
          </a:solidFill>
          <a:ln w="9525">
            <a:solidFill>
              <a:schemeClr val="accent1"/>
            </a:solidFill>
            <a:prstDash val="solid"/>
          </a:ln>
        </p:spPr>
      </p:sp>
      <p:sp>
        <p:nvSpPr>
          <p:cNvPr id="29" name="tracker"/>
          <p:cNvSpPr/>
          <p:nvPr/>
        </p:nvSpPr>
        <p:spPr>
          <a:xfrm>
            <a:off x="5760720" y="6437376"/>
            <a:ext cx="118872" cy="118872"/>
          </a:xfrm>
          <a:prstGeom prst="ellipse">
            <a:avLst/>
          </a:prstGeom>
          <a:solidFill>
            <a:schemeClr val="accent1"/>
          </a:solidFill>
          <a:ln w="9525">
            <a:solidFill>
              <a:schemeClr val="accent1"/>
            </a:solidFill>
            <a:prstDash val="solid"/>
          </a:ln>
        </p:spPr>
      </p:sp>
      <p:sp>
        <p:nvSpPr>
          <p:cNvPr id="30" name="tracker"/>
          <p:cNvSpPr/>
          <p:nvPr/>
        </p:nvSpPr>
        <p:spPr>
          <a:xfrm>
            <a:off x="6035040" y="6437376"/>
            <a:ext cx="118872" cy="118872"/>
          </a:xfrm>
          <a:prstGeom prst="ellipse">
            <a:avLst/>
          </a:prstGeom>
          <a:solidFill>
            <a:schemeClr val="accent1"/>
          </a:solidFill>
          <a:ln w="9525">
            <a:solidFill>
              <a:schemeClr val="accent1"/>
            </a:solidFill>
            <a:prstDash val="solid"/>
          </a:ln>
        </p:spPr>
      </p:sp>
      <p:sp>
        <p:nvSpPr>
          <p:cNvPr id="31" name="tracker"/>
          <p:cNvSpPr/>
          <p:nvPr/>
        </p:nvSpPr>
        <p:spPr>
          <a:xfrm>
            <a:off x="6309360" y="6437376"/>
            <a:ext cx="118872" cy="118872"/>
          </a:xfrm>
          <a:prstGeom prst="ellipse">
            <a:avLst/>
          </a:prstGeom>
          <a:solidFill>
            <a:schemeClr val="accent1"/>
          </a:solidFill>
          <a:ln w="9525">
            <a:solidFill>
              <a:schemeClr val="accent1"/>
            </a:solidFill>
            <a:prstDash val="solid"/>
          </a:ln>
        </p:spPr>
      </p:sp>
      <p:sp>
        <p:nvSpPr>
          <p:cNvPr id="32" name="tracker"/>
          <p:cNvSpPr/>
          <p:nvPr/>
        </p:nvSpPr>
        <p:spPr>
          <a:xfrm>
            <a:off x="6583680" y="6437376"/>
            <a:ext cx="118872" cy="118872"/>
          </a:xfrm>
          <a:prstGeom prst="ellipse">
            <a:avLst/>
          </a:prstGeom>
          <a:solidFill>
            <a:schemeClr val="accent1"/>
          </a:solidFill>
          <a:ln w="9525">
            <a:solidFill>
              <a:schemeClr val="accent1"/>
            </a:solidFill>
            <a:prstDash val="solid"/>
          </a:ln>
        </p:spPr>
      </p:sp>
      <p:sp>
        <p:nvSpPr>
          <p:cNvPr id="33" name="tracker"/>
          <p:cNvSpPr/>
          <p:nvPr/>
        </p:nvSpPr>
        <p:spPr>
          <a:xfrm>
            <a:off x="6858000" y="6437376"/>
            <a:ext cx="118872" cy="118872"/>
          </a:xfrm>
          <a:prstGeom prst="ellipse">
            <a:avLst/>
          </a:prstGeom>
          <a:solidFill>
            <a:schemeClr val="accent1"/>
          </a:solidFill>
          <a:ln w="9525">
            <a:solidFill>
              <a:schemeClr val="accent1"/>
            </a:solidFill>
            <a:prstDash val="solid"/>
          </a:ln>
        </p:spPr>
      </p:sp>
      <p:sp>
        <p:nvSpPr>
          <p:cNvPr id="34" name="tracker"/>
          <p:cNvSpPr/>
          <p:nvPr/>
        </p:nvSpPr>
        <p:spPr>
          <a:xfrm>
            <a:off x="7132320" y="6437376"/>
            <a:ext cx="118872" cy="118872"/>
          </a:xfrm>
          <a:prstGeom prst="ellipse">
            <a:avLst/>
          </a:prstGeom>
          <a:solidFill>
            <a:schemeClr val="accent1"/>
          </a:solidFill>
          <a:ln w="9525">
            <a:solidFill>
              <a:schemeClr val="accent1"/>
            </a:solidFill>
            <a:prstDash val="solid"/>
          </a:ln>
        </p:spPr>
      </p:sp>
      <p:sp>
        <p:nvSpPr>
          <p:cNvPr id="35" name="Text 33"/>
          <p:cNvSpPr txBox="1"/>
          <p:nvPr/>
        </p:nvSpPr>
        <p:spPr>
          <a:xfrm>
            <a:off x="7452360" y="6373368"/>
            <a:ext cx="731520" cy="246888"/>
          </a:xfrm>
          <a:prstGeom prst="rect">
            <a:avLst/>
          </a:prstGeom>
          <a:noFill/>
          <a:ln/>
        </p:spPr>
        <p:txBody>
          <a:bodyPr wrap="square" lIns="0" tIns="0" rIns="0" bIns="0" rtlCol="0" anchor="ctr"/>
          <a:lstStyle/>
          <a:p>
            <a:pPr indent="0" marL="0">
              <a:buNone/>
            </a:pPr>
            <a:r>
              <a:rPr lang="en-US" sz="900" b="1" dirty="0">
                <a:solidFill>
                  <a:schemeClr val="accent1"/>
                </a:solidFill>
              </a:rPr>
              <a:t>9 / 9</a:t>
            </a:r>
            <a:endParaRPr lang="en-US" sz="9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06  막혔을 때</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점검표의 ❌마다 할 일이 정해져 있습니다</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평소에는 Claude를 켤 때 문제가 있으면 「⚠️ CdBd 셋업 점검: …」 한 줄로 알려 줍니다.</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3291840"/>
                <a:gridCol w="3108960"/>
                <a:gridCol w="4690872"/>
              </a:tblGrid>
              <a:tr h="457200">
                <a:tc>
                  <a:txBody>
                    <a:bodyPr/>
                    <a:lstStyle/>
                    <a:p>
                      <a:pPr indent="0" marL="0">
                        <a:buNone/>
                      </a:pPr>
                      <a:r>
                        <a:rPr lang="en-US" sz="1100" b="1" dirty="0">
                          <a:solidFill>
                            <a:schemeClr val="bg1"/>
                          </a:solidFill>
                        </a:rPr>
                        <a:t>점검표에 이렇게 나오면</a:t>
                      </a:r>
                      <a:endParaRPr lang="en-US" sz="11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rPr>
                        <a:t>이유</a:t>
                      </a:r>
                      <a:endParaRPr lang="en-US" sz="11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rPr>
                        <a:t>이렇게 하세요</a:t>
                      </a:r>
                      <a:endParaRPr lang="en-US" sz="11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solidFill>
                      <a:schemeClr val="tx1"/>
                    </a:solidFill>
                  </a:tcPr>
                </a:tc>
              </a:tr>
              <a:tr h="457200">
                <a:tc>
                  <a:txBody>
                    <a:bodyPr/>
                    <a:lstStyle/>
                    <a:p>
                      <a:pPr indent="0" marL="0">
                        <a:buNone/>
                      </a:pPr>
                      <a:r>
                        <a:rPr lang="en-US" sz="1300" dirty="0">
                          <a:solidFill>
                            <a:schemeClr val="tx1"/>
                          </a:solidFill>
                        </a:rPr>
                        <a:t>저장소 「N개 뒤처짐」</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최근 변경을 안 받음</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100" dirty="0">
                          <a:solidFill>
                            <a:schemeClr val="tx1"/>
                          </a:solidFill>
                          <a:latin typeface="Menlo" pitchFamily="34" charset="0"/>
                          <a:ea typeface="Menlo" pitchFamily="34" charset="-122"/>
                          <a:cs typeface="Menlo" pitchFamily="34" charset="-120"/>
                        </a:rPr>
                        <a:t>bash ~/Documents/GitHub/design/tools/cdbd-sync.sh</a:t>
                      </a:r>
                      <a:endParaRPr lang="en-US" sz="1100" dirty="0">
                        <a:latin typeface="Menlo" charset="0"/>
                        <a:ea typeface="Menlo" charset="0"/>
                        <a:cs typeface="Menlo" charset="0"/>
                      </a:endParaRPr>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저장소 「갈라짐」 · 「미커밋」</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내 맥에만 있는 변경</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담당자와 함께 확인 (sync는 안전하게 건너뜀)</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링크 「없음/깨짐」 · 「옛 사본」</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셋업 전이거나 옛 파일이 남음</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4 다시</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폴더 신뢰 「미승인」</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그 볼트에서 Claude를 안 켬</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6 — 그 줄만 다시</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Claudian 「꺼짐」</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「사용자 설정 불러오기」 OFF</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2 — Claudian 설정에서 켜기</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cdbd.env 「빈 키」</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5 미완료</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5 → STEP 4</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인증 실패 · 「재로그인 거부」</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공용 계정 비밀번호가 바뀜</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cdbd.env의 비밀번호만 새로 (모든 맥 공통)</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r h="457200">
                <a:tc>
                  <a:txBody>
                    <a:bodyPr/>
                    <a:lstStyle/>
                    <a:p>
                      <a:pPr indent="0" marL="0">
                        <a:buNone/>
                      </a:pPr>
                      <a:r>
                        <a:rPr lang="en-US" sz="1300" dirty="0">
                          <a:solidFill>
                            <a:schemeClr val="tx1"/>
                          </a:solidFill>
                        </a:rPr>
                        <a:t>gstack 없음 · browse 실패</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3 미완료 · 빌드 문제</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c>
                  <a:txBody>
                    <a:bodyPr/>
                    <a:lstStyle/>
                    <a:p>
                      <a:pPr indent="0" marL="0">
                        <a:buNone/>
                      </a:pPr>
                      <a:r>
                        <a:rPr lang="en-US" sz="1300" dirty="0">
                          <a:solidFill>
                            <a:schemeClr val="tx1"/>
                          </a:solidFill>
                        </a:rPr>
                        <a:t>STEP 3 다시</a:t>
                      </a:r>
                      <a:endParaRPr lang="en-US" sz="1300" dirty="0"/>
                    </a:p>
                  </a:txBody>
                  <a:tcPr marL="91440" marR="91440" marT="54864" marB="54864" anchor="ctr">
                    <a:lnL w="9525" cap="flat" cmpd="sng" algn="ctr">
                      <a:solidFill>
                        <a:srgbClr val="E3E3EA"/>
                      </a:solidFill>
                      <a:prstDash val="solid"/>
                      <a:round/>
                      <a:headEnd type="none" w="med" len="med"/>
                      <a:tailEnd type="none" w="med" len="med"/>
                    </a:lnL>
                    <a:lnR w="9525" cap="flat" cmpd="sng" algn="ctr">
                      <a:solidFill>
                        <a:srgbClr val="E3E3EA"/>
                      </a:solidFill>
                      <a:prstDash val="solid"/>
                      <a:round/>
                      <a:headEnd type="none" w="med" len="med"/>
                      <a:tailEnd type="none" w="med" len="med"/>
                    </a:lnR>
                    <a:lnT w="9525" cap="flat" cmpd="sng" algn="ctr">
                      <a:solidFill>
                        <a:srgbClr val="E3E3EA"/>
                      </a:solidFill>
                      <a:prstDash val="solid"/>
                      <a:round/>
                      <a:headEnd type="none" w="med" len="med"/>
                      <a:tailEnd type="none" w="med" len="med"/>
                    </a:lnT>
                    <a:lnB w="9525" cap="flat" cmpd="sng" algn="ctr">
                      <a:solidFill>
                        <a:srgbClr val="E3E3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PART 2 · 팀원 셋업 가이드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06  운영 규칙</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계정 하나를 모두가 씁니다 — 세 가지만 지켜 주세요</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Claude도 이 규칙대로 움직이도록 설정돼 있습니다.</a:t>
            </a:r>
            <a:endParaRPr lang="en-US" sz="1400" dirty="0"/>
          </a:p>
        </p:txBody>
      </p:sp>
      <p:sp>
        <p:nvSpPr>
          <p:cNvPr id="6" name="rule3-card"/>
          <p:cNvSpPr/>
          <p:nvPr/>
        </p:nvSpPr>
        <p:spPr>
          <a:xfrm>
            <a:off x="548640" y="1920240"/>
            <a:ext cx="3511296" cy="4160520"/>
          </a:xfrm>
          <a:prstGeom prst="roundRect">
            <a:avLst>
              <a:gd name="adj" fmla="val 3125"/>
            </a:avLst>
          </a:prstGeom>
          <a:solidFill>
            <a:schemeClr val="bg2"/>
          </a:solidFill>
          <a:ln/>
        </p:spPr>
      </p:sp>
      <p:sp>
        <p:nvSpPr>
          <p:cNvPr id="7" name="rule3-circle"/>
          <p:cNvSpPr/>
          <p:nvPr/>
        </p:nvSpPr>
        <p:spPr>
          <a:xfrm>
            <a:off x="822960" y="2194560"/>
            <a:ext cx="731520" cy="731520"/>
          </a:xfrm>
          <a:prstGeom prst="ellipse">
            <a:avLst/>
          </a:prstGeom>
          <a:solidFill>
            <a:schemeClr val="accent2"/>
          </a:solidFill>
          <a:ln/>
        </p:spPr>
      </p:sp>
      <p:pic>
        <p:nvPicPr>
          <p:cNvPr id="8" name="rule3-icon" descr="preencoded.png">    </p:cNvPr>
          <p:cNvPicPr>
            <a:picLocks noChangeAspect="1"/>
          </p:cNvPicPr>
          <p:nvPr/>
        </p:nvPicPr>
        <p:blipFill>
          <a:blip r:embed="rId1"/>
          <a:stretch>
            <a:fillRect/>
          </a:stretch>
        </p:blipFill>
        <p:spPr>
          <a:xfrm>
            <a:off x="1005840" y="2377440"/>
            <a:ext cx="365760" cy="365760"/>
          </a:xfrm>
          <a:prstGeom prst="rect">
            <a:avLst/>
          </a:prstGeom>
        </p:spPr>
      </p:pic>
      <p:sp>
        <p:nvSpPr>
          <p:cNvPr id="9" name="Text 6"/>
          <p:cNvSpPr txBox="1"/>
          <p:nvPr/>
        </p:nvSpPr>
        <p:spPr>
          <a:xfrm>
            <a:off x="822960" y="3154680"/>
            <a:ext cx="2962656" cy="777240"/>
          </a:xfrm>
          <a:prstGeom prst="rect">
            <a:avLst/>
          </a:prstGeom>
          <a:noFill/>
          <a:ln/>
        </p:spPr>
        <p:txBody>
          <a:bodyPr wrap="square" lIns="0" tIns="0" rIns="0" bIns="0" rtlCol="0" anchor="t"/>
          <a:lstStyle/>
          <a:p>
            <a:pPr indent="0" marL="0">
              <a:buNone/>
            </a:pPr>
            <a:r>
              <a:rPr lang="en-US" sz="1800" b="1" dirty="0">
                <a:solidFill>
                  <a:schemeClr val="tx1"/>
                </a:solidFill>
              </a:rPr>
              <a:t>돈이 드는 일은 먼저 묻는다</a:t>
            </a:r>
            <a:endParaRPr lang="en-US" sz="1800" dirty="0"/>
          </a:p>
        </p:txBody>
      </p:sp>
      <p:sp>
        <p:nvSpPr>
          <p:cNvPr id="10" name="Text 7"/>
          <p:cNvSpPr txBox="1"/>
          <p:nvPr/>
        </p:nvSpPr>
        <p:spPr>
          <a:xfrm>
            <a:off x="822960" y="3977640"/>
            <a:ext cx="2962656" cy="822960"/>
          </a:xfrm>
          <a:prstGeom prst="rect">
            <a:avLst/>
          </a:prstGeom>
          <a:noFill/>
          <a:ln/>
        </p:spPr>
        <p:txBody>
          <a:bodyPr wrap="square" lIns="0" tIns="0" rIns="0" bIns="0" rtlCol="0" anchor="t"/>
          <a:lstStyle/>
          <a:p>
            <a:pPr indent="0" marL="0">
              <a:buNone/>
            </a:pPr>
            <a:r>
              <a:rPr lang="en-US" sz="1300" dirty="0">
                <a:solidFill>
                  <a:schemeClr val="tx1"/>
                </a:solidFill>
              </a:rPr>
              <a:t>게시 · URL 생성/연장 · 개별 URL · 주소 변경 · 팀원 초대 · 예약 카드 · 충전</a:t>
            </a:r>
            <a:endParaRPr lang="en-US" sz="1300" dirty="0"/>
          </a:p>
        </p:txBody>
      </p:sp>
      <p:sp>
        <p:nvSpPr>
          <p:cNvPr id="11" name="Text 8"/>
          <p:cNvSpPr txBox="1"/>
          <p:nvPr/>
        </p:nvSpPr>
        <p:spPr>
          <a:xfrm>
            <a:off x="822960" y="4892040"/>
            <a:ext cx="2962656" cy="1005840"/>
          </a:xfrm>
          <a:prstGeom prst="rect">
            <a:avLst/>
          </a:prstGeom>
          <a:noFill/>
          <a:ln/>
        </p:spPr>
        <p:txBody>
          <a:bodyPr wrap="square" lIns="0" tIns="0" rIns="0" bIns="0" rtlCol="0" anchor="t"/>
          <a:lstStyle/>
          <a:p>
            <a:pPr indent="0" marL="0">
              <a:buNone/>
            </a:pPr>
            <a:r>
              <a:rPr lang="en-US" sz="1200" dirty="0">
                <a:solidFill>
                  <a:schemeClr val="tx2"/>
                </a:solidFill>
              </a:rPr>
              <a:t>크레딧이 모두의 것 — Claude가 실행 전에 금액을 말하고 확인을 받습니다</a:t>
            </a:r>
            <a:endParaRPr lang="en-US" sz="1200" dirty="0"/>
          </a:p>
        </p:txBody>
      </p:sp>
      <p:sp>
        <p:nvSpPr>
          <p:cNvPr id="12" name="rule3-card"/>
          <p:cNvSpPr/>
          <p:nvPr/>
        </p:nvSpPr>
        <p:spPr>
          <a:xfrm>
            <a:off x="4338828" y="1920240"/>
            <a:ext cx="3511296" cy="4160520"/>
          </a:xfrm>
          <a:prstGeom prst="roundRect">
            <a:avLst>
              <a:gd name="adj" fmla="val 3125"/>
            </a:avLst>
          </a:prstGeom>
          <a:solidFill>
            <a:schemeClr val="bg2"/>
          </a:solidFill>
          <a:ln/>
        </p:spPr>
      </p:sp>
      <p:sp>
        <p:nvSpPr>
          <p:cNvPr id="13" name="rule3-circle"/>
          <p:cNvSpPr/>
          <p:nvPr/>
        </p:nvSpPr>
        <p:spPr>
          <a:xfrm>
            <a:off x="4613148" y="2194560"/>
            <a:ext cx="731520" cy="731520"/>
          </a:xfrm>
          <a:prstGeom prst="ellipse">
            <a:avLst/>
          </a:prstGeom>
          <a:solidFill>
            <a:schemeClr val="accent2"/>
          </a:solidFill>
          <a:ln/>
        </p:spPr>
      </p:sp>
      <p:pic>
        <p:nvPicPr>
          <p:cNvPr id="14" name="rule3-icon" descr="preencoded.png">    </p:cNvPr>
          <p:cNvPicPr>
            <a:picLocks noChangeAspect="1"/>
          </p:cNvPicPr>
          <p:nvPr/>
        </p:nvPicPr>
        <p:blipFill>
          <a:blip r:embed="rId2"/>
          <a:stretch>
            <a:fillRect/>
          </a:stretch>
        </p:blipFill>
        <p:spPr>
          <a:xfrm>
            <a:off x="4796028" y="2377440"/>
            <a:ext cx="365760" cy="365760"/>
          </a:xfrm>
          <a:prstGeom prst="rect">
            <a:avLst/>
          </a:prstGeom>
        </p:spPr>
      </p:pic>
      <p:sp>
        <p:nvSpPr>
          <p:cNvPr id="15" name="Text 11"/>
          <p:cNvSpPr txBox="1"/>
          <p:nvPr/>
        </p:nvSpPr>
        <p:spPr>
          <a:xfrm>
            <a:off x="4613148" y="3154680"/>
            <a:ext cx="2962656" cy="777240"/>
          </a:xfrm>
          <a:prstGeom prst="rect">
            <a:avLst/>
          </a:prstGeom>
          <a:noFill/>
          <a:ln/>
        </p:spPr>
        <p:txBody>
          <a:bodyPr wrap="square" lIns="0" tIns="0" rIns="0" bIns="0" rtlCol="0" anchor="t"/>
          <a:lstStyle/>
          <a:p>
            <a:pPr indent="0" marL="0">
              <a:buNone/>
            </a:pPr>
            <a:r>
              <a:rPr lang="en-US" sz="1800" b="1" dirty="0">
                <a:solidFill>
                  <a:schemeClr val="tx1"/>
                </a:solidFill>
              </a:rPr>
              <a:t>연습은 내 테스트 페이지에서만</a:t>
            </a:r>
            <a:endParaRPr lang="en-US" sz="1800" dirty="0"/>
          </a:p>
        </p:txBody>
      </p:sp>
      <p:sp>
        <p:nvSpPr>
          <p:cNvPr id="16" name="Text 12"/>
          <p:cNvSpPr txBox="1"/>
          <p:nvPr/>
        </p:nvSpPr>
        <p:spPr>
          <a:xfrm>
            <a:off x="4613148" y="3977640"/>
            <a:ext cx="2962656" cy="822960"/>
          </a:xfrm>
          <a:prstGeom prst="rect">
            <a:avLst/>
          </a:prstGeom>
          <a:noFill/>
          <a:ln/>
        </p:spPr>
        <p:txBody>
          <a:bodyPr wrap="square" lIns="0" tIns="0" rIns="0" bIns="0" rtlCol="0" anchor="t"/>
          <a:lstStyle/>
          <a:p>
            <a:pPr indent="0" marL="0">
              <a:buNone/>
            </a:pPr>
            <a:r>
              <a:rPr lang="en-US" sz="1300" dirty="0">
                <a:solidFill>
                  <a:schemeClr val="tx1"/>
                </a:solidFill>
              </a:rPr>
              <a:t>남의 작업 페이지는 조작 전에 확인</a:t>
            </a:r>
            <a:endParaRPr lang="en-US" sz="1300" dirty="0"/>
          </a:p>
        </p:txBody>
      </p:sp>
      <p:sp>
        <p:nvSpPr>
          <p:cNvPr id="17" name="Text 13"/>
          <p:cNvSpPr txBox="1"/>
          <p:nvPr/>
        </p:nvSpPr>
        <p:spPr>
          <a:xfrm>
            <a:off x="4613148" y="4892040"/>
            <a:ext cx="2962656" cy="1005840"/>
          </a:xfrm>
          <a:prstGeom prst="rect">
            <a:avLst/>
          </a:prstGeom>
          <a:noFill/>
          <a:ln/>
        </p:spPr>
        <p:txBody>
          <a:bodyPr wrap="square" lIns="0" tIns="0" rIns="0" bIns="0" rtlCol="0" anchor="t"/>
          <a:lstStyle/>
          <a:p>
            <a:pPr indent="0" marL="0">
              <a:buNone/>
            </a:pPr>
            <a:r>
              <a:rPr lang="en-US" sz="1200" dirty="0">
                <a:solidFill>
                  <a:schemeClr val="tx2"/>
                </a:solidFill>
              </a:rPr>
              <a:t>에디터는 자동 저장 — 둘이 같은 페이지를 만지면 서로 덮어씁니다</a:t>
            </a:r>
            <a:endParaRPr lang="en-US" sz="1200" dirty="0"/>
          </a:p>
        </p:txBody>
      </p:sp>
      <p:sp>
        <p:nvSpPr>
          <p:cNvPr id="18" name="rule3-card"/>
          <p:cNvSpPr/>
          <p:nvPr/>
        </p:nvSpPr>
        <p:spPr>
          <a:xfrm>
            <a:off x="8129016" y="1920240"/>
            <a:ext cx="3511296" cy="4160520"/>
          </a:xfrm>
          <a:prstGeom prst="roundRect">
            <a:avLst>
              <a:gd name="adj" fmla="val 3125"/>
            </a:avLst>
          </a:prstGeom>
          <a:solidFill>
            <a:schemeClr val="bg2"/>
          </a:solidFill>
          <a:ln/>
        </p:spPr>
      </p:sp>
      <p:sp>
        <p:nvSpPr>
          <p:cNvPr id="19" name="rule3-circle"/>
          <p:cNvSpPr/>
          <p:nvPr/>
        </p:nvSpPr>
        <p:spPr>
          <a:xfrm>
            <a:off x="8403336" y="2194560"/>
            <a:ext cx="731520" cy="731520"/>
          </a:xfrm>
          <a:prstGeom prst="ellipse">
            <a:avLst/>
          </a:prstGeom>
          <a:solidFill>
            <a:schemeClr val="accent2"/>
          </a:solidFill>
          <a:ln/>
        </p:spPr>
      </p:sp>
      <p:pic>
        <p:nvPicPr>
          <p:cNvPr id="20" name="rule3-icon" descr="preencoded.png">    </p:cNvPr>
          <p:cNvPicPr>
            <a:picLocks noChangeAspect="1"/>
          </p:cNvPicPr>
          <p:nvPr/>
        </p:nvPicPr>
        <p:blipFill>
          <a:blip r:embed="rId3"/>
          <a:stretch>
            <a:fillRect/>
          </a:stretch>
        </p:blipFill>
        <p:spPr>
          <a:xfrm>
            <a:off x="8586216" y="2377440"/>
            <a:ext cx="365760" cy="365760"/>
          </a:xfrm>
          <a:prstGeom prst="rect">
            <a:avLst/>
          </a:prstGeom>
        </p:spPr>
      </p:pic>
      <p:sp>
        <p:nvSpPr>
          <p:cNvPr id="21" name="Text 16"/>
          <p:cNvSpPr txBox="1"/>
          <p:nvPr/>
        </p:nvSpPr>
        <p:spPr>
          <a:xfrm>
            <a:off x="8403336" y="3154680"/>
            <a:ext cx="2962656" cy="777240"/>
          </a:xfrm>
          <a:prstGeom prst="rect">
            <a:avLst/>
          </a:prstGeom>
          <a:noFill/>
          <a:ln/>
        </p:spPr>
        <p:txBody>
          <a:bodyPr wrap="square" lIns="0" tIns="0" rIns="0" bIns="0" rtlCol="0" anchor="t"/>
          <a:lstStyle/>
          <a:p>
            <a:pPr indent="0" marL="0">
              <a:buNone/>
            </a:pPr>
            <a:r>
              <a:rPr lang="en-US" sz="1800" b="1" dirty="0">
                <a:solidFill>
                  <a:schemeClr val="tx1"/>
                </a:solidFill>
              </a:rPr>
              <a:t>로그인 파일은 각자</a:t>
            </a:r>
            <a:endParaRPr lang="en-US" sz="1800" dirty="0"/>
          </a:p>
        </p:txBody>
      </p:sp>
      <p:sp>
        <p:nvSpPr>
          <p:cNvPr id="22" name="Text 17"/>
          <p:cNvSpPr txBox="1"/>
          <p:nvPr/>
        </p:nvSpPr>
        <p:spPr>
          <a:xfrm>
            <a:off x="8403336" y="3977640"/>
            <a:ext cx="2962656" cy="822960"/>
          </a:xfrm>
          <a:prstGeom prst="rect">
            <a:avLst/>
          </a:prstGeom>
          <a:noFill/>
          <a:ln/>
        </p:spPr>
        <p:txBody>
          <a:bodyPr wrap="square" lIns="0" tIns="0" rIns="0" bIns="0" rtlCol="0" anchor="t"/>
          <a:lstStyle/>
          <a:p>
            <a:pPr indent="0" marL="0">
              <a:buNone/>
            </a:pPr>
            <a:r>
              <a:rPr lang="en-US" sz="1300" dirty="0">
                <a:solidFill>
                  <a:schemeClr val="tx1"/>
                </a:solidFill>
              </a:rPr>
              <a:t>credentials.json 복사 금지 · cdbd.env만 옮긴다</a:t>
            </a:r>
            <a:endParaRPr lang="en-US" sz="1300" dirty="0"/>
          </a:p>
        </p:txBody>
      </p:sp>
      <p:sp>
        <p:nvSpPr>
          <p:cNvPr id="23" name="Text 18"/>
          <p:cNvSpPr txBox="1"/>
          <p:nvPr/>
        </p:nvSpPr>
        <p:spPr>
          <a:xfrm>
            <a:off x="8403336" y="4892040"/>
            <a:ext cx="2962656" cy="1005840"/>
          </a:xfrm>
          <a:prstGeom prst="rect">
            <a:avLst/>
          </a:prstGeom>
          <a:noFill/>
          <a:ln/>
        </p:spPr>
        <p:txBody>
          <a:bodyPr wrap="square" lIns="0" tIns="0" rIns="0" bIns="0" rtlCol="0" anchor="t"/>
          <a:lstStyle/>
          <a:p>
            <a:pPr indent="0" marL="0">
              <a:buNone/>
            </a:pPr>
            <a:r>
              <a:rPr lang="en-US" sz="1200" dirty="0">
                <a:solidFill>
                  <a:schemeClr val="tx2"/>
                </a:solidFill>
              </a:rPr>
              <a:t>복사하면 서로 로그인이 풀립니다 — 셋업이 각자 받아 줍니다</a:t>
            </a:r>
            <a:endParaRPr lang="en-US" sz="12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400800" cy="292608"/>
          </a:xfrm>
          <a:prstGeom prst="rect">
            <a:avLst/>
          </a:prstGeom>
          <a:noFill/>
          <a:ln/>
        </p:spPr>
        <p:txBody>
          <a:bodyPr wrap="square" lIns="0" tIns="0" rIns="0" bIns="0" rtlCol="0"/>
          <a:lstStyle/>
          <a:p>
            <a:pPr algn="l" indent="0" marL="0">
              <a:buNone/>
            </a:pPr>
            <a:r>
              <a:rPr lang="en-US" sz="1100" b="1" dirty="0">
                <a:solidFill>
                  <a:schemeClr val="accent1"/>
                </a:solidFill>
              </a:rPr>
              <a:t>다음 순서</a:t>
            </a:r>
            <a:endParaRPr lang="en-US" sz="1100" dirty="0"/>
          </a:p>
        </p:txBody>
      </p:sp>
      <p:sp>
        <p:nvSpPr>
          <p:cNvPr id="3" name="Text 1"/>
          <p:cNvSpPr/>
          <p:nvPr>
            <p:ph idx="102" type="body" hasCustomPrompt="1"/>
          </p:nvPr>
        </p:nvSpPr>
        <p:spPr>
          <a:xfrm>
            <a:off x="7068312" y="384048"/>
            <a:ext cx="4572000" cy="292608"/>
          </a:xfrm>
          <a:prstGeom prst="rect">
            <a:avLst/>
          </a:prstGeom>
          <a:noFill/>
          <a:ln/>
        </p:spPr>
        <p:txBody>
          <a:bodyPr wrap="square" lIns="0" tIns="0" rIns="0" bIns="0" rtlCol="0"/>
          <a:lstStyle/>
          <a:p>
            <a:pPr algn="r" indent="0" marL="0">
              <a:buNone/>
            </a:pPr>
            <a:r>
              <a:rPr lang="en-US" sz="1000" dirty="0">
                <a:solidFill>
                  <a:schemeClr val="tx2"/>
                </a:solidFill>
              </a:rPr>
              <a:t>07  다음</a:t>
            </a:r>
            <a:endParaRPr lang="en-US" sz="1000" dirty="0"/>
          </a:p>
        </p:txBody>
      </p:sp>
      <p:sp>
        <p:nvSpPr>
          <p:cNvPr id="4" name="Text 1"/>
          <p:cNvSpPr/>
          <p:nvPr>
            <p:ph idx="103" type="title" hasCustomPrompt="1"/>
          </p:nvPr>
        </p:nvSpPr>
        <p:spPr>
          <a:xfrm>
            <a:off x="548640" y="676656"/>
            <a:ext cx="11091672" cy="658368"/>
          </a:xfrm>
          <a:prstGeom prst="rect">
            <a:avLst/>
          </a:prstGeom>
          <a:noFill/>
          <a:ln/>
        </p:spPr>
        <p:txBody>
          <a:bodyPr wrap="square" lIns="0" tIns="0" rIns="0" bIns="0" rtlCol="0" anchor="ctr"/>
          <a:lstStyle/>
          <a:p>
            <a:pPr algn="l" indent="0" marL="0">
              <a:buNone/>
            </a:pPr>
            <a:r>
              <a:rPr lang="en-US" sz="3000" b="1" dirty="0">
                <a:solidFill>
                  <a:schemeClr val="tx1"/>
                </a:solidFill>
              </a:rPr>
              <a:t>리허설 → 팀원 2명 셋업 → 🎯 목표 도달</a:t>
            </a:r>
            <a:endParaRPr lang="en-US" sz="3000" dirty="0"/>
          </a:p>
        </p:txBody>
      </p:sp>
      <p:sp>
        <p:nvSpPr>
          <p:cNvPr id="5" name="Text 1"/>
          <p:cNvSpPr/>
          <p:nvPr>
            <p:ph idx="104" type="body" hasCustomPrompt="1"/>
          </p:nvPr>
        </p:nvSpPr>
        <p:spPr>
          <a:xfrm>
            <a:off x="548640" y="1335024"/>
            <a:ext cx="11091672" cy="420624"/>
          </a:xfrm>
          <a:prstGeom prst="rect">
            <a:avLst/>
          </a:prstGeom>
          <a:noFill/>
          <a:ln/>
        </p:spPr>
        <p:txBody>
          <a:bodyPr wrap="square" lIns="0" tIns="0" rIns="0" bIns="0" rtlCol="0" anchor="t"/>
          <a:lstStyle/>
          <a:p>
            <a:pPr algn="l" indent="0" marL="0">
              <a:buNone/>
            </a:pPr>
            <a:r>
              <a:rPr lang="en-US" sz="1400" dirty="0">
                <a:solidFill>
                  <a:schemeClr val="tx2"/>
                </a:solidFill>
              </a:rPr>
              <a:t>목표 = 팀원 두 분의 맥에서 확인 질문(수용 테스트)을 전부 통과.</a:t>
            </a:r>
            <a:endParaRPr lang="en-US" sz="1400" dirty="0"/>
          </a:p>
        </p:txBody>
      </p:sp>
      <p:sp>
        <p:nvSpPr>
          <p:cNvPr id="6" name="next-card"/>
          <p:cNvSpPr/>
          <p:nvPr/>
        </p:nvSpPr>
        <p:spPr>
          <a:xfrm>
            <a:off x="548640" y="1965960"/>
            <a:ext cx="2587752" cy="2743200"/>
          </a:xfrm>
          <a:prstGeom prst="roundRect">
            <a:avLst>
              <a:gd name="adj" fmla="val 4240"/>
            </a:avLst>
          </a:prstGeom>
          <a:solidFill>
            <a:schemeClr val="bg2"/>
          </a:solidFill>
          <a:ln/>
        </p:spPr>
      </p:sp>
      <p:sp>
        <p:nvSpPr>
          <p:cNvPr id="7" name="num"/>
          <p:cNvSpPr/>
          <p:nvPr/>
        </p:nvSpPr>
        <p:spPr>
          <a:xfrm>
            <a:off x="804672" y="2240280"/>
            <a:ext cx="502920" cy="502920"/>
          </a:xfrm>
          <a:prstGeom prst="ellipse">
            <a:avLst/>
          </a:prstGeom>
          <a:solidFill>
            <a:schemeClr val="accent1"/>
          </a:solidFill>
          <a:ln/>
        </p:spPr>
      </p:sp>
      <p:sp>
        <p:nvSpPr>
          <p:cNvPr id="8" name="Text 6"/>
          <p:cNvSpPr txBox="1"/>
          <p:nvPr/>
        </p:nvSpPr>
        <p:spPr>
          <a:xfrm>
            <a:off x="804672" y="22402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7"/>
          <p:cNvSpPr txBox="1"/>
          <p:nvPr/>
        </p:nvSpPr>
        <p:spPr>
          <a:xfrm>
            <a:off x="804672" y="2880360"/>
            <a:ext cx="2130552" cy="685800"/>
          </a:xfrm>
          <a:prstGeom prst="rect">
            <a:avLst/>
          </a:prstGeom>
          <a:noFill/>
          <a:ln/>
        </p:spPr>
        <p:txBody>
          <a:bodyPr wrap="square" lIns="0" tIns="0" rIns="0" bIns="0" rtlCol="0" anchor="t"/>
          <a:lstStyle/>
          <a:p>
            <a:pPr indent="0" marL="0">
              <a:buNone/>
            </a:pPr>
            <a:r>
              <a:rPr lang="en-US" sz="1500" b="1" dirty="0">
                <a:solidFill>
                  <a:schemeClr val="tx1"/>
                </a:solidFill>
              </a:rPr>
              <a:t>새 기기 리허설</a:t>
            </a:r>
            <a:endParaRPr lang="en-US" sz="1500" dirty="0"/>
          </a:p>
        </p:txBody>
      </p:sp>
      <p:sp>
        <p:nvSpPr>
          <p:cNvPr id="10" name="Text 8"/>
          <p:cNvSpPr txBox="1"/>
          <p:nvPr/>
        </p:nvSpPr>
        <p:spPr>
          <a:xfrm>
            <a:off x="804672" y="3566160"/>
            <a:ext cx="2130552" cy="731520"/>
          </a:xfrm>
          <a:prstGeom prst="rect">
            <a:avLst/>
          </a:prstGeom>
          <a:noFill/>
          <a:ln/>
        </p:spPr>
        <p:txBody>
          <a:bodyPr wrap="square" lIns="0" tIns="0" rIns="0" bIns="0" rtlCol="0" anchor="t"/>
          <a:lstStyle/>
          <a:p>
            <a:pPr indent="0" marL="0">
              <a:buNone/>
            </a:pPr>
            <a:r>
              <a:rPr lang="en-US" sz="1150" dirty="0">
                <a:solidFill>
                  <a:schemeClr val="tx2"/>
                </a:solidFill>
              </a:rPr>
              <a:t>오늘 이 안내를 새 맥처럼 처음부터 따라 해 보고 고친다</a:t>
            </a:r>
            <a:endParaRPr lang="en-US" sz="1150" dirty="0"/>
          </a:p>
        </p:txBody>
      </p:sp>
      <p:sp>
        <p:nvSpPr>
          <p:cNvPr id="11" name="Text 9"/>
          <p:cNvSpPr txBox="1"/>
          <p:nvPr/>
        </p:nvSpPr>
        <p:spPr>
          <a:xfrm>
            <a:off x="804672" y="4297680"/>
            <a:ext cx="2130552" cy="274320"/>
          </a:xfrm>
          <a:prstGeom prst="rect">
            <a:avLst/>
          </a:prstGeom>
          <a:noFill/>
          <a:ln/>
        </p:spPr>
        <p:txBody>
          <a:bodyPr wrap="square" lIns="0" tIns="0" rIns="0" bIns="0" rtlCol="0" anchor="ctr"/>
          <a:lstStyle/>
          <a:p>
            <a:pPr indent="0" marL="0">
              <a:buNone/>
            </a:pPr>
            <a:r>
              <a:rPr lang="en-US" sz="1050" b="1" dirty="0">
                <a:solidFill>
                  <a:schemeClr val="accent1"/>
                </a:solidFill>
              </a:rPr>
              <a:t>Claude · 45분</a:t>
            </a:r>
            <a:endParaRPr lang="en-US" sz="1050" dirty="0"/>
          </a:p>
        </p:txBody>
      </p:sp>
      <p:sp>
        <p:nvSpPr>
          <p:cNvPr id="12" name="next-card"/>
          <p:cNvSpPr/>
          <p:nvPr/>
        </p:nvSpPr>
        <p:spPr>
          <a:xfrm>
            <a:off x="3383280" y="1965960"/>
            <a:ext cx="2587752" cy="2743200"/>
          </a:xfrm>
          <a:prstGeom prst="roundRect">
            <a:avLst>
              <a:gd name="adj" fmla="val 4240"/>
            </a:avLst>
          </a:prstGeom>
          <a:solidFill>
            <a:schemeClr val="accent5">
              <a:alpha val="9000"/>
            </a:schemeClr>
          </a:solidFill>
          <a:ln/>
        </p:spPr>
      </p:sp>
      <p:sp>
        <p:nvSpPr>
          <p:cNvPr id="13" name="num"/>
          <p:cNvSpPr/>
          <p:nvPr/>
        </p:nvSpPr>
        <p:spPr>
          <a:xfrm>
            <a:off x="3639312" y="2240280"/>
            <a:ext cx="502920" cy="502920"/>
          </a:xfrm>
          <a:prstGeom prst="ellipse">
            <a:avLst/>
          </a:prstGeom>
          <a:solidFill>
            <a:schemeClr val="accent5"/>
          </a:solidFill>
          <a:ln/>
        </p:spPr>
      </p:sp>
      <p:sp>
        <p:nvSpPr>
          <p:cNvPr id="14" name="Text 12"/>
          <p:cNvSpPr txBox="1"/>
          <p:nvPr/>
        </p:nvSpPr>
        <p:spPr>
          <a:xfrm>
            <a:off x="3639312" y="22402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3"/>
          <p:cNvSpPr txBox="1"/>
          <p:nvPr/>
        </p:nvSpPr>
        <p:spPr>
          <a:xfrm>
            <a:off x="3639312" y="2880360"/>
            <a:ext cx="2130552" cy="685800"/>
          </a:xfrm>
          <a:prstGeom prst="rect">
            <a:avLst/>
          </a:prstGeom>
          <a:noFill/>
          <a:ln/>
        </p:spPr>
        <p:txBody>
          <a:bodyPr wrap="square" lIns="0" tIns="0" rIns="0" bIns="0" rtlCol="0" anchor="t"/>
          <a:lstStyle/>
          <a:p>
            <a:pPr indent="0" marL="0">
              <a:buNone/>
            </a:pPr>
            <a:r>
              <a:rPr lang="en-US" sz="1500" b="1" dirty="0">
                <a:solidFill>
                  <a:schemeClr val="tx1"/>
                </a:solidFill>
              </a:rPr>
              <a:t>일정 · 테스트 페이지</a:t>
            </a:r>
            <a:endParaRPr lang="en-US" sz="1500" dirty="0"/>
          </a:p>
        </p:txBody>
      </p:sp>
      <p:sp>
        <p:nvSpPr>
          <p:cNvPr id="16" name="Text 14"/>
          <p:cNvSpPr txBox="1"/>
          <p:nvPr/>
        </p:nvSpPr>
        <p:spPr>
          <a:xfrm>
            <a:off x="3639312" y="3566160"/>
            <a:ext cx="2130552" cy="731520"/>
          </a:xfrm>
          <a:prstGeom prst="rect">
            <a:avLst/>
          </a:prstGeom>
          <a:noFill/>
          <a:ln/>
        </p:spPr>
        <p:txBody>
          <a:bodyPr wrap="square" lIns="0" tIns="0" rIns="0" bIns="0" rtlCol="0" anchor="t"/>
          <a:lstStyle/>
          <a:p>
            <a:pPr indent="0" marL="0">
              <a:buNone/>
            </a:pPr>
            <a:r>
              <a:rPr lang="en-US" sz="1150" dirty="0">
                <a:solidFill>
                  <a:schemeClr val="tx2"/>
                </a:solidFill>
              </a:rPr>
              <a:t>두 분 일정과 각자의 연습용 페이지 정하기</a:t>
            </a:r>
            <a:endParaRPr lang="en-US" sz="1150" dirty="0"/>
          </a:p>
        </p:txBody>
      </p:sp>
      <p:sp>
        <p:nvSpPr>
          <p:cNvPr id="17" name="Text 15"/>
          <p:cNvSpPr txBox="1"/>
          <p:nvPr/>
        </p:nvSpPr>
        <p:spPr>
          <a:xfrm>
            <a:off x="3639312" y="4297680"/>
            <a:ext cx="2130552" cy="274320"/>
          </a:xfrm>
          <a:prstGeom prst="rect">
            <a:avLst/>
          </a:prstGeom>
          <a:noFill/>
          <a:ln/>
        </p:spPr>
        <p:txBody>
          <a:bodyPr wrap="square" lIns="0" tIns="0" rIns="0" bIns="0" rtlCol="0" anchor="ctr"/>
          <a:lstStyle/>
          <a:p>
            <a:pPr indent="0" marL="0">
              <a:buNone/>
            </a:pPr>
            <a:r>
              <a:rPr lang="en-US" sz="1050" b="1" dirty="0">
                <a:solidFill>
                  <a:schemeClr val="accent5"/>
                </a:solidFill>
              </a:rPr>
              <a:t>강현이</a:t>
            </a:r>
            <a:endParaRPr lang="en-US" sz="1050" dirty="0"/>
          </a:p>
        </p:txBody>
      </p:sp>
      <p:sp>
        <p:nvSpPr>
          <p:cNvPr id="18" name="next-card"/>
          <p:cNvSpPr/>
          <p:nvPr/>
        </p:nvSpPr>
        <p:spPr>
          <a:xfrm>
            <a:off x="6217920" y="1965960"/>
            <a:ext cx="2587752" cy="2743200"/>
          </a:xfrm>
          <a:prstGeom prst="roundRect">
            <a:avLst>
              <a:gd name="adj" fmla="val 4240"/>
            </a:avLst>
          </a:prstGeom>
          <a:solidFill>
            <a:schemeClr val="bg2"/>
          </a:solidFill>
          <a:ln/>
        </p:spPr>
      </p:sp>
      <p:sp>
        <p:nvSpPr>
          <p:cNvPr id="19" name="num"/>
          <p:cNvSpPr/>
          <p:nvPr/>
        </p:nvSpPr>
        <p:spPr>
          <a:xfrm>
            <a:off x="6473952" y="2240280"/>
            <a:ext cx="502920" cy="502920"/>
          </a:xfrm>
          <a:prstGeom prst="ellipse">
            <a:avLst/>
          </a:prstGeom>
          <a:solidFill>
            <a:schemeClr val="accent1"/>
          </a:solidFill>
          <a:ln/>
        </p:spPr>
      </p:sp>
      <p:sp>
        <p:nvSpPr>
          <p:cNvPr id="20" name="Text 18"/>
          <p:cNvSpPr txBox="1"/>
          <p:nvPr/>
        </p:nvSpPr>
        <p:spPr>
          <a:xfrm>
            <a:off x="6473952" y="22402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1" name="Text 19"/>
          <p:cNvSpPr txBox="1"/>
          <p:nvPr/>
        </p:nvSpPr>
        <p:spPr>
          <a:xfrm>
            <a:off x="6473952" y="2880360"/>
            <a:ext cx="2130552" cy="685800"/>
          </a:xfrm>
          <a:prstGeom prst="rect">
            <a:avLst/>
          </a:prstGeom>
          <a:noFill/>
          <a:ln/>
        </p:spPr>
        <p:txBody>
          <a:bodyPr wrap="square" lIns="0" tIns="0" rIns="0" bIns="0" rtlCol="0" anchor="t"/>
          <a:lstStyle/>
          <a:p>
            <a:pPr indent="0" marL="0">
              <a:buNone/>
            </a:pPr>
            <a:r>
              <a:rPr lang="en-US" sz="1500" b="1" dirty="0">
                <a:solidFill>
                  <a:schemeClr val="tx1"/>
                </a:solidFill>
              </a:rPr>
              <a:t>볼트 공유 팀원 셋업</a:t>
            </a:r>
            <a:endParaRPr lang="en-US" sz="1500" dirty="0"/>
          </a:p>
        </p:txBody>
      </p:sp>
      <p:sp>
        <p:nvSpPr>
          <p:cNvPr id="22" name="Text 20"/>
          <p:cNvSpPr txBox="1"/>
          <p:nvPr/>
        </p:nvSpPr>
        <p:spPr>
          <a:xfrm>
            <a:off x="6473952" y="3566160"/>
            <a:ext cx="2130552" cy="731520"/>
          </a:xfrm>
          <a:prstGeom prst="rect">
            <a:avLst/>
          </a:prstGeom>
          <a:noFill/>
          <a:ln/>
        </p:spPr>
        <p:txBody>
          <a:bodyPr wrap="square" lIns="0" tIns="0" rIns="0" bIns="0" rtlCol="0" anchor="t"/>
          <a:lstStyle/>
          <a:p>
            <a:pPr indent="0" marL="0">
              <a:buNone/>
            </a:pPr>
            <a:r>
              <a:rPr lang="en-US" sz="1150" dirty="0">
                <a:solidFill>
                  <a:schemeClr val="tx2"/>
                </a:solidFill>
              </a:rPr>
              <a:t>STEP 1~9 → 점검표 ✅ → 수용 테스트</a:t>
            </a:r>
            <a:endParaRPr lang="en-US" sz="1150" dirty="0"/>
          </a:p>
        </p:txBody>
      </p:sp>
      <p:sp>
        <p:nvSpPr>
          <p:cNvPr id="23" name="Text 21"/>
          <p:cNvSpPr txBox="1"/>
          <p:nvPr/>
        </p:nvSpPr>
        <p:spPr>
          <a:xfrm>
            <a:off x="6473952" y="4297680"/>
            <a:ext cx="2130552" cy="274320"/>
          </a:xfrm>
          <a:prstGeom prst="rect">
            <a:avLst/>
          </a:prstGeom>
          <a:noFill/>
          <a:ln/>
        </p:spPr>
        <p:txBody>
          <a:bodyPr wrap="square" lIns="0" tIns="0" rIns="0" bIns="0" rtlCol="0" anchor="ctr"/>
          <a:lstStyle/>
          <a:p>
            <a:pPr indent="0" marL="0">
              <a:buNone/>
            </a:pPr>
            <a:r>
              <a:rPr lang="en-US" sz="1050" b="1" dirty="0">
                <a:solidFill>
                  <a:schemeClr val="accent1"/>
                </a:solidFill>
              </a:rPr>
              <a:t>팀원 + Claude · 30~45분</a:t>
            </a:r>
            <a:endParaRPr lang="en-US" sz="1050" dirty="0"/>
          </a:p>
        </p:txBody>
      </p:sp>
      <p:sp>
        <p:nvSpPr>
          <p:cNvPr id="24" name="next-card"/>
          <p:cNvSpPr/>
          <p:nvPr/>
        </p:nvSpPr>
        <p:spPr>
          <a:xfrm>
            <a:off x="9052560" y="1965960"/>
            <a:ext cx="2587752" cy="2743200"/>
          </a:xfrm>
          <a:prstGeom prst="roundRect">
            <a:avLst>
              <a:gd name="adj" fmla="val 4240"/>
            </a:avLst>
          </a:prstGeom>
          <a:solidFill>
            <a:schemeClr val="bg2"/>
          </a:solidFill>
          <a:ln/>
        </p:spPr>
      </p:sp>
      <p:sp>
        <p:nvSpPr>
          <p:cNvPr id="25" name="num"/>
          <p:cNvSpPr/>
          <p:nvPr/>
        </p:nvSpPr>
        <p:spPr>
          <a:xfrm>
            <a:off x="9308592" y="2240280"/>
            <a:ext cx="502920" cy="502920"/>
          </a:xfrm>
          <a:prstGeom prst="ellipse">
            <a:avLst/>
          </a:prstGeom>
          <a:solidFill>
            <a:schemeClr val="accent1"/>
          </a:solidFill>
          <a:ln/>
        </p:spPr>
      </p:sp>
      <p:sp>
        <p:nvSpPr>
          <p:cNvPr id="26" name="Text 24"/>
          <p:cNvSpPr txBox="1"/>
          <p:nvPr/>
        </p:nvSpPr>
        <p:spPr>
          <a:xfrm>
            <a:off x="9308592" y="22402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7" name="Text 25"/>
          <p:cNvSpPr txBox="1"/>
          <p:nvPr/>
        </p:nvSpPr>
        <p:spPr>
          <a:xfrm>
            <a:off x="9308592" y="2880360"/>
            <a:ext cx="2130552" cy="685800"/>
          </a:xfrm>
          <a:prstGeom prst="rect">
            <a:avLst/>
          </a:prstGeom>
          <a:noFill/>
          <a:ln/>
        </p:spPr>
        <p:txBody>
          <a:bodyPr wrap="square" lIns="0" tIns="0" rIns="0" bIns="0" rtlCol="0" anchor="t"/>
          <a:lstStyle/>
          <a:p>
            <a:pPr indent="0" marL="0">
              <a:buNone/>
            </a:pPr>
            <a:r>
              <a:rPr lang="en-US" sz="1500" b="1" dirty="0">
                <a:solidFill>
                  <a:schemeClr val="tx1"/>
                </a:solidFill>
              </a:rPr>
              <a:t>GitHub 공유 팀원 셋업</a:t>
            </a:r>
            <a:endParaRPr lang="en-US" sz="1500" dirty="0"/>
          </a:p>
        </p:txBody>
      </p:sp>
      <p:sp>
        <p:nvSpPr>
          <p:cNvPr id="28" name="Text 26"/>
          <p:cNvSpPr txBox="1"/>
          <p:nvPr/>
        </p:nvSpPr>
        <p:spPr>
          <a:xfrm>
            <a:off x="9308592" y="3566160"/>
            <a:ext cx="2130552" cy="731520"/>
          </a:xfrm>
          <a:prstGeom prst="rect">
            <a:avLst/>
          </a:prstGeom>
          <a:noFill/>
          <a:ln/>
        </p:spPr>
        <p:txBody>
          <a:bodyPr wrap="square" lIns="0" tIns="0" rIns="0" bIns="0" rtlCol="0" anchor="t"/>
          <a:lstStyle/>
          <a:p>
            <a:pPr indent="0" marL="0">
              <a:buNone/>
            </a:pPr>
            <a:r>
              <a:rPr lang="en-US" sz="1150" dirty="0">
                <a:solidFill>
                  <a:schemeClr val="tx2"/>
                </a:solidFill>
              </a:rPr>
              <a:t>같은 기준 통과 → 🎯</a:t>
            </a:r>
            <a:endParaRPr lang="en-US" sz="1150" dirty="0"/>
          </a:p>
        </p:txBody>
      </p:sp>
      <p:sp>
        <p:nvSpPr>
          <p:cNvPr id="29" name="Text 27"/>
          <p:cNvSpPr txBox="1"/>
          <p:nvPr/>
        </p:nvSpPr>
        <p:spPr>
          <a:xfrm>
            <a:off x="9308592" y="4297680"/>
            <a:ext cx="2130552" cy="274320"/>
          </a:xfrm>
          <a:prstGeom prst="rect">
            <a:avLst/>
          </a:prstGeom>
          <a:noFill/>
          <a:ln/>
        </p:spPr>
        <p:txBody>
          <a:bodyPr wrap="square" lIns="0" tIns="0" rIns="0" bIns="0" rtlCol="0" anchor="ctr"/>
          <a:lstStyle/>
          <a:p>
            <a:pPr indent="0" marL="0">
              <a:buNone/>
            </a:pPr>
            <a:r>
              <a:rPr lang="en-US" sz="1050" b="1" dirty="0">
                <a:solidFill>
                  <a:schemeClr val="accent1"/>
                </a:solidFill>
              </a:rPr>
              <a:t>팀원 + Claude · 45분</a:t>
            </a:r>
            <a:endParaRPr lang="en-US" sz="1050" dirty="0"/>
          </a:p>
        </p:txBody>
      </p:sp>
      <p:sp>
        <p:nvSpPr>
          <p:cNvPr id="30" name="box-red"/>
          <p:cNvSpPr/>
          <p:nvPr/>
        </p:nvSpPr>
        <p:spPr>
          <a:xfrm>
            <a:off x="548640" y="4983480"/>
            <a:ext cx="11091672" cy="1097280"/>
          </a:xfrm>
          <a:prstGeom prst="roundRect">
            <a:avLst>
              <a:gd name="adj" fmla="val 8333"/>
            </a:avLst>
          </a:prstGeom>
          <a:solidFill>
            <a:schemeClr val="accent5">
              <a:alpha val="10000"/>
            </a:schemeClr>
          </a:solidFill>
          <a:ln/>
        </p:spPr>
      </p:sp>
      <p:sp>
        <p:nvSpPr>
          <p:cNvPr id="31" name="box-text"/>
          <p:cNvSpPr txBox="1"/>
          <p:nvPr/>
        </p:nvSpPr>
        <p:spPr>
          <a:xfrm>
            <a:off x="749808" y="5111496"/>
            <a:ext cx="10689336" cy="859536"/>
          </a:xfrm>
          <a:prstGeom prst="rect">
            <a:avLst/>
          </a:prstGeom>
          <a:noFill/>
          <a:ln/>
        </p:spPr>
        <p:txBody>
          <a:bodyPr wrap="square" lIns="0" tIns="0" rIns="0" bIns="0" rtlCol="0" anchor="t"/>
          <a:lstStyle/>
          <a:p>
            <a:pPr indent="0" marL="0">
              <a:spcAft>
                <a:spcPts val="200"/>
              </a:spcAft>
              <a:buNone/>
            </a:pPr>
            <a:r>
              <a:rPr lang="en-US" sz="1350" b="1" dirty="0">
                <a:solidFill>
                  <a:schemeClr val="accent5"/>
                </a:solidFill>
              </a:rPr>
              <a:t>결정이 필요합니다</a:t>
            </a:r>
            <a:endParaRPr lang="en-US" sz="1300" dirty="0"/>
          </a:p>
          <a:p>
            <a:pPr indent="0" marL="0">
              <a:spcAft>
                <a:spcPts val="200"/>
              </a:spcAft>
              <a:buNone/>
            </a:pPr>
            <a:r>
              <a:rPr lang="en-US" sz="1300" dirty="0">
                <a:solidFill>
                  <a:schemeClr val="tx1"/>
                </a:solidFill>
              </a:rPr>
              <a:t>팀원 두 분의 셋업 일정, 그리고 각자 쓸 전용 테스트 페이지 주소(cdbd.in/editor/숫자). 공용 계정이라 사람마다 하나씩 필요합니다.</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CDBD Brand">
  <a:themeElements>
    <a:clrScheme name="CDBD Brand">
      <a:dk1>
        <a:srgbClr val="1D1D1F"/>
      </a:dk1>
      <a:lt1>
        <a:srgbClr val="FFFFFF"/>
      </a:lt1>
      <a:dk2>
        <a:srgbClr val="6E6E73"/>
      </a:dk2>
      <a:lt2>
        <a:srgbClr val="F5F5F7"/>
      </a:lt2>
      <a:accent1>
        <a:srgbClr val="6C4CFF"/>
      </a:accent1>
      <a:accent2>
        <a:srgbClr val="EEEAFB"/>
      </a:accent2>
      <a:accent3>
        <a:srgbClr val="1F8A4C"/>
      </a:accent3>
      <a:accent4>
        <a:srgbClr val="D9890F"/>
      </a:accent4>
      <a:accent5>
        <a:srgbClr val="C62F3A"/>
      </a:accent5>
      <a:accent6>
        <a:srgbClr val="9B7DFF"/>
      </a:accent6>
      <a:hlink>
        <a:srgbClr val="6C4CFF"/>
      </a:hlink>
      <a:folHlink>
        <a:srgbClr val="9B7DFF"/>
      </a:folHlink>
    </a:clrScheme>
    <a:fontScheme name="CDBD Brand">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CdBd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CdBd 기능별 경로 가이드 — 결과 보고 · 팀원 셋업</dc:title>
  <dc:subject>PptxGenJS Presentation</dc:subject>
  <dc:creator>강현이 · Claude</dc:creator>
  <cp:lastModifiedBy>강현이 · Claude</cp:lastModifiedBy>
  <cp:revision>1</cp:revision>
  <dcterms:created xsi:type="dcterms:W3CDTF">2026-10-02T05:13:24Z</dcterms:created>
  <dcterms:modified xsi:type="dcterms:W3CDTF">2026-10-02T05:13:24Z</dcterms:modified>
</cp:coreProperties>
</file>