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731f28a-4cfd-da23-0f3f-d69101bab267}">
          <p14:sldIdLst>
            <p14:sldId id="256"/>
          </p14:sldIdLst>
        </p14:section>
        <p14:section name="목차" id="{2106ba6c-1a21-b0ec-5d81-391b8b852f21}">
          <p14:sldIdLst>
            <p14:sldId id="257"/>
          </p14:sldIdLst>
        </p14:section>
        <p14:section name="결과 보고" id="{ae9bb8ab-48e2-3755-a648-05a52d7adc87}">
          <p14:sldIdLst>
            <p14:sldId id="258"/>
            <p14:sldId id="259"/>
            <p14:sldId id="260"/>
          </p14:sldIdLst>
        </p14:section>
        <p14:section name="팀원 셋업" id="{f87d98d4-f348-d000-b003-8e0b0c7496a9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막혔을 때" id="{b2bc409d-67bb-f65d-34b3-4b4a80b1fc31}">
          <p14:sldIdLst>
            <p14:sldId id="272"/>
          </p14:sldIdLst>
        </p14:section>
        <p14:section name="운영 규칙" id="{00b16582-4fe0-400c-3c74-be89bc55b704}">
          <p14:sldIdLst>
            <p14:sldId id="273"/>
          </p14:sldIdLst>
        </p14:section>
        <p14:section name="다음 순서" id="{52883e13-a862-3f3d-f739-2724a650c9dc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두 부분입니다. 앞부분은 짧게 결과 보고, 뒷부분은 팀원분들이 자기 맥에서 직접 셋업하는 방법을 한 단계씩 설명합니다. 오른쪽처럼 8단계 중 7단계가 끝났고, 마지막 단계가 바로 팀원 셋업입니다.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1부 결과 보고는 세 장으로 짧게, 2부 셋업은 단계마다 한 장씩 자세히 준비했습니다.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 네 개만 기억하시면 됩니다. 8단계 중 7단계 완료. Claude가 제대로 아는지 확인하는 질문 23개를 전부 통과했고, 셋업 점검 28개 항목도 전부 통과했습니다. 남은 건 두 분의 셋업입니다.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달라진 점 네 가지입니다. 첫째, 기능을 물으면 실제 화면을 녹화해서 확인한 기능 사전을 찾아보고 답합니다. 둘째, 애매할 때만 묻고 분명하면 바로 답하며, 우리가 잘못 알고 있으면 첫 문장에서 바로잡아 줍니다. 셋째, 에디터를 Claude가 직접 조작합니다. 넷째, 새 맥 세팅은 스크립트와 점검표로 끝납니다. 이게 오늘 2부입니다.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남은 건 세 가지입니다. 리허설, 팀원 일정과 연습용 페이지 정하기, 그리고 두 분 셋업입니다. 세부 할 일은 28개 중 21개 완료, 제품팀 결함 전달문 한 건은 보류했습니다. 오른쪽 아래는 알아 두실 점입니다. Claude는 기능을 외우지 않고 사전을 찾아보기 때문에, 사전에서 아직 확인 안 된 것은 모른다고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시작 전에 두 가지만 준비하시면 됩니다. 왼쪽 준비물 네 가지를 담당자에게 받으시고, 오른쪽 터미널 쓰는 법만 알면 됩니다. 명령어 뜻을 이해할 필요는 없고, 복사해서 붙여넣고 엔터만 누르면 됩니다. 한 가지 주의, 다른 사람의 credentials.json 파일은 절대 받지 마세요. 서로 로그인이 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지도입니다. 설치 세 단계, 연결 두 단계, 확인 네 단계입니다. 처음 저장소를 받으시는 분은 그 전에 온보딩 문서 3장, SSH 키 만들고 저장소 받고 옵시디언에서 여는 과정을 먼저 하시면 됩니다. 이제부터 한 장에 한 단계씩 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단계는 Claude Code 설치입니다. 옵시디언 안의 Claude가 이 프로그램을 씁니다. 터미널을 열고 첫 줄을 붙여넣어 설치한 뒤, claude라고 입력하면 브라우저에서 로그인 창이 뜹니다. 로그인하고 터미널로 돌아와 /exit를 입력하면 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번째는 Claudian, 옵시디언 안의 Claude 창입니다. 허브 볼트와 서비스 볼트에는 이미 있어서, 명령 한 번으로 나머지 네 볼트에 복사합니다. 옵시디언을 껐다 켜고, 볼트마다 커뮤니티 플러그인에서 Claudian이 켜져 있는지, 사용자 설정 불러오기가 켜져 있는지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번째는 gstack, Claude가 에디터를 조작할 때 쓰는 브라우저입니다. 먼저 Bun이라는 설치 도구가 필요하고, 새로 깔았다면 터미널을 새로 열어야 합니다. 그다음 gstack을 받아 설치하고, 마지막 줄로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번째는 셋업 스크립트입니다. 한 줄이면 필요한 연결이 전부 됩니다. 처음 실행하면 cdbd.env 견본을 만들었다는 노란 경고가 나오는데 정상입니다. 다음 단계에서 그 파일을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번째는 cdbd.env 채우기입니다. 첫 줄로 파일을 열고, 등호 뒤에 받은 값을 띄어쓰기 없이 붙여 씁니다. 저장하고 셋업을 한 번 더 돌리면 확인 필요 0이 나와야 합니다. 다시 강조하지만 credentials.json은 복사하지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번째는 폴더 신뢰 승인입니다. 볼트마다 Claude를 한 번 켜서 이 폴더를 믿겠다고 승인하는 것입니다. 여섯 줄을 하나씩 붙여넣고, 질문이 나오면 Yes proceed에서 엔터, 그리고 /exit입니다.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일곱 번째는 Figma 연결입니다. 터미널이 아니라 브라우저에서 합니다. claude.ai 설정의 커넥터에서 Figma를 연결하면 되고, 계정 단위라 한 번만 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여덟 번째는 점검표입니다. 한 줄이면 28개 항목을 확인합니다. 마지막 줄에 ✅ 28, ❌ 0이 나오면 셋업이 끝난 것입니다. 빨간 표시가 있으면 그 줄에 적힌 안내대로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아홉 번째는 확인 질문입니다. 이 질문은 일부러 틀린 전제를 담고 있습니다. Claude가 아니요로 시작해서 빈칸으로 나온다고 바로잡으면, 팀 규칙과 기능 사전이 제대로 실린 것입니다. 오늘 이 맥에서도 이렇게 답하는 것을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막혔을 때는 점검표를 보시면 됩니다. 빨간 표시마다 이유와 할 일이 정해져 있고, 대부분은 해당 단계를 한 번 더 하면 풀립니다. 그래도 안 되면 담당자에게 화면을 보내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 규칙은 세 가지입니다. 돈이 드는 일은 먼저 묻는다, 연습은 내 테스트 페이지에서만, 로그인 파일은 각자. Claude도 이 규칙대로 움직입니다.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순서입니다. 먼저 오늘 안내를 새 맥처럼 따라 하는 리허설로 문서를 다듬고, 두 분 일정과 연습용 페이지를 정한 뒤 한 분씩 셋업합니다. 두 분 맥에서 확인 질문을 모두 통과하면 목표 도달입니다. 여기서 결정이 필요한 건 일정과 테스트 페이지입니다.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tx2"/>
                </a:solidFill>
              </a:rPr>
              <a:t>CDBD  ·  HOME.CDBD.IN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58521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5760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-pill"/>
          <p:cNvSpPr/>
          <p:nvPr/>
        </p:nvSpPr>
        <p:spPr>
          <a:xfrm>
            <a:off x="548640" y="502920"/>
            <a:ext cx="86868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CDBD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82880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CdBd 기능별</a:t>
            </a:r>
            <a:endParaRPr lang="en-US" sz="4600" dirty="0"/>
          </a:p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경로 가이드</a:t>
            </a:r>
            <a:endParaRPr lang="en-US" sz="4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결과 보고 + 팀원 셋업 안내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어디까지 왔나 · 내 맥에서 어떻게 시작하나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기준일 2026-10-02   ·   작성 강현이 · Claude</a:t>
            </a:r>
            <a:endParaRPr lang="en-US" sz="1000" dirty="0"/>
          </a:p>
        </p:txBody>
      </p:sp>
      <p:sp>
        <p:nvSpPr>
          <p:cNvPr id="7" name="progress-panel"/>
          <p:cNvSpPr/>
          <p:nvPr/>
        </p:nvSpPr>
        <p:spPr>
          <a:xfrm>
            <a:off x="6812280" y="502920"/>
            <a:ext cx="4828032" cy="585216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78040" y="822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현재 위치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78040" y="10972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7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 / 8 단계 완료</a:t>
            </a:r>
            <a:endParaRPr lang="en-US" sz="5400" dirty="0"/>
          </a:p>
        </p:txBody>
      </p:sp>
      <p:sp>
        <p:nvSpPr>
          <p:cNvPr id="10" name="step-dot"/>
          <p:cNvSpPr/>
          <p:nvPr/>
        </p:nvSpPr>
        <p:spPr>
          <a:xfrm>
            <a:off x="7223760" y="225856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step-link"/>
          <p:cNvSpPr/>
          <p:nvPr/>
        </p:nvSpPr>
        <p:spPr>
          <a:xfrm>
            <a:off x="7360920" y="2532888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35240" y="21945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0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정의 확정</a:t>
            </a:r>
            <a:endParaRPr lang="en-US" sz="1200" dirty="0"/>
          </a:p>
        </p:txBody>
      </p:sp>
      <p:sp>
        <p:nvSpPr>
          <p:cNvPr id="13" name="step-dot"/>
          <p:cNvSpPr/>
          <p:nvPr/>
        </p:nvSpPr>
        <p:spPr>
          <a:xfrm>
            <a:off x="7223760" y="274320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step-link"/>
          <p:cNvSpPr/>
          <p:nvPr/>
        </p:nvSpPr>
        <p:spPr>
          <a:xfrm>
            <a:off x="7360920" y="3017520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35240" y="2679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1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분류표</a:t>
            </a:r>
            <a:endParaRPr lang="en-US" sz="1200" dirty="0"/>
          </a:p>
        </p:txBody>
      </p:sp>
      <p:sp>
        <p:nvSpPr>
          <p:cNvPr id="16" name="step-dot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7" name="step-link"/>
          <p:cNvSpPr/>
          <p:nvPr/>
        </p:nvSpPr>
        <p:spPr>
          <a:xfrm>
            <a:off x="7360920" y="3502152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316382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2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경로 가이드 작성</a:t>
            </a:r>
            <a:endParaRPr lang="en-US" sz="1200" dirty="0"/>
          </a:p>
        </p:txBody>
      </p:sp>
      <p:sp>
        <p:nvSpPr>
          <p:cNvPr id="19" name="step-dot"/>
          <p:cNvSpPr/>
          <p:nvPr/>
        </p:nvSpPr>
        <p:spPr>
          <a:xfrm>
            <a:off x="7223760" y="371246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0" name="step-link"/>
          <p:cNvSpPr/>
          <p:nvPr/>
        </p:nvSpPr>
        <p:spPr>
          <a:xfrm>
            <a:off x="7360920" y="3986784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35240" y="364845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3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연결 (@import)</a:t>
            </a:r>
            <a:endParaRPr lang="en-US" sz="1200" dirty="0"/>
          </a:p>
        </p:txBody>
      </p:sp>
      <p:sp>
        <p:nvSpPr>
          <p:cNvPr id="22" name="step-dot"/>
          <p:cNvSpPr/>
          <p:nvPr/>
        </p:nvSpPr>
        <p:spPr>
          <a:xfrm>
            <a:off x="7223760" y="419709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3" name="step-link"/>
          <p:cNvSpPr/>
          <p:nvPr/>
        </p:nvSpPr>
        <p:spPr>
          <a:xfrm>
            <a:off x="7360920" y="4471416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35240" y="41330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4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영상 녹화 · 판독</a:t>
            </a:r>
            <a:endParaRPr lang="en-US" sz="1200" dirty="0"/>
          </a:p>
        </p:txBody>
      </p:sp>
      <p:sp>
        <p:nvSpPr>
          <p:cNvPr id="25" name="step-dot"/>
          <p:cNvSpPr/>
          <p:nvPr/>
        </p:nvSpPr>
        <p:spPr>
          <a:xfrm>
            <a:off x="7223760" y="468172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6" name="step-link"/>
          <p:cNvSpPr/>
          <p:nvPr/>
        </p:nvSpPr>
        <p:spPr>
          <a:xfrm>
            <a:off x="7360920" y="4956048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35240" y="461772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5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확산 · 검증</a:t>
            </a:r>
            <a:endParaRPr lang="en-US" sz="1200" dirty="0"/>
          </a:p>
        </p:txBody>
      </p:sp>
      <p:sp>
        <p:nvSpPr>
          <p:cNvPr id="28" name="step-dot"/>
          <p:cNvSpPr/>
          <p:nvPr/>
        </p:nvSpPr>
        <p:spPr>
          <a:xfrm>
            <a:off x="7223760" y="51663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9" name="step-link"/>
          <p:cNvSpPr/>
          <p:nvPr/>
        </p:nvSpPr>
        <p:spPr>
          <a:xfrm>
            <a:off x="7360920" y="5440680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35240" y="510235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6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스킬 승격</a:t>
            </a:r>
            <a:endParaRPr lang="en-US" sz="1200" dirty="0"/>
          </a:p>
        </p:txBody>
      </p:sp>
      <p:sp>
        <p:nvSpPr>
          <p:cNvPr id="31" name="step-dot"/>
          <p:cNvSpPr/>
          <p:nvPr/>
        </p:nvSpPr>
        <p:spPr>
          <a:xfrm>
            <a:off x="7223760" y="5650992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35240" y="558698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STEP 7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배포 · 팀원 셋업</a:t>
            </a:r>
            <a:endParaRPr lang="en-US" sz="1200" dirty="0"/>
          </a:p>
        </p:txBody>
      </p:sp>
      <p:sp>
        <p:nvSpPr>
          <p:cNvPr id="33" name="pill-bg"/>
          <p:cNvSpPr/>
          <p:nvPr/>
        </p:nvSpPr>
        <p:spPr>
          <a:xfrm>
            <a:off x="10469880" y="5660136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4">
              <a:alpha val="14000"/>
            </a:schemeClr>
          </a:solidFill>
          <a:ln/>
        </p:spPr>
      </p:sp>
      <p:sp>
        <p:nvSpPr>
          <p:cNvPr id="34" name="pill"/>
          <p:cNvSpPr txBox="1"/>
          <p:nvPr/>
        </p:nvSpPr>
        <p:spPr>
          <a:xfrm>
            <a:off x="10469880" y="566013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지금 여기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목차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목차</a:t>
            </a:r>
            <a:endParaRPr lang="en-US" sz="3000" dirty="0"/>
          </a:p>
        </p:txBody>
      </p:sp>
      <p:sp>
        <p:nvSpPr>
          <p:cNvPr id="5" name="toc-card"/>
          <p:cNvSpPr/>
          <p:nvPr/>
        </p:nvSpPr>
        <p:spPr>
          <a:xfrm>
            <a:off x="548640" y="1783080"/>
            <a:ext cx="5413248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4773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결과 보고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063240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한눈에 보는 결과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749040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무엇이 달라졌나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34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4434840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어디까지 왔나 · 아직 아닌 것</a:t>
            </a:r>
            <a:endParaRPr lang="en-US" sz="1500" dirty="0"/>
          </a:p>
        </p:txBody>
      </p:sp>
      <p:sp>
        <p:nvSpPr>
          <p:cNvPr id="14" name="toc-card"/>
          <p:cNvSpPr/>
          <p:nvPr/>
        </p:nvSpPr>
        <p:spPr>
          <a:xfrm>
            <a:off x="6231636" y="1783080"/>
            <a:ext cx="5413248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51676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51676" y="2286000"/>
            <a:ext cx="4773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팀원 셋업 가이드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551676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46036" y="3063240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시작 전에 — 준비물 · 터미널 쓰는 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51676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05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146036" y="3749040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1~9 — 한 장에 한 단계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51676" y="4434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06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46036" y="4434840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막혔을 때 · 운영 규칙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551676" y="5120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146036" y="5120640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다음 순서</a:t>
            </a:r>
            <a:endParaRPr lang="en-US" sz="1500" dirty="0"/>
          </a:p>
        </p:txBody>
      </p:sp>
      <p:sp>
        <p:nvSpPr>
          <p:cNvPr id="26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1 · 결과 보고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01  한눈에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Claude가 CdBd를 「알고, 직접 하는」 단계까지 왔습니다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이제 남은 건 팀원분들 맥에 똑같은 환경을 만드는 것 — 오늘 2부에서 그 방법을 설명합니다.</a:t>
            </a:r>
            <a:endParaRPr lang="en-US" sz="1400" dirty="0"/>
          </a:p>
        </p:txBody>
      </p:sp>
      <p:sp>
        <p:nvSpPr>
          <p:cNvPr id="6" name="kpi-card"/>
          <p:cNvSpPr/>
          <p:nvPr/>
        </p:nvSpPr>
        <p:spPr>
          <a:xfrm>
            <a:off x="548640" y="2103120"/>
            <a:ext cx="2560320" cy="3566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5146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tx1"/>
                </a:solidFill>
              </a:rPr>
              <a:t>7</a:t>
            </a:r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  / 8 단계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19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계획 단계 완료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4348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마지막 단계 = 팀원 셋업</a:t>
            </a:r>
            <a:endParaRPr lang="en-US" sz="1250" dirty="0"/>
          </a:p>
        </p:txBody>
      </p:sp>
      <p:sp>
        <p:nvSpPr>
          <p:cNvPr id="10" name="kpi-card"/>
          <p:cNvSpPr/>
          <p:nvPr/>
        </p:nvSpPr>
        <p:spPr>
          <a:xfrm>
            <a:off x="3392424" y="2103120"/>
            <a:ext cx="2560320" cy="3566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66744" y="25146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tx1"/>
                </a:solidFill>
              </a:rPr>
              <a:t>23</a:t>
            </a:r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  / 23</a:t>
            </a:r>
            <a:endParaRPr lang="en-US" sz="5600" dirty="0"/>
          </a:p>
        </p:txBody>
      </p:sp>
      <p:sp>
        <p:nvSpPr>
          <p:cNvPr id="12" name="Text 10"/>
          <p:cNvSpPr txBox="1"/>
          <p:nvPr/>
        </p:nvSpPr>
        <p:spPr>
          <a:xfrm>
            <a:off x="3666744" y="39319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확인 질문 전부 통과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44348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「Claude가 제대로 아는가」 자동 채점</a:t>
            </a:r>
            <a:endParaRPr lang="en-US" sz="1250" dirty="0"/>
          </a:p>
        </p:txBody>
      </p:sp>
      <p:sp>
        <p:nvSpPr>
          <p:cNvPr id="14" name="kpi-card"/>
          <p:cNvSpPr/>
          <p:nvPr/>
        </p:nvSpPr>
        <p:spPr>
          <a:xfrm>
            <a:off x="6236208" y="2103120"/>
            <a:ext cx="2560320" cy="3566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10528" y="25146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tx1"/>
                </a:solidFill>
              </a:rPr>
              <a:t>28</a:t>
            </a:r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  / 28</a:t>
            </a:r>
            <a:endParaRPr lang="en-US" sz="5600" dirty="0"/>
          </a:p>
        </p:txBody>
      </p:sp>
      <p:sp>
        <p:nvSpPr>
          <p:cNvPr id="16" name="Text 14"/>
          <p:cNvSpPr txBox="1"/>
          <p:nvPr/>
        </p:nvSpPr>
        <p:spPr>
          <a:xfrm>
            <a:off x="6510528" y="39319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기기 점검 항목 통과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510528" y="44348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셋업이 제대로 됐는지 자동 점검</a:t>
            </a:r>
            <a:endParaRPr lang="en-US" sz="1250" dirty="0"/>
          </a:p>
        </p:txBody>
      </p:sp>
      <p:sp>
        <p:nvSpPr>
          <p:cNvPr id="18" name="kpi-card"/>
          <p:cNvSpPr/>
          <p:nvPr/>
        </p:nvSpPr>
        <p:spPr>
          <a:xfrm>
            <a:off x="9079992" y="2103120"/>
            <a:ext cx="2560320" cy="3566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54312" y="25146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4"/>
                </a:solidFill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  명</a:t>
            </a:r>
            <a:endParaRPr lang="en-US" sz="5600" dirty="0"/>
          </a:p>
        </p:txBody>
      </p:sp>
      <p:sp>
        <p:nvSpPr>
          <p:cNvPr id="20" name="Text 18"/>
          <p:cNvSpPr txBox="1"/>
          <p:nvPr/>
        </p:nvSpPr>
        <p:spPr>
          <a:xfrm>
            <a:off x="9354312" y="39319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셋업만 남은 팀원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354312" y="44348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각 30~45분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1 · 결과 보고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02  무엇이 달라졌나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전에는 이랬고, 지금은 이렇습니다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어려운 말 없이 — 팀원 입장에서 체감되는 변화 네 가지.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9476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전에는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452360" y="1874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지금은</a:t>
            </a:r>
            <a:endParaRPr lang="en-US" sz="1200" dirty="0"/>
          </a:p>
        </p:txBody>
      </p:sp>
      <p:sp>
        <p:nvSpPr>
          <p:cNvPr id="8" name="ba-row"/>
          <p:cNvSpPr/>
          <p:nvPr/>
        </p:nvSpPr>
        <p:spPr>
          <a:xfrm>
            <a:off x="548640" y="224028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9" name="ba-circle"/>
          <p:cNvSpPr/>
          <p:nvPr/>
        </p:nvSpPr>
        <p:spPr>
          <a:xfrm>
            <a:off x="731520" y="239572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ba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2537460"/>
            <a:ext cx="283464" cy="28346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2240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CdBd 기능을 물으면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40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옛 문서나 기억으로 답해서 틀릴 때가 있었다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2240280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52360" y="22402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실제 화면을 녹화해 확인한 「기능 사전」을 찾아보고 답한다</a:t>
            </a:r>
            <a:endParaRPr lang="en-US" sz="1250" dirty="0"/>
          </a:p>
        </p:txBody>
      </p:sp>
      <p:sp>
        <p:nvSpPr>
          <p:cNvPr id="15" name="ba-row"/>
          <p:cNvSpPr/>
          <p:nvPr/>
        </p:nvSpPr>
        <p:spPr>
          <a:xfrm>
            <a:off x="548640" y="3236976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6" name="ba-circle"/>
          <p:cNvSpPr/>
          <p:nvPr/>
        </p:nvSpPr>
        <p:spPr>
          <a:xfrm>
            <a:off x="731520" y="3392424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ba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3534156"/>
            <a:ext cx="283464" cy="28346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463040" y="3236976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애매한 부탁을 하면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3794760" y="323697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넘겨짚거나, 뻔한 질문에도 되물었다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236976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7452360" y="323697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헷갈릴 때만 한 번 묻고, 분명하면 바로 답한다 — 잘못 알고 있으면 첫 문장에서 바로잡아 준다</a:t>
            </a:r>
            <a:endParaRPr lang="en-US" sz="1250" dirty="0"/>
          </a:p>
        </p:txBody>
      </p:sp>
      <p:sp>
        <p:nvSpPr>
          <p:cNvPr id="22" name="ba-row"/>
          <p:cNvSpPr/>
          <p:nvPr/>
        </p:nvSpPr>
        <p:spPr>
          <a:xfrm>
            <a:off x="548640" y="4233672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3" name="ba-circle"/>
          <p:cNvSpPr/>
          <p:nvPr/>
        </p:nvSpPr>
        <p:spPr>
          <a:xfrm>
            <a:off x="731520" y="43891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ba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4530852"/>
            <a:ext cx="283464" cy="28346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463040" y="423367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에디터 작업은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3794760" y="4233672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사람이 하나하나 손으로 했다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086600" y="4233672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Text 23"/>
          <p:cNvSpPr txBox="1"/>
          <p:nvPr/>
        </p:nvSpPr>
        <p:spPr>
          <a:xfrm>
            <a:off x="7452360" y="423367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Claude가 에디터를 직접 조작한다 (카드 추가 · 순서 · 고정 · 이미지 …) — 테스트 페이지에서 확인 완료</a:t>
            </a:r>
            <a:endParaRPr lang="en-US" sz="1250" dirty="0"/>
          </a:p>
        </p:txBody>
      </p:sp>
      <p:sp>
        <p:nvSpPr>
          <p:cNvPr id="29" name="ba-row"/>
          <p:cNvSpPr/>
          <p:nvPr/>
        </p:nvSpPr>
        <p:spPr>
          <a:xfrm>
            <a:off x="548640" y="5230368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30" name="ba-circle"/>
          <p:cNvSpPr/>
          <p:nvPr/>
        </p:nvSpPr>
        <p:spPr>
          <a:xfrm>
            <a:off x="731520" y="5385816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ba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5527548"/>
            <a:ext cx="283464" cy="283464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463040" y="523036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맥을 세팅할 때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3794760" y="523036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무엇을 깔고 연결해야 하는지 기억에 의존했다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7086600" y="5230368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→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7452360" y="523036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스크립트 한 번 + 점검표 한 번이면 끝 — 오늘 2부 내용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1 · 결과 보고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03  어디까지 · 아직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남은 건 리허설과 팀원 셋업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세부 할 일 28개 중 21개 완료 · 1개 보류 · 6개 남음.</a:t>
            </a:r>
            <a:endParaRPr lang="en-US" sz="1400" dirty="0"/>
          </a:p>
        </p:txBody>
      </p:sp>
      <p:sp>
        <p:nvSpPr>
          <p:cNvPr id="6" name="remain-card"/>
          <p:cNvSpPr/>
          <p:nvPr/>
        </p:nvSpPr>
        <p:spPr>
          <a:xfrm>
            <a:off x="548640" y="1874520"/>
            <a:ext cx="5413248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남은 순서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51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606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기기 리허설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90088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오늘 2부 안내를 새 맥처럼 처음부터 따라 해 보고 막히는 곳을 고친다</a:t>
            </a:r>
            <a:endParaRPr lang="en-US" sz="1200" dirty="0"/>
          </a:p>
        </p:txBody>
      </p:sp>
      <p:sp>
        <p:nvSpPr>
          <p:cNvPr id="12" name="num"/>
          <p:cNvSpPr/>
          <p:nvPr/>
        </p:nvSpPr>
        <p:spPr>
          <a:xfrm>
            <a:off x="822960" y="3767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7216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팀원 일정 · 전용 테스트 페이지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10565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공용 계정이라 사람마다 연습용 페이지가 하나씩 필요</a:t>
            </a:r>
            <a:endParaRPr lang="en-US" sz="1200" dirty="0"/>
          </a:p>
        </p:txBody>
      </p:sp>
      <p:sp>
        <p:nvSpPr>
          <p:cNvPr id="16" name="num"/>
          <p:cNvSpPr/>
          <p:nvPr/>
        </p:nvSpPr>
        <p:spPr>
          <a:xfrm>
            <a:off x="822960" y="48828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882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371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팀원 2명 셋업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522122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셋업 → 점검표 → 확인 질문 통과 = 🎯 목표 도달</a:t>
            </a:r>
            <a:endParaRPr lang="en-US" sz="1200" dirty="0"/>
          </a:p>
        </p:txBody>
      </p:sp>
      <p:sp>
        <p:nvSpPr>
          <p:cNvPr id="20" name="bar-card"/>
          <p:cNvSpPr/>
          <p:nvPr/>
        </p:nvSpPr>
        <p:spPr>
          <a:xfrm>
            <a:off x="6227064" y="1874520"/>
            <a:ext cx="541324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1384" y="198424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21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/ 28 완료</a:t>
            </a:r>
            <a:endParaRPr lang="en-US" sz="3000" dirty="0"/>
          </a:p>
        </p:txBody>
      </p:sp>
      <p:sp>
        <p:nvSpPr>
          <p:cNvPr id="22" name="bar-bg"/>
          <p:cNvSpPr/>
          <p:nvPr/>
        </p:nvSpPr>
        <p:spPr>
          <a:xfrm>
            <a:off x="6501384" y="2651760"/>
            <a:ext cx="4864608" cy="1828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23" name="bar-hold"/>
          <p:cNvSpPr/>
          <p:nvPr/>
        </p:nvSpPr>
        <p:spPr>
          <a:xfrm>
            <a:off x="6501384" y="2651760"/>
            <a:ext cx="3822192" cy="182880"/>
          </a:xfrm>
          <a:prstGeom prst="roundRect">
            <a:avLst>
              <a:gd name="adj" fmla="val 50000"/>
            </a:avLst>
          </a:prstGeom>
          <a:solidFill>
            <a:schemeClr val="tx2">
              <a:alpha val="40000"/>
            </a:schemeClr>
          </a:solidFill>
          <a:ln/>
        </p:spPr>
      </p:sp>
      <p:sp>
        <p:nvSpPr>
          <p:cNvPr id="24" name="bar-done"/>
          <p:cNvSpPr/>
          <p:nvPr/>
        </p:nvSpPr>
        <p:spPr>
          <a:xfrm>
            <a:off x="6501384" y="2651760"/>
            <a:ext cx="3648456" cy="18288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1384" y="2907792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■ 완료 21   ■ 보류 1 (제품팀 결함 전달문)   ■ 남음 6</a:t>
            </a:r>
            <a:endParaRPr lang="en-US" sz="1000" dirty="0"/>
          </a:p>
        </p:txBody>
      </p:sp>
      <p:sp>
        <p:nvSpPr>
          <p:cNvPr id="26" name="notyet-card"/>
          <p:cNvSpPr/>
          <p:nvPr/>
        </p:nvSpPr>
        <p:spPr>
          <a:xfrm>
            <a:off x="6227064" y="3474720"/>
            <a:ext cx="5413248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27" name="pill-bg"/>
          <p:cNvSpPr/>
          <p:nvPr/>
        </p:nvSpPr>
        <p:spPr>
          <a:xfrm>
            <a:off x="6501384" y="3685032"/>
            <a:ext cx="731520" cy="256032"/>
          </a:xfrm>
          <a:prstGeom prst="roundRect">
            <a:avLst>
              <a:gd name="adj" fmla="val 50000"/>
            </a:avLst>
          </a:prstGeom>
          <a:solidFill>
            <a:schemeClr val="accent4">
              <a:alpha val="14000"/>
            </a:schemeClr>
          </a:solidFill>
          <a:ln/>
        </p:spPr>
      </p:sp>
      <p:sp>
        <p:nvSpPr>
          <p:cNvPr id="28" name="pill"/>
          <p:cNvSpPr txBox="1"/>
          <p:nvPr/>
        </p:nvSpPr>
        <p:spPr>
          <a:xfrm>
            <a:off x="6501384" y="36850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알아 둘 점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501384" y="4069080"/>
            <a:ext cx="48646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볼트끼리는 Obsidian 링크가 아니라, Claude가 파일을 찾아 읽는 방식으로 이어진다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Claude는 기능을 외우는 게 아니라 사전을 찾아본다 — 사전에 「미확인」인 것은 모른다고 답한다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맥에서 처음부터 따라 해 보는 리허설과 팀원 기기 확인은 이제부터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가이드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04  시작 전에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준비물 4가지, 그리고 터미널 쓰는 법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20~30분. 명령어는 이해할 필요 없이 「복사 → 붙여넣기 → Enter」만 하면 됩니다.</a:t>
            </a:r>
            <a:endParaRPr lang="en-US" sz="1400" dirty="0"/>
          </a:p>
        </p:txBody>
      </p:sp>
      <p:sp>
        <p:nvSpPr>
          <p:cNvPr id="6" name="prep-card"/>
          <p:cNvSpPr/>
          <p:nvPr/>
        </p:nvSpPr>
        <p:spPr>
          <a:xfrm>
            <a:off x="548640" y="1874520"/>
            <a:ext cx="5413248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담당자에게 미리 받을 것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151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603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GitHub CdBd-in 계정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85292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저장소를 받기 위한 팀 공용 계정</a:t>
            </a:r>
            <a:endParaRPr lang="en-US" sz="1100" dirty="0"/>
          </a:p>
        </p:txBody>
      </p:sp>
      <p:sp>
        <p:nvSpPr>
          <p:cNvPr id="12" name="num"/>
          <p:cNvSpPr/>
          <p:nvPr/>
        </p:nvSpPr>
        <p:spPr>
          <a:xfrm>
            <a:off x="822960" y="33009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2461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CdBd 공용 계정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53872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이메일 · 비밀번호 (1Password 등 안전한 방법으로)</a:t>
            </a:r>
            <a:endParaRPr lang="en-US" sz="1100" dirty="0"/>
          </a:p>
        </p:txBody>
      </p:sp>
      <p:sp>
        <p:nvSpPr>
          <p:cNvPr id="16" name="num"/>
          <p:cNvSpPr/>
          <p:nvPr/>
        </p:nvSpPr>
        <p:spPr>
          <a:xfrm>
            <a:off x="822960" y="3986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9319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내 전용 테스트 페이지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22452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cdbd.in/editor/숫자 — 연습은 여기서만</a:t>
            </a:r>
            <a:endParaRPr lang="en-US" sz="1100" dirty="0"/>
          </a:p>
        </p:txBody>
      </p:sp>
      <p:sp>
        <p:nvSpPr>
          <p:cNvPr id="20" name="num"/>
          <p:cNvSpPr/>
          <p:nvPr/>
        </p:nvSpPr>
        <p:spPr>
          <a:xfrm>
            <a:off x="822960" y="4672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6177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cdbd.env의 Supabase 2줄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91032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다른 팀원 파일에서 그대로 옮겨도 됨</a:t>
            </a:r>
            <a:endParaRPr lang="en-US" sz="1100" dirty="0"/>
          </a:p>
        </p:txBody>
      </p:sp>
      <p:sp>
        <p:nvSpPr>
          <p:cNvPr id="24" name="box-red"/>
          <p:cNvSpPr/>
          <p:nvPr/>
        </p:nvSpPr>
        <p:spPr>
          <a:xfrm>
            <a:off x="777240" y="5349240"/>
            <a:ext cx="4956048" cy="594360"/>
          </a:xfrm>
          <a:prstGeom prst="roundRect">
            <a:avLst>
              <a:gd name="adj" fmla="val 15385"/>
            </a:avLst>
          </a:prstGeom>
          <a:solidFill>
            <a:schemeClr val="accent5">
              <a:alpha val="10000"/>
            </a:schemeClr>
          </a:solidFill>
          <a:ln/>
        </p:spPr>
      </p:sp>
      <p:sp>
        <p:nvSpPr>
          <p:cNvPr id="25" name="box-text"/>
          <p:cNvSpPr txBox="1"/>
          <p:nvPr/>
        </p:nvSpPr>
        <p:spPr>
          <a:xfrm>
            <a:off x="978408" y="5477256"/>
            <a:ext cx="4553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5"/>
                </a:solidFill>
              </a:rPr>
              <a:t>🔴 다른 사람의 credentials.json은 받지 마세요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term-card"/>
          <p:cNvSpPr/>
          <p:nvPr/>
        </p:nvSpPr>
        <p:spPr>
          <a:xfrm>
            <a:off x="6227064" y="1874520"/>
            <a:ext cx="5413248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20848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터미널 쓰는 법 (이것만 알면 됩니다)</a:t>
            </a:r>
            <a:endParaRPr lang="en-US" sz="1500" dirty="0"/>
          </a:p>
        </p:txBody>
      </p:sp>
      <p:sp>
        <p:nvSpPr>
          <p:cNvPr id="28" name="num"/>
          <p:cNvSpPr/>
          <p:nvPr/>
        </p:nvSpPr>
        <p:spPr>
          <a:xfrm>
            <a:off x="6492240" y="2606040"/>
            <a:ext cx="384048" cy="38404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2560320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⌘ + Space → 「터미널」 입력 → Enter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2889504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검은(또는 흰) 창이 열리면 준비 끝</a:t>
            </a:r>
            <a:endParaRPr lang="en-US" sz="1100" dirty="0"/>
          </a:p>
        </p:txBody>
      </p:sp>
      <p:sp>
        <p:nvSpPr>
          <p:cNvPr id="32" name="num"/>
          <p:cNvSpPr/>
          <p:nvPr/>
        </p:nvSpPr>
        <p:spPr>
          <a:xfrm>
            <a:off x="6492240" y="3456432"/>
            <a:ext cx="384048" cy="38404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9224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040880" y="3410712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 자료의 명령을 통째로 복사 (⌘C)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040880" y="373989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여러 줄이어도 한 번에 복사해도 됩니다</a:t>
            </a:r>
            <a:endParaRPr lang="en-US" sz="1100" dirty="0"/>
          </a:p>
        </p:txBody>
      </p:sp>
      <p:sp>
        <p:nvSpPr>
          <p:cNvPr id="36" name="num"/>
          <p:cNvSpPr/>
          <p:nvPr/>
        </p:nvSpPr>
        <p:spPr>
          <a:xfrm>
            <a:off x="6492240" y="4306824"/>
            <a:ext cx="384048" cy="38404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92240" y="4306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040880" y="4261104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터미널에 붙여넣기 (⌘V) → Enter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590288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끝나면 다시 맨 아래에 입력 줄(%)이 나옵니다</a:t>
            </a:r>
            <a:endParaRPr lang="en-US" sz="1100" dirty="0"/>
          </a:p>
        </p:txBody>
      </p:sp>
      <p:sp>
        <p:nvSpPr>
          <p:cNvPr id="40" name="num"/>
          <p:cNvSpPr/>
          <p:nvPr/>
        </p:nvSpPr>
        <p:spPr>
          <a:xfrm>
            <a:off x="6492240" y="5157216"/>
            <a:ext cx="384048" cy="38404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9224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040880" y="511149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비밀번호를 물으면 맥 로그인 비밀번호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040880" y="5440680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입력해도 화면에 안 보이는 게 정상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가이드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04  전체 지도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9단계 = 설치 3 · 연결 2 · 확인 4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처음 저장소를 받는 팀원은 이 전에 ONBOARDING §3(SSH 키 · 저장소 받기 · 옵시디언 열기)을 먼저 — 이미 볼트를 쓰는 팀원은 바로 STEP 1부터.</a:t>
            </a:r>
            <a:endParaRPr lang="en-US" sz="1400" dirty="0"/>
          </a:p>
        </p:txBody>
      </p:sp>
      <p:sp>
        <p:nvSpPr>
          <p:cNvPr id="6" name="group-card"/>
          <p:cNvSpPr/>
          <p:nvPr/>
        </p:nvSpPr>
        <p:spPr>
          <a:xfrm>
            <a:off x="548640" y="1965960"/>
            <a:ext cx="3291840" cy="41148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설치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194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약 10분</a:t>
            </a:r>
            <a:endParaRPr lang="en-US" sz="1100" dirty="0"/>
          </a:p>
        </p:txBody>
      </p:sp>
      <p:sp>
        <p:nvSpPr>
          <p:cNvPr id="9" name="map-item"/>
          <p:cNvSpPr/>
          <p:nvPr/>
        </p:nvSpPr>
        <p:spPr>
          <a:xfrm>
            <a:off x="731520" y="2697480"/>
            <a:ext cx="292608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</p:spPr>
      </p:sp>
      <p:sp>
        <p:nvSpPr>
          <p:cNvPr id="10" name="num"/>
          <p:cNvSpPr/>
          <p:nvPr/>
        </p:nvSpPr>
        <p:spPr>
          <a:xfrm>
            <a:off x="868680" y="28346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7523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Claude Code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0632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Claude 프로그램 설치 · 로그인</a:t>
            </a:r>
            <a:endParaRPr lang="en-US" sz="1100" dirty="0"/>
          </a:p>
        </p:txBody>
      </p:sp>
      <p:sp>
        <p:nvSpPr>
          <p:cNvPr id="14" name="map-item"/>
          <p:cNvSpPr/>
          <p:nvPr/>
        </p:nvSpPr>
        <p:spPr>
          <a:xfrm>
            <a:off x="731520" y="3520440"/>
            <a:ext cx="292608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</p:spPr>
      </p:sp>
      <p:sp>
        <p:nvSpPr>
          <p:cNvPr id="15" name="num"/>
          <p:cNvSpPr/>
          <p:nvPr/>
        </p:nvSpPr>
        <p:spPr>
          <a:xfrm>
            <a:off x="868680" y="36576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5753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Claudian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886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옵시디언 안의 Claude 창</a:t>
            </a:r>
            <a:endParaRPr lang="en-US" sz="1100" dirty="0"/>
          </a:p>
        </p:txBody>
      </p:sp>
      <p:sp>
        <p:nvSpPr>
          <p:cNvPr id="19" name="map-item"/>
          <p:cNvSpPr/>
          <p:nvPr/>
        </p:nvSpPr>
        <p:spPr>
          <a:xfrm>
            <a:off x="731520" y="4343400"/>
            <a:ext cx="292608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</p:spPr>
      </p:sp>
      <p:sp>
        <p:nvSpPr>
          <p:cNvPr id="20" name="num"/>
          <p:cNvSpPr/>
          <p:nvPr/>
        </p:nvSpPr>
        <p:spPr>
          <a:xfrm>
            <a:off x="868680" y="44805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4480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39826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gstack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709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Claude가 쓰는 브라우저</a:t>
            </a:r>
            <a:endParaRPr lang="en-US" sz="1100" dirty="0"/>
          </a:p>
        </p:txBody>
      </p:sp>
      <p:sp>
        <p:nvSpPr>
          <p:cNvPr id="24" name="group-card"/>
          <p:cNvSpPr/>
          <p:nvPr/>
        </p:nvSpPr>
        <p:spPr>
          <a:xfrm>
            <a:off x="4114800" y="1965960"/>
            <a:ext cx="3291840" cy="41148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8912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연결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2194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약 5분</a:t>
            </a:r>
            <a:endParaRPr lang="en-US" sz="1100" dirty="0"/>
          </a:p>
        </p:txBody>
      </p:sp>
      <p:sp>
        <p:nvSpPr>
          <p:cNvPr id="27" name="map-item"/>
          <p:cNvSpPr/>
          <p:nvPr/>
        </p:nvSpPr>
        <p:spPr>
          <a:xfrm>
            <a:off x="4297680" y="2697480"/>
            <a:ext cx="292608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</p:spPr>
      </p:sp>
      <p:sp>
        <p:nvSpPr>
          <p:cNvPr id="28" name="num"/>
          <p:cNvSpPr/>
          <p:nvPr/>
        </p:nvSpPr>
        <p:spPr>
          <a:xfrm>
            <a:off x="4434840" y="28346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34840" y="2834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0" y="27523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셋업 스크립트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30632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필요한 연결을 한 번에</a:t>
            </a:r>
            <a:endParaRPr lang="en-US" sz="1100" dirty="0"/>
          </a:p>
        </p:txBody>
      </p:sp>
      <p:sp>
        <p:nvSpPr>
          <p:cNvPr id="32" name="map-item"/>
          <p:cNvSpPr/>
          <p:nvPr/>
        </p:nvSpPr>
        <p:spPr>
          <a:xfrm>
            <a:off x="4297680" y="3520440"/>
            <a:ext cx="292608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</p:spPr>
      </p:sp>
      <p:sp>
        <p:nvSpPr>
          <p:cNvPr id="33" name="num"/>
          <p:cNvSpPr/>
          <p:nvPr/>
        </p:nvSpPr>
        <p:spPr>
          <a:xfrm>
            <a:off x="4434840" y="36576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43484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35753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cdbd.env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3886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CdBd 공용 계정 넣기</a:t>
            </a:r>
            <a:endParaRPr lang="en-US" sz="1100" dirty="0"/>
          </a:p>
        </p:txBody>
      </p:sp>
      <p:sp>
        <p:nvSpPr>
          <p:cNvPr id="37" name="group-card"/>
          <p:cNvSpPr/>
          <p:nvPr/>
        </p:nvSpPr>
        <p:spPr>
          <a:xfrm>
            <a:off x="7680960" y="1965960"/>
            <a:ext cx="3959352" cy="4114800"/>
          </a:xfrm>
          <a:prstGeom prst="roundRect">
            <a:avLst>
              <a:gd name="adj" fmla="val 2771"/>
            </a:avLst>
          </a:prstGeom>
          <a:solidFill>
            <a:schemeClr val="bg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95528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확인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0177272" y="2194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약 10분</a:t>
            </a:r>
            <a:endParaRPr lang="en-US" sz="1100" dirty="0"/>
          </a:p>
        </p:txBody>
      </p:sp>
      <p:sp>
        <p:nvSpPr>
          <p:cNvPr id="40" name="map-item"/>
          <p:cNvSpPr/>
          <p:nvPr/>
        </p:nvSpPr>
        <p:spPr>
          <a:xfrm>
            <a:off x="7863840" y="2697480"/>
            <a:ext cx="3593592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</p:spPr>
      </p:sp>
      <p:sp>
        <p:nvSpPr>
          <p:cNvPr id="41" name="num"/>
          <p:cNvSpPr/>
          <p:nvPr/>
        </p:nvSpPr>
        <p:spPr>
          <a:xfrm>
            <a:off x="8001000" y="28346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001000" y="2834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8595360" y="2752344"/>
            <a:ext cx="2770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폴더 신뢰 승인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8595360" y="306324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볼트 6곳 한 번씩</a:t>
            </a:r>
            <a:endParaRPr lang="en-US" sz="1100" dirty="0"/>
          </a:p>
        </p:txBody>
      </p:sp>
      <p:sp>
        <p:nvSpPr>
          <p:cNvPr id="45" name="map-item"/>
          <p:cNvSpPr/>
          <p:nvPr/>
        </p:nvSpPr>
        <p:spPr>
          <a:xfrm>
            <a:off x="7863840" y="3520440"/>
            <a:ext cx="3593592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</p:spPr>
      </p:sp>
      <p:sp>
        <p:nvSpPr>
          <p:cNvPr id="46" name="num"/>
          <p:cNvSpPr/>
          <p:nvPr/>
        </p:nvSpPr>
        <p:spPr>
          <a:xfrm>
            <a:off x="8001000" y="36576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00100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595360" y="3575304"/>
            <a:ext cx="2770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Figma 연결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8595360" y="388620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계정에 한 번만</a:t>
            </a:r>
            <a:endParaRPr lang="en-US" sz="1100" dirty="0"/>
          </a:p>
        </p:txBody>
      </p:sp>
      <p:sp>
        <p:nvSpPr>
          <p:cNvPr id="50" name="map-item"/>
          <p:cNvSpPr/>
          <p:nvPr/>
        </p:nvSpPr>
        <p:spPr>
          <a:xfrm>
            <a:off x="7863840" y="4343400"/>
            <a:ext cx="3593592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</p:spPr>
      </p:sp>
      <p:sp>
        <p:nvSpPr>
          <p:cNvPr id="51" name="num"/>
          <p:cNvSpPr/>
          <p:nvPr/>
        </p:nvSpPr>
        <p:spPr>
          <a:xfrm>
            <a:off x="8001000" y="44805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01000" y="4480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8595360" y="4398264"/>
            <a:ext cx="2770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점검표</a:t>
            </a:r>
            <a:endParaRPr lang="en-US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8595360" y="470916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전부 ✅인지</a:t>
            </a:r>
            <a:endParaRPr lang="en-US" sz="1100" dirty="0"/>
          </a:p>
        </p:txBody>
      </p:sp>
      <p:sp>
        <p:nvSpPr>
          <p:cNvPr id="55" name="map-item"/>
          <p:cNvSpPr/>
          <p:nvPr/>
        </p:nvSpPr>
        <p:spPr>
          <a:xfrm>
            <a:off x="7863840" y="5166360"/>
            <a:ext cx="3593592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</p:spPr>
      </p:sp>
      <p:sp>
        <p:nvSpPr>
          <p:cNvPr id="56" name="num"/>
          <p:cNvSpPr/>
          <p:nvPr/>
        </p:nvSpPr>
        <p:spPr>
          <a:xfrm>
            <a:off x="8001000" y="5303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001000" y="53035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8595360" y="5221224"/>
            <a:ext cx="2770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확인 질문</a:t>
            </a:r>
            <a:endParaRPr lang="en-US" sz="1350" dirty="0"/>
          </a:p>
        </p:txBody>
      </p:sp>
      <p:sp>
        <p:nvSpPr>
          <p:cNvPr id="59" name="Text 57"/>
          <p:cNvSpPr txBox="1"/>
          <p:nvPr/>
        </p:nvSpPr>
        <p:spPr>
          <a:xfrm>
            <a:off x="8595360" y="553212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Claude에게 물어보기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· 설치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 1 / 9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1.  Claude Code 설치 · 로그인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왜 하나요 — 옵시디언 안의 Claude(Claudian)가 내부에서 이 프로그램을 씁니다.</a:t>
            </a:r>
            <a:endParaRPr lang="en-US" sz="1400" dirty="0"/>
          </a:p>
        </p:txBody>
      </p:sp>
      <p:sp>
        <p:nvSpPr>
          <p:cNvPr id="6" name="todo-card"/>
          <p:cNvSpPr/>
          <p:nvPr/>
        </p:nvSpPr>
        <p:spPr>
          <a:xfrm>
            <a:off x="548640" y="1920240"/>
            <a:ext cx="5212080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이렇게 하세요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6946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터미널을 연다 (⌘ + Space → 터미널)</a:t>
            </a:r>
            <a:endParaRPr lang="en-US" sz="1300" dirty="0"/>
          </a:p>
        </p:txBody>
      </p:sp>
      <p:sp>
        <p:nvSpPr>
          <p:cNvPr id="11" name="num"/>
          <p:cNvSpPr/>
          <p:nvPr/>
        </p:nvSpPr>
        <p:spPr>
          <a:xfrm>
            <a:off x="822960" y="3319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24612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오른쪽 첫 줄을 붙여넣고 Enter — 설치가 끝날 때까지 기다린다</a:t>
            </a:r>
            <a:endParaRPr lang="en-US" sz="1300" dirty="0"/>
          </a:p>
        </p:txBody>
      </p:sp>
      <p:sp>
        <p:nvSpPr>
          <p:cNvPr id="14" name="num"/>
          <p:cNvSpPr/>
          <p:nvPr/>
        </p:nvSpPr>
        <p:spPr>
          <a:xfrm>
            <a:off x="822960" y="39959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92277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claude 를 입력하고 Enter</a:t>
            </a:r>
            <a:endParaRPr lang="en-US" sz="1300" dirty="0"/>
          </a:p>
        </p:txBody>
      </p:sp>
      <p:sp>
        <p:nvSpPr>
          <p:cNvPr id="17" name="num"/>
          <p:cNvSpPr/>
          <p:nvPr/>
        </p:nvSpPr>
        <p:spPr>
          <a:xfrm>
            <a:off x="822960" y="4672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599432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브라우저가 열리면 Claude 계정으로 로그인</a:t>
            </a:r>
            <a:endParaRPr lang="en-US" sz="1300" dirty="0"/>
          </a:p>
        </p:txBody>
      </p:sp>
      <p:sp>
        <p:nvSpPr>
          <p:cNvPr id="20" name="num"/>
          <p:cNvSpPr/>
          <p:nvPr/>
        </p:nvSpPr>
        <p:spPr>
          <a:xfrm>
            <a:off x="822960" y="5349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7608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터미널에 입력창이 나오면 /exit 입력 → Enter</a:t>
            </a:r>
            <a:endParaRPr lang="en-US" sz="1300" dirty="0"/>
          </a:p>
        </p:txBody>
      </p:sp>
      <p:sp>
        <p:nvSpPr>
          <p:cNvPr id="23" name="terminal"/>
          <p:cNvSpPr/>
          <p:nvPr/>
        </p:nvSpPr>
        <p:spPr>
          <a:xfrm>
            <a:off x="6035040" y="1920240"/>
            <a:ext cx="5605272" cy="1100328"/>
          </a:xfrm>
          <a:prstGeom prst="roundRect">
            <a:avLst>
              <a:gd name="adj" fmla="val 6648"/>
            </a:avLst>
          </a:prstGeom>
          <a:solidFill>
            <a:schemeClr val="tx1"/>
          </a:solidFill>
          <a:ln/>
        </p:spPr>
      </p:sp>
      <p:sp>
        <p:nvSpPr>
          <p:cNvPr id="24" name="terminal-text"/>
          <p:cNvSpPr txBox="1"/>
          <p:nvPr/>
        </p:nvSpPr>
        <p:spPr>
          <a:xfrm>
            <a:off x="6217920" y="2066544"/>
            <a:ext cx="523951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curl -fsSL https://claude.ai/install.sh | bash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로그인 후 → /exit</a:t>
            </a:r>
            <a:endParaRPr lang="en-US" sz="1150" dirty="0"/>
          </a:p>
        </p:txBody>
      </p:sp>
      <p:sp>
        <p:nvSpPr>
          <p:cNvPr id="25" name="box-ok"/>
          <p:cNvSpPr/>
          <p:nvPr/>
        </p:nvSpPr>
        <p:spPr>
          <a:xfrm>
            <a:off x="6035040" y="3249168"/>
            <a:ext cx="5605272" cy="1143000"/>
          </a:xfrm>
          <a:prstGeom prst="roundRect">
            <a:avLst>
              <a:gd name="adj" fmla="val 8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6" name="box-text"/>
          <p:cNvSpPr txBox="1"/>
          <p:nvPr/>
        </p:nvSpPr>
        <p:spPr>
          <a:xfrm>
            <a:off x="6236208" y="3377184"/>
            <a:ext cx="52029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accent3"/>
                </a:solidFill>
              </a:rPr>
              <a:t>✅ 이렇게 보이면 성공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claude --version 을 입력하면 버전 번호(예: 2.1.x)가 나온다</a:t>
            </a:r>
            <a:endParaRPr lang="en-US" sz="1200" dirty="0"/>
          </a:p>
        </p:txBody>
      </p:sp>
      <p:sp>
        <p:nvSpPr>
          <p:cNvPr id="27" name="box-no"/>
          <p:cNvSpPr/>
          <p:nvPr/>
        </p:nvSpPr>
        <p:spPr>
          <a:xfrm>
            <a:off x="6035040" y="4575048"/>
            <a:ext cx="5605272" cy="1505712"/>
          </a:xfrm>
          <a:prstGeom prst="roundRect">
            <a:avLst>
              <a:gd name="adj" fmla="val 6073"/>
            </a:avLst>
          </a:prstGeom>
          <a:solidFill>
            <a:schemeClr val="bg2"/>
          </a:solidFill>
          <a:ln/>
        </p:spPr>
      </p:sp>
      <p:sp>
        <p:nvSpPr>
          <p:cNvPr id="28" name="box-text"/>
          <p:cNvSpPr txBox="1"/>
          <p:nvPr/>
        </p:nvSpPr>
        <p:spPr>
          <a:xfrm>
            <a:off x="6236208" y="4703064"/>
            <a:ext cx="5202936" cy="1267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막히면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「command not found: claude」 → 터미널을 닫고 새로 연 뒤 다시 claude</a:t>
            </a:r>
            <a:endParaRPr lang="en-US" sz="1200" dirty="0"/>
          </a:p>
        </p:txBody>
      </p:sp>
      <p:sp>
        <p:nvSpPr>
          <p:cNvPr id="29" name="tracker"/>
          <p:cNvSpPr/>
          <p:nvPr/>
        </p:nvSpPr>
        <p:spPr>
          <a:xfrm>
            <a:off x="49377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racker"/>
          <p:cNvSpPr/>
          <p:nvPr/>
        </p:nvSpPr>
        <p:spPr>
          <a:xfrm>
            <a:off x="521208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1" name="tracker"/>
          <p:cNvSpPr/>
          <p:nvPr/>
        </p:nvSpPr>
        <p:spPr>
          <a:xfrm>
            <a:off x="548640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2" name="tracker"/>
          <p:cNvSpPr/>
          <p:nvPr/>
        </p:nvSpPr>
        <p:spPr>
          <a:xfrm>
            <a:off x="57607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3" name="tracker"/>
          <p:cNvSpPr/>
          <p:nvPr/>
        </p:nvSpPr>
        <p:spPr>
          <a:xfrm>
            <a:off x="603504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4" name="tracker"/>
          <p:cNvSpPr/>
          <p:nvPr/>
        </p:nvSpPr>
        <p:spPr>
          <a:xfrm>
            <a:off x="630936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5" name="tracker"/>
          <p:cNvSpPr/>
          <p:nvPr/>
        </p:nvSpPr>
        <p:spPr>
          <a:xfrm>
            <a:off x="658368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6" name="tracker"/>
          <p:cNvSpPr/>
          <p:nvPr/>
        </p:nvSpPr>
        <p:spPr>
          <a:xfrm>
            <a:off x="685800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7" name="tracker"/>
          <p:cNvSpPr/>
          <p:nvPr/>
        </p:nvSpPr>
        <p:spPr>
          <a:xfrm>
            <a:off x="71323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52360" y="63733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 / 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· 설치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 2 / 9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2.  Claudian 플러그인 넣기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왜 하나요 — 옵시디언 안에서 Claude와 대화하는 창입니다. 6개 볼트 모두에 있어야 합니다.</a:t>
            </a:r>
            <a:endParaRPr lang="en-US" sz="1400" dirty="0"/>
          </a:p>
        </p:txBody>
      </p:sp>
      <p:sp>
        <p:nvSpPr>
          <p:cNvPr id="6" name="todo-card"/>
          <p:cNvSpPr/>
          <p:nvPr/>
        </p:nvSpPr>
        <p:spPr>
          <a:xfrm>
            <a:off x="548640" y="1920240"/>
            <a:ext cx="5212080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이렇게 하세요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694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오른쪽 명령을 통째로 붙여넣고 Enter (허브에 있는 플러그인을 나머지 4개 볼트로 복사)</a:t>
            </a:r>
            <a:endParaRPr lang="en-US" sz="1300" dirty="0"/>
          </a:p>
        </p:txBody>
      </p:sp>
      <p:sp>
        <p:nvSpPr>
          <p:cNvPr id="11" name="num"/>
          <p:cNvSpPr/>
          <p:nvPr/>
        </p:nvSpPr>
        <p:spPr>
          <a:xfrm>
            <a:off x="82296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558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옵시디언을 완전히 종료(⌘Q)했다가 다시 연다</a:t>
            </a:r>
            <a:endParaRPr lang="en-US" sz="1300" dirty="0"/>
          </a:p>
        </p:txBody>
      </p:sp>
      <p:sp>
        <p:nvSpPr>
          <p:cNvPr id="14" name="num"/>
          <p:cNvSpPr/>
          <p:nvPr/>
        </p:nvSpPr>
        <p:spPr>
          <a:xfrm>
            <a:off x="822960" y="42153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1422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볼트마다 설정(⌘,) → 커뮤니티 플러그인 → Claudian이 켜져 있는지 확인</a:t>
            </a:r>
            <a:endParaRPr lang="en-US" sz="1300" dirty="0"/>
          </a:p>
        </p:txBody>
      </p:sp>
      <p:sp>
        <p:nvSpPr>
          <p:cNvPr id="17" name="num"/>
          <p:cNvSpPr/>
          <p:nvPr/>
        </p:nvSpPr>
        <p:spPr>
          <a:xfrm>
            <a:off x="822960" y="50017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928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Claudian 설정의 「사용자 설정 불러오기」가 켜져 있는지 확인 (기본값 켜짐)</a:t>
            </a:r>
            <a:endParaRPr lang="en-US" sz="1300" dirty="0"/>
          </a:p>
        </p:txBody>
      </p:sp>
      <p:sp>
        <p:nvSpPr>
          <p:cNvPr id="20" name="terminal"/>
          <p:cNvSpPr/>
          <p:nvPr/>
        </p:nvSpPr>
        <p:spPr>
          <a:xfrm>
            <a:off x="6035040" y="1920240"/>
            <a:ext cx="5605272" cy="1678686"/>
          </a:xfrm>
          <a:prstGeom prst="roundRect">
            <a:avLst>
              <a:gd name="adj" fmla="val 4358"/>
            </a:avLst>
          </a:prstGeom>
          <a:solidFill>
            <a:schemeClr val="tx1"/>
          </a:solidFill>
          <a:ln/>
        </p:spPr>
      </p:sp>
      <p:sp>
        <p:nvSpPr>
          <p:cNvPr id="21" name="terminal-text"/>
          <p:cNvSpPr txBox="1"/>
          <p:nvPr/>
        </p:nvSpPr>
        <p:spPr>
          <a:xfrm>
            <a:off x="6217920" y="2066544"/>
            <a:ext cx="5239512" cy="1386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~/Documents/GitHub/design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v in cdbd-design-system cdbd-marketing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cdbd-templates makevu-qrstp; do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mkdir -p "$v/.obsidian/plugins"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cp -R .obsidian/plugins/realclaudian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"$v/.obsidian/plugins/"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done</a:t>
            </a:r>
            <a:endParaRPr lang="en-US" sz="1150" dirty="0"/>
          </a:p>
        </p:txBody>
      </p:sp>
      <p:sp>
        <p:nvSpPr>
          <p:cNvPr id="22" name="box-ok"/>
          <p:cNvSpPr/>
          <p:nvPr/>
        </p:nvSpPr>
        <p:spPr>
          <a:xfrm>
            <a:off x="6035040" y="3827526"/>
            <a:ext cx="5605272" cy="1126617"/>
          </a:xfrm>
          <a:prstGeom prst="roundRect">
            <a:avLst>
              <a:gd name="adj" fmla="val 8116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3" name="box-text"/>
          <p:cNvSpPr txBox="1"/>
          <p:nvPr/>
        </p:nvSpPr>
        <p:spPr>
          <a:xfrm>
            <a:off x="6236208" y="3955542"/>
            <a:ext cx="5202936" cy="8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accent3"/>
                </a:solidFill>
              </a:rPr>
              <a:t>✅ 이렇게 보이면 성공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6개 볼트 모두 커뮤니티 플러그인 목록에 Claudian이 켜져 있다</a:t>
            </a:r>
            <a:endParaRPr lang="en-US" sz="1200" dirty="0"/>
          </a:p>
        </p:txBody>
      </p:sp>
      <p:sp>
        <p:nvSpPr>
          <p:cNvPr id="24" name="box-no"/>
          <p:cNvSpPr/>
          <p:nvPr/>
        </p:nvSpPr>
        <p:spPr>
          <a:xfrm>
            <a:off x="6035040" y="5137023"/>
            <a:ext cx="5605272" cy="943737"/>
          </a:xfrm>
          <a:prstGeom prst="roundRect">
            <a:avLst>
              <a:gd name="adj" fmla="val 9689"/>
            </a:avLst>
          </a:prstGeom>
          <a:solidFill>
            <a:schemeClr val="bg2"/>
          </a:solidFill>
          <a:ln/>
        </p:spPr>
      </p:sp>
      <p:sp>
        <p:nvSpPr>
          <p:cNvPr id="25" name="box-text"/>
          <p:cNvSpPr txBox="1"/>
          <p:nvPr/>
        </p:nvSpPr>
        <p:spPr>
          <a:xfrm>
            <a:off x="6236208" y="5265039"/>
            <a:ext cx="5202936" cy="705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막히면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커뮤니티 플러그인이 꺼져 있으면 「커뮤니티 플러그인 켜기」를 먼저 (ONBOARDING §3-5)</a:t>
            </a:r>
            <a:endParaRPr lang="en-US" sz="1200" dirty="0"/>
          </a:p>
        </p:txBody>
      </p:sp>
      <p:sp>
        <p:nvSpPr>
          <p:cNvPr id="26" name="tracker"/>
          <p:cNvSpPr/>
          <p:nvPr/>
        </p:nvSpPr>
        <p:spPr>
          <a:xfrm>
            <a:off x="49377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racker"/>
          <p:cNvSpPr/>
          <p:nvPr/>
        </p:nvSpPr>
        <p:spPr>
          <a:xfrm>
            <a:off x="52120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racker"/>
          <p:cNvSpPr/>
          <p:nvPr/>
        </p:nvSpPr>
        <p:spPr>
          <a:xfrm>
            <a:off x="548640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29" name="tracker"/>
          <p:cNvSpPr/>
          <p:nvPr/>
        </p:nvSpPr>
        <p:spPr>
          <a:xfrm>
            <a:off x="57607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0" name="tracker"/>
          <p:cNvSpPr/>
          <p:nvPr/>
        </p:nvSpPr>
        <p:spPr>
          <a:xfrm>
            <a:off x="603504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1" name="tracker"/>
          <p:cNvSpPr/>
          <p:nvPr/>
        </p:nvSpPr>
        <p:spPr>
          <a:xfrm>
            <a:off x="630936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2" name="tracker"/>
          <p:cNvSpPr/>
          <p:nvPr/>
        </p:nvSpPr>
        <p:spPr>
          <a:xfrm>
            <a:off x="658368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3" name="tracker"/>
          <p:cNvSpPr/>
          <p:nvPr/>
        </p:nvSpPr>
        <p:spPr>
          <a:xfrm>
            <a:off x="685800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4" name="tracker"/>
          <p:cNvSpPr/>
          <p:nvPr/>
        </p:nvSpPr>
        <p:spPr>
          <a:xfrm>
            <a:off x="71323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360" y="63733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 / 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· 설치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 3 / 9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3.  gstack 설치 (Claude용 브라우저)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왜 하나요 — Claude가 CdBd 에디터를 화면 없이 직접 조작할 때 쓰는 브라우저입니다.</a:t>
            </a:r>
            <a:endParaRPr lang="en-US" sz="1400" dirty="0"/>
          </a:p>
        </p:txBody>
      </p:sp>
      <p:sp>
        <p:nvSpPr>
          <p:cNvPr id="6" name="todo-card"/>
          <p:cNvSpPr/>
          <p:nvPr/>
        </p:nvSpPr>
        <p:spPr>
          <a:xfrm>
            <a:off x="548640" y="1920240"/>
            <a:ext cx="5212080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이렇게 하세요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694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첫 줄 붙여넣기 — Bun(설치 도구)이 없으면 설치된다</a:t>
            </a:r>
            <a:endParaRPr lang="en-US" sz="1300" dirty="0"/>
          </a:p>
        </p:txBody>
      </p:sp>
      <p:sp>
        <p:nvSpPr>
          <p:cNvPr id="11" name="num"/>
          <p:cNvSpPr/>
          <p:nvPr/>
        </p:nvSpPr>
        <p:spPr>
          <a:xfrm>
            <a:off x="82296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558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Bun을 새로 설치했다면 터미널을 닫고 새로 연다</a:t>
            </a:r>
            <a:endParaRPr lang="en-US" sz="1300" dirty="0"/>
          </a:p>
        </p:txBody>
      </p:sp>
      <p:sp>
        <p:nvSpPr>
          <p:cNvPr id="14" name="num"/>
          <p:cNvSpPr/>
          <p:nvPr/>
        </p:nvSpPr>
        <p:spPr>
          <a:xfrm>
            <a:off x="822960" y="42153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1422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나머지 두 줄을 붙여넣고 Enter — 몇 분 걸릴 수 있다</a:t>
            </a:r>
            <a:endParaRPr lang="en-US" sz="1300" dirty="0"/>
          </a:p>
        </p:txBody>
      </p:sp>
      <p:sp>
        <p:nvSpPr>
          <p:cNvPr id="17" name="num"/>
          <p:cNvSpPr/>
          <p:nvPr/>
        </p:nvSpPr>
        <p:spPr>
          <a:xfrm>
            <a:off x="822960" y="50017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928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끝나면 마지막 줄로 설치를 확인한다</a:t>
            </a:r>
            <a:endParaRPr lang="en-US" sz="1300" dirty="0"/>
          </a:p>
        </p:txBody>
      </p:sp>
      <p:sp>
        <p:nvSpPr>
          <p:cNvPr id="20" name="terminal"/>
          <p:cNvSpPr/>
          <p:nvPr/>
        </p:nvSpPr>
        <p:spPr>
          <a:xfrm>
            <a:off x="6035040" y="1920240"/>
            <a:ext cx="5605272" cy="1385316"/>
          </a:xfrm>
          <a:prstGeom prst="roundRect">
            <a:avLst>
              <a:gd name="adj" fmla="val 5281"/>
            </a:avLst>
          </a:prstGeom>
          <a:solidFill>
            <a:schemeClr val="tx1"/>
          </a:solidFill>
          <a:ln/>
        </p:spPr>
      </p:sp>
      <p:sp>
        <p:nvSpPr>
          <p:cNvPr id="21" name="terminal-text"/>
          <p:cNvSpPr txBox="1"/>
          <p:nvPr/>
        </p:nvSpPr>
        <p:spPr>
          <a:xfrm>
            <a:off x="6217920" y="2066544"/>
            <a:ext cx="5239512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command -v bun || curl -fsSL https://bun.sh/install | bash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clone --depth 1 https://github.com/garrytan/gstack.git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~/.claude/skills/gstack &amp;&amp; cd ~/.claude/skills/gstack &amp;&amp; ./setup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ls ~/.claude/skills/gstack/browse/dist/browse   # 확인</a:t>
            </a:r>
            <a:endParaRPr lang="en-US" sz="1050" dirty="0"/>
          </a:p>
        </p:txBody>
      </p:sp>
      <p:sp>
        <p:nvSpPr>
          <p:cNvPr id="22" name="box-ok"/>
          <p:cNvSpPr/>
          <p:nvPr/>
        </p:nvSpPr>
        <p:spPr>
          <a:xfrm>
            <a:off x="6035040" y="3534156"/>
            <a:ext cx="5605272" cy="1143000"/>
          </a:xfrm>
          <a:prstGeom prst="roundRect">
            <a:avLst>
              <a:gd name="adj" fmla="val 8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3" name="box-text"/>
          <p:cNvSpPr txBox="1"/>
          <p:nvPr/>
        </p:nvSpPr>
        <p:spPr>
          <a:xfrm>
            <a:off x="6236208" y="3662172"/>
            <a:ext cx="52029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accent3"/>
                </a:solidFill>
              </a:rPr>
              <a:t>✅ 이렇게 보이면 성공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마지막 줄을 실행하면 「…/browse」 경로가 그대로 출력된다</a:t>
            </a:r>
            <a:endParaRPr lang="en-US" sz="1200" dirty="0"/>
          </a:p>
        </p:txBody>
      </p:sp>
      <p:sp>
        <p:nvSpPr>
          <p:cNvPr id="24" name="box-no"/>
          <p:cNvSpPr/>
          <p:nvPr/>
        </p:nvSpPr>
        <p:spPr>
          <a:xfrm>
            <a:off x="6035040" y="4860036"/>
            <a:ext cx="5605272" cy="1220724"/>
          </a:xfrm>
          <a:prstGeom prst="roundRect">
            <a:avLst>
              <a:gd name="adj" fmla="val 7491"/>
            </a:avLst>
          </a:prstGeom>
          <a:solidFill>
            <a:schemeClr val="bg2"/>
          </a:solidFill>
          <a:ln/>
        </p:spPr>
      </p:sp>
      <p:sp>
        <p:nvSpPr>
          <p:cNvPr id="25" name="box-text"/>
          <p:cNvSpPr txBox="1"/>
          <p:nvPr/>
        </p:nvSpPr>
        <p:spPr>
          <a:xfrm>
            <a:off x="6236208" y="4988052"/>
            <a:ext cx="520293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막히면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「No such file」 → cd ~/.claude/skills/gstack &amp;&amp; bun install &amp;&amp; bun run build</a:t>
            </a:r>
            <a:endParaRPr lang="en-US" sz="1200" dirty="0"/>
          </a:p>
        </p:txBody>
      </p:sp>
      <p:sp>
        <p:nvSpPr>
          <p:cNvPr id="26" name="tracker"/>
          <p:cNvSpPr/>
          <p:nvPr/>
        </p:nvSpPr>
        <p:spPr>
          <a:xfrm>
            <a:off x="49377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racker"/>
          <p:cNvSpPr/>
          <p:nvPr/>
        </p:nvSpPr>
        <p:spPr>
          <a:xfrm>
            <a:off x="52120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racker"/>
          <p:cNvSpPr/>
          <p:nvPr/>
        </p:nvSpPr>
        <p:spPr>
          <a:xfrm>
            <a:off x="548640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racker"/>
          <p:cNvSpPr/>
          <p:nvPr/>
        </p:nvSpPr>
        <p:spPr>
          <a:xfrm>
            <a:off x="57607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0" name="tracker"/>
          <p:cNvSpPr/>
          <p:nvPr/>
        </p:nvSpPr>
        <p:spPr>
          <a:xfrm>
            <a:off x="603504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1" name="tracker"/>
          <p:cNvSpPr/>
          <p:nvPr/>
        </p:nvSpPr>
        <p:spPr>
          <a:xfrm>
            <a:off x="630936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2" name="tracker"/>
          <p:cNvSpPr/>
          <p:nvPr/>
        </p:nvSpPr>
        <p:spPr>
          <a:xfrm>
            <a:off x="658368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3" name="tracker"/>
          <p:cNvSpPr/>
          <p:nvPr/>
        </p:nvSpPr>
        <p:spPr>
          <a:xfrm>
            <a:off x="685800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4" name="tracker"/>
          <p:cNvSpPr/>
          <p:nvPr/>
        </p:nvSpPr>
        <p:spPr>
          <a:xfrm>
            <a:off x="71323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360" y="63733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 / 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· 연결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 4 / 9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4.  셋업 스크립트 실행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왜 하나요 — 카드 자동화 · 로그인 도구 · 팀 안내 · 시작 점검을 한 번에 연결합니다. 몇 번 실행해도 안전합니다.</a:t>
            </a:r>
            <a:endParaRPr lang="en-US" sz="1400" dirty="0"/>
          </a:p>
        </p:txBody>
      </p:sp>
      <p:sp>
        <p:nvSpPr>
          <p:cNvPr id="6" name="todo-card"/>
          <p:cNvSpPr/>
          <p:nvPr/>
        </p:nvSpPr>
        <p:spPr>
          <a:xfrm>
            <a:off x="548640" y="1920240"/>
            <a:ext cx="5212080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이렇게 하세요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694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오른쪽 한 줄을 붙여넣고 Enter</a:t>
            </a:r>
            <a:endParaRPr lang="en-US" sz="1300" dirty="0"/>
          </a:p>
        </p:txBody>
      </p:sp>
      <p:sp>
        <p:nvSpPr>
          <p:cNvPr id="11" name="num"/>
          <p:cNvSpPr/>
          <p:nvPr/>
        </p:nvSpPr>
        <p:spPr>
          <a:xfrm>
            <a:off x="82296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558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1~8번 항목이 차례로 ✅ · 🔧 로 찍힌다</a:t>
            </a:r>
            <a:endParaRPr lang="en-US" sz="1300" dirty="0"/>
          </a:p>
        </p:txBody>
      </p:sp>
      <p:sp>
        <p:nvSpPr>
          <p:cNvPr id="14" name="num"/>
          <p:cNvSpPr/>
          <p:nvPr/>
        </p:nvSpPr>
        <p:spPr>
          <a:xfrm>
            <a:off x="822960" y="42153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1422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처음에는 「⚠️ cdbd.env 견본을 만들었습니다」가 나온다 — 정상</a:t>
            </a:r>
            <a:endParaRPr lang="en-US" sz="1300" dirty="0"/>
          </a:p>
        </p:txBody>
      </p:sp>
      <p:sp>
        <p:nvSpPr>
          <p:cNvPr id="17" name="num"/>
          <p:cNvSpPr/>
          <p:nvPr/>
        </p:nvSpPr>
        <p:spPr>
          <a:xfrm>
            <a:off x="822960" y="50017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928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그대로 STEP 5로 넘어간다</a:t>
            </a:r>
            <a:endParaRPr lang="en-US" sz="1300" dirty="0"/>
          </a:p>
        </p:txBody>
      </p:sp>
      <p:sp>
        <p:nvSpPr>
          <p:cNvPr id="20" name="terminal"/>
          <p:cNvSpPr/>
          <p:nvPr/>
        </p:nvSpPr>
        <p:spPr>
          <a:xfrm>
            <a:off x="6035040" y="1920240"/>
            <a:ext cx="5605272" cy="1485900"/>
          </a:xfrm>
          <a:prstGeom prst="roundRect">
            <a:avLst>
              <a:gd name="adj" fmla="val 4923"/>
            </a:avLst>
          </a:prstGeom>
          <a:solidFill>
            <a:schemeClr val="tx1"/>
          </a:solidFill>
          <a:ln/>
        </p:spPr>
      </p:sp>
      <p:sp>
        <p:nvSpPr>
          <p:cNvPr id="21" name="terminal-text"/>
          <p:cNvSpPr txBox="1"/>
          <p:nvPr/>
        </p:nvSpPr>
        <p:spPr>
          <a:xfrm>
            <a:off x="6217920" y="2066544"/>
            <a:ext cx="5239512" cy="1193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bash ~/Documents/GitHub/design/tools/cdbd-setup.sh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첫 실행 결과 예시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✅ cdbd-templates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🔧 cdbd-card-automation — 링크 생성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⚠️  cdbd.env 견본을 만들었습니다 → …</a:t>
            </a:r>
            <a:endParaRPr lang="en-US" sz="1150" dirty="0"/>
          </a:p>
        </p:txBody>
      </p:sp>
      <p:sp>
        <p:nvSpPr>
          <p:cNvPr id="22" name="box-ok"/>
          <p:cNvSpPr/>
          <p:nvPr/>
        </p:nvSpPr>
        <p:spPr>
          <a:xfrm>
            <a:off x="6035040" y="3634740"/>
            <a:ext cx="5605272" cy="1143000"/>
          </a:xfrm>
          <a:prstGeom prst="roundRect">
            <a:avLst>
              <a:gd name="adj" fmla="val 8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3" name="box-text"/>
          <p:cNvSpPr txBox="1"/>
          <p:nvPr/>
        </p:nvSpPr>
        <p:spPr>
          <a:xfrm>
            <a:off x="6236208" y="3762756"/>
            <a:ext cx="52029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accent3"/>
                </a:solidFill>
              </a:rPr>
              <a:t>✅ 이렇게 보이면 성공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마지막 줄 「완료 — ✅ … · 🔧 고침 … · ⚠️ 확인 필요 1」 (cdbd.env 1개)</a:t>
            </a:r>
            <a:endParaRPr lang="en-US" sz="1200" dirty="0"/>
          </a:p>
        </p:txBody>
      </p:sp>
      <p:sp>
        <p:nvSpPr>
          <p:cNvPr id="24" name="box-no"/>
          <p:cNvSpPr/>
          <p:nvPr/>
        </p:nvSpPr>
        <p:spPr>
          <a:xfrm>
            <a:off x="6035040" y="4960620"/>
            <a:ext cx="5605272" cy="1120140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5" name="box-text"/>
          <p:cNvSpPr txBox="1"/>
          <p:nvPr/>
        </p:nvSpPr>
        <p:spPr>
          <a:xfrm>
            <a:off x="6236208" y="5088636"/>
            <a:ext cx="5202936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막히면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「❌ gstack이 없습니다」 → STEP 3 · 「clone 실패」 → SSH 키 확인 (ONBOARDING §3-2)</a:t>
            </a:r>
            <a:endParaRPr lang="en-US" sz="1200" dirty="0"/>
          </a:p>
        </p:txBody>
      </p:sp>
      <p:sp>
        <p:nvSpPr>
          <p:cNvPr id="26" name="tracker"/>
          <p:cNvSpPr/>
          <p:nvPr/>
        </p:nvSpPr>
        <p:spPr>
          <a:xfrm>
            <a:off x="49377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racker"/>
          <p:cNvSpPr/>
          <p:nvPr/>
        </p:nvSpPr>
        <p:spPr>
          <a:xfrm>
            <a:off x="52120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racker"/>
          <p:cNvSpPr/>
          <p:nvPr/>
        </p:nvSpPr>
        <p:spPr>
          <a:xfrm>
            <a:off x="548640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racker"/>
          <p:cNvSpPr/>
          <p:nvPr/>
        </p:nvSpPr>
        <p:spPr>
          <a:xfrm>
            <a:off x="576072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racker"/>
          <p:cNvSpPr/>
          <p:nvPr/>
        </p:nvSpPr>
        <p:spPr>
          <a:xfrm>
            <a:off x="603504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1" name="tracker"/>
          <p:cNvSpPr/>
          <p:nvPr/>
        </p:nvSpPr>
        <p:spPr>
          <a:xfrm>
            <a:off x="630936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2" name="tracker"/>
          <p:cNvSpPr/>
          <p:nvPr/>
        </p:nvSpPr>
        <p:spPr>
          <a:xfrm>
            <a:off x="658368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3" name="tracker"/>
          <p:cNvSpPr/>
          <p:nvPr/>
        </p:nvSpPr>
        <p:spPr>
          <a:xfrm>
            <a:off x="685800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4" name="tracker"/>
          <p:cNvSpPr/>
          <p:nvPr/>
        </p:nvSpPr>
        <p:spPr>
          <a:xfrm>
            <a:off x="71323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360" y="63733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 / 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· 연결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 5 / 9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5.  cdbd.env 채우기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왜 하나요 — Claude가 CdBd에 로그인할 때 쓰는 공용 계정 정보입니다. 내 맥에만 저장되고 GitHub에는 올라가지 않습니다.</a:t>
            </a:r>
            <a:endParaRPr lang="en-US" sz="1400" dirty="0"/>
          </a:p>
        </p:txBody>
      </p:sp>
      <p:sp>
        <p:nvSpPr>
          <p:cNvPr id="6" name="todo-card"/>
          <p:cNvSpPr/>
          <p:nvPr/>
        </p:nvSpPr>
        <p:spPr>
          <a:xfrm>
            <a:off x="548640" y="1920240"/>
            <a:ext cx="5212080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이렇게 하세요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694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첫 줄을 붙여넣으면 텍스트 편집기가 열린다</a:t>
            </a:r>
            <a:endParaRPr lang="en-US" sz="1300" dirty="0"/>
          </a:p>
        </p:txBody>
      </p:sp>
      <p:sp>
        <p:nvSpPr>
          <p:cNvPr id="11" name="num"/>
          <p:cNvSpPr/>
          <p:nvPr/>
        </p:nvSpPr>
        <p:spPr>
          <a:xfrm>
            <a:off x="82296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558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각 줄의 = 뒤에 값을 붙여 쓴다 (띄어쓰기 · 따옴표 없이)</a:t>
            </a:r>
            <a:endParaRPr lang="en-US" sz="1300" dirty="0"/>
          </a:p>
        </p:txBody>
      </p:sp>
      <p:sp>
        <p:nvSpPr>
          <p:cNvPr id="14" name="num"/>
          <p:cNvSpPr/>
          <p:nvPr/>
        </p:nvSpPr>
        <p:spPr>
          <a:xfrm>
            <a:off x="822960" y="42153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1422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⌘S로 저장하고 창을 닫는다</a:t>
            </a:r>
            <a:endParaRPr lang="en-US" sz="1300" dirty="0"/>
          </a:p>
        </p:txBody>
      </p:sp>
      <p:sp>
        <p:nvSpPr>
          <p:cNvPr id="17" name="num"/>
          <p:cNvSpPr/>
          <p:nvPr/>
        </p:nvSpPr>
        <p:spPr>
          <a:xfrm>
            <a:off x="822960" y="50017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928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STEP 4 명령을 한 번 더 실행한다</a:t>
            </a:r>
            <a:endParaRPr lang="en-US" sz="1300" dirty="0"/>
          </a:p>
        </p:txBody>
      </p:sp>
      <p:sp>
        <p:nvSpPr>
          <p:cNvPr id="20" name="terminal"/>
          <p:cNvSpPr/>
          <p:nvPr/>
        </p:nvSpPr>
        <p:spPr>
          <a:xfrm>
            <a:off x="6035040" y="1920240"/>
            <a:ext cx="5605272" cy="1871472"/>
          </a:xfrm>
          <a:prstGeom prst="roundRect">
            <a:avLst>
              <a:gd name="adj" fmla="val 3909"/>
            </a:avLst>
          </a:prstGeom>
          <a:solidFill>
            <a:schemeClr val="tx1"/>
          </a:solidFill>
          <a:ln/>
        </p:spPr>
      </p:sp>
      <p:sp>
        <p:nvSpPr>
          <p:cNvPr id="21" name="terminal-text"/>
          <p:cNvSpPr txBox="1"/>
          <p:nvPr/>
        </p:nvSpPr>
        <p:spPr>
          <a:xfrm>
            <a:off x="6217920" y="2066544"/>
            <a:ext cx="5239512" cy="157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 -e ~/.config/cdbd/cdbd.env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이렇게 채웁니다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CDBD_EMAIL=공용계정이메일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CDBD_PASSWORD=공용계정비밀번호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CDBD_SUPABASE_URL=https://…(받은 값)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CDBD_SUPABASE_ANON_KEY=…(받은 값)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FIGMA_PAT=            # 비워 둬도 됨</a:t>
            </a:r>
            <a:endParaRPr lang="en-US" sz="1150" dirty="0"/>
          </a:p>
        </p:txBody>
      </p:sp>
      <p:sp>
        <p:nvSpPr>
          <p:cNvPr id="22" name="box-ok"/>
          <p:cNvSpPr/>
          <p:nvPr/>
        </p:nvSpPr>
        <p:spPr>
          <a:xfrm>
            <a:off x="6035040" y="4020312"/>
            <a:ext cx="5605272" cy="1030224"/>
          </a:xfrm>
          <a:prstGeom prst="roundRect">
            <a:avLst>
              <a:gd name="adj" fmla="val 8876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3" name="box-text"/>
          <p:cNvSpPr txBox="1"/>
          <p:nvPr/>
        </p:nvSpPr>
        <p:spPr>
          <a:xfrm>
            <a:off x="6236208" y="4148328"/>
            <a:ext cx="52029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accent3"/>
                </a:solidFill>
              </a:rPr>
              <a:t>✅ 이렇게 보이면 성공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다시 실행한 셋업의 마지막 줄이 「⚠️ 확인 필요 0」, 8번이 「✅ get_credentials()」</a:t>
            </a:r>
            <a:endParaRPr lang="en-US" sz="1200" dirty="0"/>
          </a:p>
        </p:txBody>
      </p:sp>
      <p:sp>
        <p:nvSpPr>
          <p:cNvPr id="24" name="box-red"/>
          <p:cNvSpPr/>
          <p:nvPr/>
        </p:nvSpPr>
        <p:spPr>
          <a:xfrm>
            <a:off x="6035040" y="5233416"/>
            <a:ext cx="5605272" cy="847344"/>
          </a:xfrm>
          <a:prstGeom prst="roundRect">
            <a:avLst>
              <a:gd name="adj" fmla="val 10791"/>
            </a:avLst>
          </a:prstGeom>
          <a:solidFill>
            <a:schemeClr val="accent5">
              <a:alpha val="10000"/>
            </a:schemeClr>
          </a:solidFill>
          <a:ln/>
        </p:spPr>
      </p:sp>
      <p:sp>
        <p:nvSpPr>
          <p:cNvPr id="25" name="box-text"/>
          <p:cNvSpPr txBox="1"/>
          <p:nvPr/>
        </p:nvSpPr>
        <p:spPr>
          <a:xfrm>
            <a:off x="6236208" y="5361432"/>
            <a:ext cx="52029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accent5"/>
                </a:solidFill>
              </a:rPr>
              <a:t>주의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🔴 credentials.json은 복사하지 않습니다 — 셋업이 내 맥용을 자동으로 받습니다 (cdbd.env는 옮겨도 OK)</a:t>
            </a:r>
            <a:endParaRPr lang="en-US" sz="1200" dirty="0"/>
          </a:p>
        </p:txBody>
      </p:sp>
      <p:sp>
        <p:nvSpPr>
          <p:cNvPr id="26" name="tracker"/>
          <p:cNvSpPr/>
          <p:nvPr/>
        </p:nvSpPr>
        <p:spPr>
          <a:xfrm>
            <a:off x="49377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racker"/>
          <p:cNvSpPr/>
          <p:nvPr/>
        </p:nvSpPr>
        <p:spPr>
          <a:xfrm>
            <a:off x="52120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racker"/>
          <p:cNvSpPr/>
          <p:nvPr/>
        </p:nvSpPr>
        <p:spPr>
          <a:xfrm>
            <a:off x="548640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racker"/>
          <p:cNvSpPr/>
          <p:nvPr/>
        </p:nvSpPr>
        <p:spPr>
          <a:xfrm>
            <a:off x="576072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racker"/>
          <p:cNvSpPr/>
          <p:nvPr/>
        </p:nvSpPr>
        <p:spPr>
          <a:xfrm>
            <a:off x="603504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racker"/>
          <p:cNvSpPr/>
          <p:nvPr/>
        </p:nvSpPr>
        <p:spPr>
          <a:xfrm>
            <a:off x="630936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2" name="tracker"/>
          <p:cNvSpPr/>
          <p:nvPr/>
        </p:nvSpPr>
        <p:spPr>
          <a:xfrm>
            <a:off x="658368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3" name="tracker"/>
          <p:cNvSpPr/>
          <p:nvPr/>
        </p:nvSpPr>
        <p:spPr>
          <a:xfrm>
            <a:off x="685800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4" name="tracker"/>
          <p:cNvSpPr/>
          <p:nvPr/>
        </p:nvSpPr>
        <p:spPr>
          <a:xfrm>
            <a:off x="71323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360" y="63733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5 / 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· 확인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 6 / 9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6.  폴더 신뢰 승인 (볼트 6곳)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왜 하나요 — 승인 전에는 볼트에 넣어 둔 Claude 허용 설정이 무시됩니다. 볼트마다 한 번만 하면 됩니다.</a:t>
            </a:r>
            <a:endParaRPr lang="en-US" sz="1400" dirty="0"/>
          </a:p>
        </p:txBody>
      </p:sp>
      <p:sp>
        <p:nvSpPr>
          <p:cNvPr id="6" name="todo-card"/>
          <p:cNvSpPr/>
          <p:nvPr/>
        </p:nvSpPr>
        <p:spPr>
          <a:xfrm>
            <a:off x="548640" y="1920240"/>
            <a:ext cx="5212080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이렇게 하세요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694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오른쪽 첫 줄을 붙여넣고 Enter</a:t>
            </a:r>
            <a:endParaRPr lang="en-US" sz="1300" dirty="0"/>
          </a:p>
        </p:txBody>
      </p:sp>
      <p:sp>
        <p:nvSpPr>
          <p:cNvPr id="11" name="num"/>
          <p:cNvSpPr/>
          <p:nvPr/>
        </p:nvSpPr>
        <p:spPr>
          <a:xfrm>
            <a:off x="82296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558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「Do you trust the files in this folder?」 → 1. Yes, proceed 에서 Enter</a:t>
            </a:r>
            <a:endParaRPr lang="en-US" sz="1300" dirty="0"/>
          </a:p>
        </p:txBody>
      </p:sp>
      <p:sp>
        <p:nvSpPr>
          <p:cNvPr id="14" name="num"/>
          <p:cNvSpPr/>
          <p:nvPr/>
        </p:nvSpPr>
        <p:spPr>
          <a:xfrm>
            <a:off x="822960" y="42153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1422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입력창이 나오면 /exit → Enter</a:t>
            </a:r>
            <a:endParaRPr lang="en-US" sz="1300" dirty="0"/>
          </a:p>
        </p:txBody>
      </p:sp>
      <p:sp>
        <p:nvSpPr>
          <p:cNvPr id="17" name="num"/>
          <p:cNvSpPr/>
          <p:nvPr/>
        </p:nvSpPr>
        <p:spPr>
          <a:xfrm>
            <a:off x="822960" y="50017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928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나머지 5줄도 하나씩 같은 방법으로</a:t>
            </a:r>
            <a:endParaRPr lang="en-US" sz="1300" dirty="0"/>
          </a:p>
        </p:txBody>
      </p:sp>
      <p:sp>
        <p:nvSpPr>
          <p:cNvPr id="20" name="terminal"/>
          <p:cNvSpPr/>
          <p:nvPr/>
        </p:nvSpPr>
        <p:spPr>
          <a:xfrm>
            <a:off x="6035040" y="1920240"/>
            <a:ext cx="5605272" cy="1385316"/>
          </a:xfrm>
          <a:prstGeom prst="roundRect">
            <a:avLst>
              <a:gd name="adj" fmla="val 5281"/>
            </a:avLst>
          </a:prstGeom>
          <a:solidFill>
            <a:schemeClr val="tx1"/>
          </a:solidFill>
          <a:ln/>
        </p:spPr>
      </p:sp>
      <p:sp>
        <p:nvSpPr>
          <p:cNvPr id="21" name="terminal-text"/>
          <p:cNvSpPr txBox="1"/>
          <p:nvPr/>
        </p:nvSpPr>
        <p:spPr>
          <a:xfrm>
            <a:off x="6217920" y="2066544"/>
            <a:ext cx="5239512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~/Documents/GitHub/design &amp;&amp; claude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~/Documents/GitHub/design/cdbd-templates &amp;&amp; claude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~/Documents/GitHub/design/cdbd-design-service &amp;&amp; claude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~/Documents/GitHub/design/cdbd-design-system &amp;&amp; claude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~/Documents/GitHub/design/cdbd-marketing &amp;&amp; claude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~/Documents/GitHub/design/makevu-qrstp &amp;&amp; claude</a:t>
            </a:r>
            <a:endParaRPr lang="en-US" sz="1050" dirty="0"/>
          </a:p>
        </p:txBody>
      </p:sp>
      <p:sp>
        <p:nvSpPr>
          <p:cNvPr id="22" name="box-ok"/>
          <p:cNvSpPr/>
          <p:nvPr/>
        </p:nvSpPr>
        <p:spPr>
          <a:xfrm>
            <a:off x="6035040" y="3534156"/>
            <a:ext cx="5605272" cy="1143000"/>
          </a:xfrm>
          <a:prstGeom prst="roundRect">
            <a:avLst>
              <a:gd name="adj" fmla="val 8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3" name="box-text"/>
          <p:cNvSpPr txBox="1"/>
          <p:nvPr/>
        </p:nvSpPr>
        <p:spPr>
          <a:xfrm>
            <a:off x="6236208" y="3662172"/>
            <a:ext cx="52029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accent3"/>
                </a:solidFill>
              </a:rPr>
              <a:t>✅ 이렇게 보이면 성공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같은 줄을 다시 실행하면 질문 없이 바로 입력창이 나온다</a:t>
            </a:r>
            <a:endParaRPr lang="en-US" sz="1200" dirty="0"/>
          </a:p>
        </p:txBody>
      </p:sp>
      <p:sp>
        <p:nvSpPr>
          <p:cNvPr id="24" name="box-no"/>
          <p:cNvSpPr/>
          <p:nvPr/>
        </p:nvSpPr>
        <p:spPr>
          <a:xfrm>
            <a:off x="6035040" y="4860036"/>
            <a:ext cx="5605272" cy="1220724"/>
          </a:xfrm>
          <a:prstGeom prst="roundRect">
            <a:avLst>
              <a:gd name="adj" fmla="val 7491"/>
            </a:avLst>
          </a:prstGeom>
          <a:solidFill>
            <a:schemeClr val="bg2"/>
          </a:solidFill>
          <a:ln/>
        </p:spPr>
      </p:sp>
      <p:sp>
        <p:nvSpPr>
          <p:cNvPr id="25" name="box-text"/>
          <p:cNvSpPr txBox="1"/>
          <p:nvPr/>
        </p:nvSpPr>
        <p:spPr>
          <a:xfrm>
            <a:off x="6236208" y="4988052"/>
            <a:ext cx="520293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막히면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/exit가 안 먹으면 Ctrl + C 두 번</a:t>
            </a:r>
            <a:endParaRPr lang="en-US" sz="1200" dirty="0"/>
          </a:p>
        </p:txBody>
      </p:sp>
      <p:sp>
        <p:nvSpPr>
          <p:cNvPr id="26" name="tracker"/>
          <p:cNvSpPr/>
          <p:nvPr/>
        </p:nvSpPr>
        <p:spPr>
          <a:xfrm>
            <a:off x="49377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racker"/>
          <p:cNvSpPr/>
          <p:nvPr/>
        </p:nvSpPr>
        <p:spPr>
          <a:xfrm>
            <a:off x="52120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racker"/>
          <p:cNvSpPr/>
          <p:nvPr/>
        </p:nvSpPr>
        <p:spPr>
          <a:xfrm>
            <a:off x="548640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racker"/>
          <p:cNvSpPr/>
          <p:nvPr/>
        </p:nvSpPr>
        <p:spPr>
          <a:xfrm>
            <a:off x="576072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racker"/>
          <p:cNvSpPr/>
          <p:nvPr/>
        </p:nvSpPr>
        <p:spPr>
          <a:xfrm>
            <a:off x="603504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racker"/>
          <p:cNvSpPr/>
          <p:nvPr/>
        </p:nvSpPr>
        <p:spPr>
          <a:xfrm>
            <a:off x="63093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tracker"/>
          <p:cNvSpPr/>
          <p:nvPr/>
        </p:nvSpPr>
        <p:spPr>
          <a:xfrm>
            <a:off x="658368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3" name="tracker"/>
          <p:cNvSpPr/>
          <p:nvPr/>
        </p:nvSpPr>
        <p:spPr>
          <a:xfrm>
            <a:off x="685800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4" name="tracker"/>
          <p:cNvSpPr/>
          <p:nvPr/>
        </p:nvSpPr>
        <p:spPr>
          <a:xfrm>
            <a:off x="71323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360" y="63733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6 / 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· 확인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 7 / 9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7.  Figma 연결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왜 하나요 — Claude가 Figma 시안을 읽고 만들 수 있게 합니다. 계정에 한 번만 하면 모든 맥에 적용됩니다.</a:t>
            </a:r>
            <a:endParaRPr lang="en-US" sz="1400" dirty="0"/>
          </a:p>
        </p:txBody>
      </p:sp>
      <p:sp>
        <p:nvSpPr>
          <p:cNvPr id="6" name="todo-card"/>
          <p:cNvSpPr/>
          <p:nvPr/>
        </p:nvSpPr>
        <p:spPr>
          <a:xfrm>
            <a:off x="548640" y="1920240"/>
            <a:ext cx="5212080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이렇게 하세요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694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브라우저에서 claude.ai 에 로그인</a:t>
            </a:r>
            <a:endParaRPr lang="en-US" sz="1300" dirty="0"/>
          </a:p>
        </p:txBody>
      </p:sp>
      <p:sp>
        <p:nvSpPr>
          <p:cNvPr id="11" name="num"/>
          <p:cNvSpPr/>
          <p:nvPr/>
        </p:nvSpPr>
        <p:spPr>
          <a:xfrm>
            <a:off x="82296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558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설정 → 커넥터(Connectors)로 이동</a:t>
            </a:r>
            <a:endParaRPr lang="en-US" sz="1300" dirty="0"/>
          </a:p>
        </p:txBody>
      </p:sp>
      <p:sp>
        <p:nvSpPr>
          <p:cNvPr id="14" name="num"/>
          <p:cNvSpPr/>
          <p:nvPr/>
        </p:nvSpPr>
        <p:spPr>
          <a:xfrm>
            <a:off x="822960" y="42153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1422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Figma를 찾아 「연결」 → Figma 로그인 · 허용</a:t>
            </a:r>
            <a:endParaRPr lang="en-US" sz="1300" dirty="0"/>
          </a:p>
        </p:txBody>
      </p:sp>
      <p:sp>
        <p:nvSpPr>
          <p:cNvPr id="17" name="num"/>
          <p:cNvSpPr/>
          <p:nvPr/>
        </p:nvSpPr>
        <p:spPr>
          <a:xfrm>
            <a:off x="822960" y="50017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928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이미 「연결됨」이면 건너뛴다</a:t>
            </a:r>
            <a:endParaRPr lang="en-US" sz="1300" dirty="0"/>
          </a:p>
        </p:txBody>
      </p:sp>
      <p:sp>
        <p:nvSpPr>
          <p:cNvPr id="20" name="web-card"/>
          <p:cNvSpPr/>
          <p:nvPr/>
        </p:nvSpPr>
        <p:spPr>
          <a:xfrm>
            <a:off x="6035040" y="1920240"/>
            <a:ext cx="5605272" cy="1463040"/>
          </a:xfrm>
          <a:prstGeom prst="roundRect">
            <a:avLst>
              <a:gd name="adj" fmla="val 7500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63640" y="2103120"/>
            <a:ext cx="5148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터미널이 아니라 브라우저에서 합니다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claude.ai  →  설정  →  커넥터  →  Figma  →  연결</a:t>
            </a:r>
            <a:endParaRPr lang="en-US" sz="1300" dirty="0"/>
          </a:p>
        </p:txBody>
      </p:sp>
      <p:sp>
        <p:nvSpPr>
          <p:cNvPr id="22" name="box-ok"/>
          <p:cNvSpPr/>
          <p:nvPr/>
        </p:nvSpPr>
        <p:spPr>
          <a:xfrm>
            <a:off x="6035040" y="3611880"/>
            <a:ext cx="5605272" cy="1143000"/>
          </a:xfrm>
          <a:prstGeom prst="roundRect">
            <a:avLst>
              <a:gd name="adj" fmla="val 8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3" name="box-text"/>
          <p:cNvSpPr txBox="1"/>
          <p:nvPr/>
        </p:nvSpPr>
        <p:spPr>
          <a:xfrm>
            <a:off x="6236208" y="3739896"/>
            <a:ext cx="52029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accent3"/>
                </a:solidFill>
              </a:rPr>
              <a:t>✅ 이렇게 보이면 성공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커넥터 목록에서 Figma가 「연결됨」으로 보인다</a:t>
            </a:r>
            <a:endParaRPr lang="en-US" sz="1200" dirty="0"/>
          </a:p>
        </p:txBody>
      </p:sp>
      <p:sp>
        <p:nvSpPr>
          <p:cNvPr id="24" name="box-no"/>
          <p:cNvSpPr/>
          <p:nvPr/>
        </p:nvSpPr>
        <p:spPr>
          <a:xfrm>
            <a:off x="6035040" y="4937760"/>
            <a:ext cx="5605272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box-text"/>
          <p:cNvSpPr txBox="1"/>
          <p:nvPr/>
        </p:nvSpPr>
        <p:spPr>
          <a:xfrm>
            <a:off x="6236208" y="5065776"/>
            <a:ext cx="52029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막히면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Figma 계정 권한이 없으면 담당자에게 팀 Figma 초대를 요청</a:t>
            </a:r>
            <a:endParaRPr lang="en-US" sz="1200" dirty="0"/>
          </a:p>
        </p:txBody>
      </p:sp>
      <p:sp>
        <p:nvSpPr>
          <p:cNvPr id="26" name="tracker"/>
          <p:cNvSpPr/>
          <p:nvPr/>
        </p:nvSpPr>
        <p:spPr>
          <a:xfrm>
            <a:off x="49377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racker"/>
          <p:cNvSpPr/>
          <p:nvPr/>
        </p:nvSpPr>
        <p:spPr>
          <a:xfrm>
            <a:off x="52120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racker"/>
          <p:cNvSpPr/>
          <p:nvPr/>
        </p:nvSpPr>
        <p:spPr>
          <a:xfrm>
            <a:off x="548640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racker"/>
          <p:cNvSpPr/>
          <p:nvPr/>
        </p:nvSpPr>
        <p:spPr>
          <a:xfrm>
            <a:off x="576072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racker"/>
          <p:cNvSpPr/>
          <p:nvPr/>
        </p:nvSpPr>
        <p:spPr>
          <a:xfrm>
            <a:off x="603504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racker"/>
          <p:cNvSpPr/>
          <p:nvPr/>
        </p:nvSpPr>
        <p:spPr>
          <a:xfrm>
            <a:off x="63093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tracker"/>
          <p:cNvSpPr/>
          <p:nvPr/>
        </p:nvSpPr>
        <p:spPr>
          <a:xfrm>
            <a:off x="65836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racker"/>
          <p:cNvSpPr/>
          <p:nvPr/>
        </p:nvSpPr>
        <p:spPr>
          <a:xfrm>
            <a:off x="685800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4" name="tracker"/>
          <p:cNvSpPr/>
          <p:nvPr/>
        </p:nvSpPr>
        <p:spPr>
          <a:xfrm>
            <a:off x="71323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360" y="63733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7 / 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· 확인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 8 / 9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8.  점검표 돌리기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왜 하나요 — 지금까지의 셋업이 전부 제대로 됐는지 28개 항목을 자동으로 확인합니다. 약 30초.</a:t>
            </a:r>
            <a:endParaRPr lang="en-US" sz="1400" dirty="0"/>
          </a:p>
        </p:txBody>
      </p:sp>
      <p:sp>
        <p:nvSpPr>
          <p:cNvPr id="6" name="todo-card"/>
          <p:cNvSpPr/>
          <p:nvPr/>
        </p:nvSpPr>
        <p:spPr>
          <a:xfrm>
            <a:off x="548640" y="1920240"/>
            <a:ext cx="5212080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이렇게 하세요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694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오른쪽 한 줄을 붙여넣고 Enter</a:t>
            </a:r>
            <a:endParaRPr lang="en-US" sz="1300" dirty="0"/>
          </a:p>
        </p:txBody>
      </p:sp>
      <p:sp>
        <p:nvSpPr>
          <p:cNvPr id="11" name="num"/>
          <p:cNvSpPr/>
          <p:nvPr/>
        </p:nvSpPr>
        <p:spPr>
          <a:xfrm>
            <a:off x="82296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558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1~6번 묶음이 차례로 ✅ / ❌ 로 찍힌다</a:t>
            </a:r>
            <a:endParaRPr lang="en-US" sz="1300" dirty="0"/>
          </a:p>
        </p:txBody>
      </p:sp>
      <p:sp>
        <p:nvSpPr>
          <p:cNvPr id="14" name="num"/>
          <p:cNvSpPr/>
          <p:nvPr/>
        </p:nvSpPr>
        <p:spPr>
          <a:xfrm>
            <a:off x="822960" y="42153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1422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마지막 줄을 확인한다</a:t>
            </a:r>
            <a:endParaRPr lang="en-US" sz="1300" dirty="0"/>
          </a:p>
        </p:txBody>
      </p:sp>
      <p:sp>
        <p:nvSpPr>
          <p:cNvPr id="17" name="num"/>
          <p:cNvSpPr/>
          <p:nvPr/>
        </p:nvSpPr>
        <p:spPr>
          <a:xfrm>
            <a:off x="822960" y="50017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928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❌가 있으면 그 줄 끝의 → 안내대로 하고 다시 실행</a:t>
            </a:r>
            <a:endParaRPr lang="en-US" sz="1300" dirty="0"/>
          </a:p>
        </p:txBody>
      </p:sp>
      <p:sp>
        <p:nvSpPr>
          <p:cNvPr id="20" name="terminal"/>
          <p:cNvSpPr/>
          <p:nvPr/>
        </p:nvSpPr>
        <p:spPr>
          <a:xfrm>
            <a:off x="6035040" y="1920240"/>
            <a:ext cx="5605272" cy="1293114"/>
          </a:xfrm>
          <a:prstGeom prst="roundRect">
            <a:avLst>
              <a:gd name="adj" fmla="val 5657"/>
            </a:avLst>
          </a:prstGeom>
          <a:solidFill>
            <a:schemeClr val="tx1"/>
          </a:solidFill>
          <a:ln/>
        </p:spPr>
      </p:sp>
      <p:sp>
        <p:nvSpPr>
          <p:cNvPr id="21" name="terminal-text"/>
          <p:cNvSpPr txBox="1"/>
          <p:nvPr/>
        </p:nvSpPr>
        <p:spPr>
          <a:xfrm>
            <a:off x="6217920" y="2066544"/>
            <a:ext cx="5239512" cy="1000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bash ~/Documents/GitHub/design/tools/cdbd-doctor.sh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마지막 줄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결과 — ✅ 28 · ⚠️ 0 · ❌ 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이 기기는 CdBd 작업 준비가 끝났습니다.</a:t>
            </a:r>
            <a:endParaRPr lang="en-US" sz="1150" dirty="0"/>
          </a:p>
        </p:txBody>
      </p:sp>
      <p:sp>
        <p:nvSpPr>
          <p:cNvPr id="22" name="box-ok"/>
          <p:cNvSpPr/>
          <p:nvPr/>
        </p:nvSpPr>
        <p:spPr>
          <a:xfrm>
            <a:off x="6035040" y="3441954"/>
            <a:ext cx="5605272" cy="1143000"/>
          </a:xfrm>
          <a:prstGeom prst="roundRect">
            <a:avLst>
              <a:gd name="adj" fmla="val 8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3" name="box-text"/>
          <p:cNvSpPr txBox="1"/>
          <p:nvPr/>
        </p:nvSpPr>
        <p:spPr>
          <a:xfrm>
            <a:off x="6236208" y="3569970"/>
            <a:ext cx="52029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accent3"/>
                </a:solidFill>
              </a:rPr>
              <a:t>✅ 이렇게 보이면 성공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「✅ 28 · ⚠️ 0 · ❌ 0」 — 셋업 완료</a:t>
            </a:r>
            <a:endParaRPr lang="en-US" sz="1200" dirty="0"/>
          </a:p>
        </p:txBody>
      </p:sp>
      <p:sp>
        <p:nvSpPr>
          <p:cNvPr id="24" name="box-no"/>
          <p:cNvSpPr/>
          <p:nvPr/>
        </p:nvSpPr>
        <p:spPr>
          <a:xfrm>
            <a:off x="6035040" y="4767834"/>
            <a:ext cx="5605272" cy="1312926"/>
          </a:xfrm>
          <a:prstGeom prst="roundRect">
            <a:avLst>
              <a:gd name="adj" fmla="val 6965"/>
            </a:avLst>
          </a:prstGeom>
          <a:solidFill>
            <a:schemeClr val="bg2"/>
          </a:solidFill>
          <a:ln/>
        </p:spPr>
      </p:sp>
      <p:sp>
        <p:nvSpPr>
          <p:cNvPr id="25" name="box-text"/>
          <p:cNvSpPr txBox="1"/>
          <p:nvPr/>
        </p:nvSpPr>
        <p:spPr>
          <a:xfrm>
            <a:off x="6236208" y="4895850"/>
            <a:ext cx="5202936" cy="1075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막히면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❌ 해결 방법은 「막혔을 때」 표 (다음다음 장)</a:t>
            </a:r>
            <a:endParaRPr lang="en-US" sz="1200" dirty="0"/>
          </a:p>
        </p:txBody>
      </p:sp>
      <p:sp>
        <p:nvSpPr>
          <p:cNvPr id="26" name="tracker"/>
          <p:cNvSpPr/>
          <p:nvPr/>
        </p:nvSpPr>
        <p:spPr>
          <a:xfrm>
            <a:off x="49377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racker"/>
          <p:cNvSpPr/>
          <p:nvPr/>
        </p:nvSpPr>
        <p:spPr>
          <a:xfrm>
            <a:off x="52120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racker"/>
          <p:cNvSpPr/>
          <p:nvPr/>
        </p:nvSpPr>
        <p:spPr>
          <a:xfrm>
            <a:off x="548640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racker"/>
          <p:cNvSpPr/>
          <p:nvPr/>
        </p:nvSpPr>
        <p:spPr>
          <a:xfrm>
            <a:off x="576072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racker"/>
          <p:cNvSpPr/>
          <p:nvPr/>
        </p:nvSpPr>
        <p:spPr>
          <a:xfrm>
            <a:off x="603504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racker"/>
          <p:cNvSpPr/>
          <p:nvPr/>
        </p:nvSpPr>
        <p:spPr>
          <a:xfrm>
            <a:off x="63093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tracker"/>
          <p:cNvSpPr/>
          <p:nvPr/>
        </p:nvSpPr>
        <p:spPr>
          <a:xfrm>
            <a:off x="65836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racker"/>
          <p:cNvSpPr/>
          <p:nvPr/>
        </p:nvSpPr>
        <p:spPr>
          <a:xfrm>
            <a:off x="685800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4" name="tracker"/>
          <p:cNvSpPr/>
          <p:nvPr/>
        </p:nvSpPr>
        <p:spPr>
          <a:xfrm>
            <a:off x="7132320" y="6437376"/>
            <a:ext cx="118872" cy="118872"/>
          </a:xfrm>
          <a:prstGeom prst="ellipse">
            <a:avLst/>
          </a:prstGeom>
          <a:solidFill>
            <a:schemeClr val="bg2"/>
          </a:solidFill>
          <a:ln w="9525">
            <a:solidFill>
              <a:srgbClr val="C9C9D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360" y="63733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8 / 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· 확인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 9 / 9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9.  Claude에게 확인 질문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왜 하나요 — 팀 규칙과 기능 사전이 실제로 Claude에게 실렸는지 마지막으로 확인합니다.</a:t>
            </a:r>
            <a:endParaRPr lang="en-US" sz="1400" dirty="0"/>
          </a:p>
        </p:txBody>
      </p:sp>
      <p:sp>
        <p:nvSpPr>
          <p:cNvPr id="6" name="todo-card"/>
          <p:cNvSpPr/>
          <p:nvPr/>
        </p:nvSpPr>
        <p:spPr>
          <a:xfrm>
            <a:off x="548640" y="1920240"/>
            <a:ext cx="5212080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이렇게 하세요</a:t>
            </a:r>
            <a:endParaRPr lang="en-US" sz="1500" dirty="0"/>
          </a:p>
        </p:txBody>
      </p:sp>
      <p:sp>
        <p:nvSpPr>
          <p:cNvPr id="8" name="num"/>
          <p:cNvSpPr/>
          <p:nvPr/>
        </p:nvSpPr>
        <p:spPr>
          <a:xfrm>
            <a:off x="82296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694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옵시디언에서 아무 볼트나 연다</a:t>
            </a:r>
            <a:endParaRPr lang="en-US" sz="1300" dirty="0"/>
          </a:p>
        </p:txBody>
      </p:sp>
      <p:sp>
        <p:nvSpPr>
          <p:cNvPr id="11" name="num"/>
          <p:cNvSpPr/>
          <p:nvPr/>
        </p:nvSpPr>
        <p:spPr>
          <a:xfrm>
            <a:off x="82296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558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Claudian 창을 연다</a:t>
            </a:r>
            <a:endParaRPr lang="en-US" sz="1300" dirty="0"/>
          </a:p>
        </p:txBody>
      </p:sp>
      <p:sp>
        <p:nvSpPr>
          <p:cNvPr id="14" name="num"/>
          <p:cNvSpPr/>
          <p:nvPr/>
        </p:nvSpPr>
        <p:spPr>
          <a:xfrm>
            <a:off x="822960" y="42153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1422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오른쪽 질문을 그대로 입력한다</a:t>
            </a:r>
            <a:endParaRPr lang="en-US" sz="1300" dirty="0"/>
          </a:p>
        </p:txBody>
      </p:sp>
      <p:sp>
        <p:nvSpPr>
          <p:cNvPr id="17" name="num"/>
          <p:cNvSpPr/>
          <p:nvPr/>
        </p:nvSpPr>
        <p:spPr>
          <a:xfrm>
            <a:off x="822960" y="50017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928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답이 「아니요」로 시작해 「빈칸」이라고 바로잡는지 본다</a:t>
            </a:r>
            <a:endParaRPr lang="en-US" sz="1300" dirty="0"/>
          </a:p>
        </p:txBody>
      </p:sp>
      <p:sp>
        <p:nvSpPr>
          <p:cNvPr id="20" name="terminal"/>
          <p:cNvSpPr/>
          <p:nvPr/>
        </p:nvSpPr>
        <p:spPr>
          <a:xfrm>
            <a:off x="6035040" y="1920240"/>
            <a:ext cx="5605272" cy="714756"/>
          </a:xfrm>
          <a:prstGeom prst="roundRect">
            <a:avLst>
              <a:gd name="adj" fmla="val 10235"/>
            </a:avLst>
          </a:prstGeom>
          <a:solidFill>
            <a:schemeClr val="tx1"/>
          </a:solidFill>
          <a:ln/>
        </p:spPr>
      </p:sp>
      <p:sp>
        <p:nvSpPr>
          <p:cNvPr id="21" name="terminal-text"/>
          <p:cNvSpPr txBox="1"/>
          <p:nvPr/>
        </p:nvSpPr>
        <p:spPr>
          <a:xfrm>
            <a:off x="6217920" y="2066544"/>
            <a:ext cx="5239512" cy="422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개별 URL에서 이름 칸이 비면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대체어가 나오죠?</a:t>
            </a:r>
            <a:endParaRPr lang="en-US" sz="1150" dirty="0"/>
          </a:p>
        </p:txBody>
      </p:sp>
      <p:sp>
        <p:nvSpPr>
          <p:cNvPr id="22" name="box-ok"/>
          <p:cNvSpPr/>
          <p:nvPr/>
        </p:nvSpPr>
        <p:spPr>
          <a:xfrm>
            <a:off x="6035040" y="2863596"/>
            <a:ext cx="5605272" cy="1143000"/>
          </a:xfrm>
          <a:prstGeom prst="roundRect">
            <a:avLst>
              <a:gd name="adj" fmla="val 8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3" name="box-text"/>
          <p:cNvSpPr txBox="1"/>
          <p:nvPr/>
        </p:nvSpPr>
        <p:spPr>
          <a:xfrm>
            <a:off x="6236208" y="2991612"/>
            <a:ext cx="52029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accent3"/>
                </a:solidFill>
              </a:rPr>
              <a:t>✅ 이렇게 보이면 성공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「아니요, 개별 URL에서는 대체어가 아니라 빈칸으로 나옵니다 …」</a:t>
            </a:r>
            <a:endParaRPr lang="en-US" sz="1200" dirty="0"/>
          </a:p>
        </p:txBody>
      </p:sp>
      <p:sp>
        <p:nvSpPr>
          <p:cNvPr id="24" name="box-no"/>
          <p:cNvSpPr/>
          <p:nvPr/>
        </p:nvSpPr>
        <p:spPr>
          <a:xfrm>
            <a:off x="6035040" y="4189476"/>
            <a:ext cx="5605272" cy="1891284"/>
          </a:xfrm>
          <a:prstGeom prst="roundRect">
            <a:avLst>
              <a:gd name="adj" fmla="val 4835"/>
            </a:avLst>
          </a:prstGeom>
          <a:solidFill>
            <a:schemeClr val="bg2"/>
          </a:solidFill>
          <a:ln/>
        </p:spPr>
      </p:sp>
      <p:sp>
        <p:nvSpPr>
          <p:cNvPr id="25" name="box-text"/>
          <p:cNvSpPr txBox="1"/>
          <p:nvPr/>
        </p:nvSpPr>
        <p:spPr>
          <a:xfrm>
            <a:off x="6236208" y="4317492"/>
            <a:ext cx="5202936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막히면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다르게 답하면 담당자에게 — 담당자가 수용 테스트 전체를 돌려 확인합니다</a:t>
            </a:r>
            <a:endParaRPr lang="en-US" sz="1200" dirty="0"/>
          </a:p>
        </p:txBody>
      </p:sp>
      <p:sp>
        <p:nvSpPr>
          <p:cNvPr id="26" name="tracker"/>
          <p:cNvSpPr/>
          <p:nvPr/>
        </p:nvSpPr>
        <p:spPr>
          <a:xfrm>
            <a:off x="49377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racker"/>
          <p:cNvSpPr/>
          <p:nvPr/>
        </p:nvSpPr>
        <p:spPr>
          <a:xfrm>
            <a:off x="52120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racker"/>
          <p:cNvSpPr/>
          <p:nvPr/>
        </p:nvSpPr>
        <p:spPr>
          <a:xfrm>
            <a:off x="548640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racker"/>
          <p:cNvSpPr/>
          <p:nvPr/>
        </p:nvSpPr>
        <p:spPr>
          <a:xfrm>
            <a:off x="576072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racker"/>
          <p:cNvSpPr/>
          <p:nvPr/>
        </p:nvSpPr>
        <p:spPr>
          <a:xfrm>
            <a:off x="603504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racker"/>
          <p:cNvSpPr/>
          <p:nvPr/>
        </p:nvSpPr>
        <p:spPr>
          <a:xfrm>
            <a:off x="630936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tracker"/>
          <p:cNvSpPr/>
          <p:nvPr/>
        </p:nvSpPr>
        <p:spPr>
          <a:xfrm>
            <a:off x="658368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racker"/>
          <p:cNvSpPr/>
          <p:nvPr/>
        </p:nvSpPr>
        <p:spPr>
          <a:xfrm>
            <a:off x="685800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4" name="tracker"/>
          <p:cNvSpPr/>
          <p:nvPr/>
        </p:nvSpPr>
        <p:spPr>
          <a:xfrm>
            <a:off x="7132320" y="6437376"/>
            <a:ext cx="118872" cy="11887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360" y="63733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9 / 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가이드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06  막혔을 때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점검표의 ❌마다 할 일이 정해져 있습니다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평소에는 Claude를 켤 때 문제가 있으면 「⚠️ CdBd 셋업 점검: …」 한 줄로 알려 줍니다.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108960"/>
                <a:gridCol w="4690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점검표에 이렇게 나오면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이렇게 하세요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저장소 「N개 뒤처짐」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최근 변경을 안 받음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bash ~/Documents/GitHub/design/tools/cdbd-sync.sh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저장소 「갈라짐」 · 「미커밋」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내 맥에만 있는 변경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담당자와 함께 확인 (sync는 안전하게 건너뜀)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링크 「없음/깨짐」 · 「옛 사본」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셋업 전이거나 옛 파일이 남음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STEP 4 다시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폴더 신뢰 「미승인」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그 볼트에서 Claude를 안 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STEP 6 — 그 줄만 다시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Claudian 「꺼짐」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「사용자 설정 불러오기」 OFF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STEP 2 — Claudian 설정에서 켜기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cdbd.env 「빈 키」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STEP 5 미완료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STEP 5 → STEP 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 실패 · 「재로그인 거부」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공용 계정 비밀번호가 바뀜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cdbd.env의 비밀번호만 새로 (모든 맥 공통)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gstack 없음 · browse 실패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STEP 3 미완료 · 빌드 문제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STEP 3 다시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PART 2 · 팀원 셋업 가이드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06  운영 규칙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계정 하나를 모두가 씁니다 — 세 가지만 지켜 주세요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Claude도 이 규칙대로 움직이도록 설정돼 있습니다.</a:t>
            </a:r>
            <a:endParaRPr lang="en-US" sz="1400" dirty="0"/>
          </a:p>
        </p:txBody>
      </p:sp>
      <p:sp>
        <p:nvSpPr>
          <p:cNvPr id="6" name="rule3-card"/>
          <p:cNvSpPr/>
          <p:nvPr/>
        </p:nvSpPr>
        <p:spPr>
          <a:xfrm>
            <a:off x="548640" y="1920240"/>
            <a:ext cx="3511296" cy="416052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sp>
        <p:nvSpPr>
          <p:cNvPr id="7" name="rule3-circle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rule3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774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315468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돈이 드는 일은 먼저 묻는다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977640"/>
            <a:ext cx="296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게시 · URL 생성/연장 · 개별 URL · 주소 변경 · 팀원 초대 · 예약 카드 · 충전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89204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크레딧이 모두의 것 — Claude가 실행 전에 금액을 말하고 확인을 받습니다</a:t>
            </a:r>
            <a:endParaRPr lang="en-US" sz="1200" dirty="0"/>
          </a:p>
        </p:txBody>
      </p:sp>
      <p:sp>
        <p:nvSpPr>
          <p:cNvPr id="12" name="rule3-card"/>
          <p:cNvSpPr/>
          <p:nvPr/>
        </p:nvSpPr>
        <p:spPr>
          <a:xfrm>
            <a:off x="4338828" y="1920240"/>
            <a:ext cx="3511296" cy="416052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sp>
        <p:nvSpPr>
          <p:cNvPr id="13" name="rule3-circle"/>
          <p:cNvSpPr/>
          <p:nvPr/>
        </p:nvSpPr>
        <p:spPr>
          <a:xfrm>
            <a:off x="4613148" y="21945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rule3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28" y="237744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13148" y="315468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연습은 내 테스트 페이지에서만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613148" y="3977640"/>
            <a:ext cx="296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남의 작업 페이지는 조작 전에 확인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613148" y="489204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에디터는 자동 저장 — 둘이 같은 페이지를 만지면 서로 덮어씁니다</a:t>
            </a:r>
            <a:endParaRPr lang="en-US" sz="1200" dirty="0"/>
          </a:p>
        </p:txBody>
      </p:sp>
      <p:sp>
        <p:nvSpPr>
          <p:cNvPr id="18" name="rule3-card"/>
          <p:cNvSpPr/>
          <p:nvPr/>
        </p:nvSpPr>
        <p:spPr>
          <a:xfrm>
            <a:off x="8129016" y="1920240"/>
            <a:ext cx="3511296" cy="416052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sp>
        <p:nvSpPr>
          <p:cNvPr id="19" name="rule3-circle"/>
          <p:cNvSpPr/>
          <p:nvPr/>
        </p:nvSpPr>
        <p:spPr>
          <a:xfrm>
            <a:off x="8403336" y="21945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rule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216" y="237744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03336" y="315468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로그인 파일은 각자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403336" y="3977640"/>
            <a:ext cx="296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credentials.json 복사 금지 · cdbd.env만 옮긴다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403336" y="489204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복사하면 서로 로그인이 풀립니다 — 셋업이 각자 받아 줍니다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다음 순서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07  다음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리허설 → 팀원 2명 셋업 → 🎯 목표 도달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목표 = 팀원 두 분의 맥에서 확인 질문(수용 테스트)을 전부 통과.</a:t>
            </a:r>
            <a:endParaRPr lang="en-US" sz="1400" dirty="0"/>
          </a:p>
        </p:txBody>
      </p:sp>
      <p:sp>
        <p:nvSpPr>
          <p:cNvPr id="6" name="next-card"/>
          <p:cNvSpPr/>
          <p:nvPr/>
        </p:nvSpPr>
        <p:spPr>
          <a:xfrm>
            <a:off x="548640" y="1965960"/>
            <a:ext cx="2587752" cy="2743200"/>
          </a:xfrm>
          <a:prstGeom prst="roundRect">
            <a:avLst>
              <a:gd name="adj" fmla="val 4240"/>
            </a:avLst>
          </a:prstGeom>
          <a:solidFill>
            <a:schemeClr val="bg2"/>
          </a:solidFill>
          <a:ln/>
        </p:spPr>
      </p:sp>
      <p:sp>
        <p:nvSpPr>
          <p:cNvPr id="7" name="num"/>
          <p:cNvSpPr/>
          <p:nvPr/>
        </p:nvSpPr>
        <p:spPr>
          <a:xfrm>
            <a:off x="804672" y="22402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880360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새 기기 리허설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566160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오늘 이 안내를 새 맥처럼 처음부터 따라 해 보고 고친다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42976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Claude · 45분</a:t>
            </a:r>
            <a:endParaRPr lang="en-US" sz="1050" dirty="0"/>
          </a:p>
        </p:txBody>
      </p:sp>
      <p:sp>
        <p:nvSpPr>
          <p:cNvPr id="12" name="next-card"/>
          <p:cNvSpPr/>
          <p:nvPr/>
        </p:nvSpPr>
        <p:spPr>
          <a:xfrm>
            <a:off x="3383280" y="1965960"/>
            <a:ext cx="2587752" cy="2743200"/>
          </a:xfrm>
          <a:prstGeom prst="roundRect">
            <a:avLst>
              <a:gd name="adj" fmla="val 4240"/>
            </a:avLst>
          </a:prstGeom>
          <a:solidFill>
            <a:schemeClr val="accent5">
              <a:alpha val="9000"/>
            </a:schemeClr>
          </a:solidFill>
          <a:ln/>
        </p:spPr>
      </p:sp>
      <p:sp>
        <p:nvSpPr>
          <p:cNvPr id="13" name="num"/>
          <p:cNvSpPr/>
          <p:nvPr/>
        </p:nvSpPr>
        <p:spPr>
          <a:xfrm>
            <a:off x="3639312" y="224028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39312" y="2880360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일정 · 테스트 페이지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639312" y="3566160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두 분 일정과 각자의 연습용 페이지 정하기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639312" y="42976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강현이</a:t>
            </a:r>
            <a:endParaRPr lang="en-US" sz="1050" dirty="0"/>
          </a:p>
        </p:txBody>
      </p:sp>
      <p:sp>
        <p:nvSpPr>
          <p:cNvPr id="18" name="next-card"/>
          <p:cNvSpPr/>
          <p:nvPr/>
        </p:nvSpPr>
        <p:spPr>
          <a:xfrm>
            <a:off x="6217920" y="1965960"/>
            <a:ext cx="2587752" cy="2743200"/>
          </a:xfrm>
          <a:prstGeom prst="roundRect">
            <a:avLst>
              <a:gd name="adj" fmla="val 4240"/>
            </a:avLst>
          </a:prstGeom>
          <a:solidFill>
            <a:schemeClr val="bg2"/>
          </a:solidFill>
          <a:ln/>
        </p:spPr>
      </p:sp>
      <p:sp>
        <p:nvSpPr>
          <p:cNvPr id="19" name="num"/>
          <p:cNvSpPr/>
          <p:nvPr/>
        </p:nvSpPr>
        <p:spPr>
          <a:xfrm>
            <a:off x="6473952" y="22402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2880360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볼트 공유 팀원 셋업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73952" y="3566160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STEP 1~9 → 점검표 ✅ → 수용 테스트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473952" y="42976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팀원 + Claude · 30~45분</a:t>
            </a:r>
            <a:endParaRPr lang="en-US" sz="1050" dirty="0"/>
          </a:p>
        </p:txBody>
      </p:sp>
      <p:sp>
        <p:nvSpPr>
          <p:cNvPr id="24" name="next-card"/>
          <p:cNvSpPr/>
          <p:nvPr/>
        </p:nvSpPr>
        <p:spPr>
          <a:xfrm>
            <a:off x="9052560" y="1965960"/>
            <a:ext cx="2587752" cy="2743200"/>
          </a:xfrm>
          <a:prstGeom prst="roundRect">
            <a:avLst>
              <a:gd name="adj" fmla="val 4240"/>
            </a:avLst>
          </a:prstGeom>
          <a:solidFill>
            <a:schemeClr val="bg2"/>
          </a:solidFill>
          <a:ln/>
        </p:spPr>
      </p:sp>
      <p:sp>
        <p:nvSpPr>
          <p:cNvPr id="25" name="num"/>
          <p:cNvSpPr/>
          <p:nvPr/>
        </p:nvSpPr>
        <p:spPr>
          <a:xfrm>
            <a:off x="9308592" y="22402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30859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08592" y="2880360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 공유 팀원 셋업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308592" y="3566160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같은 기준 통과 → 🎯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308592" y="42976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팀원 + Claude · 45분</a:t>
            </a:r>
            <a:endParaRPr lang="en-US" sz="1050" dirty="0"/>
          </a:p>
        </p:txBody>
      </p:sp>
      <p:sp>
        <p:nvSpPr>
          <p:cNvPr id="30" name="box-red"/>
          <p:cNvSpPr/>
          <p:nvPr/>
        </p:nvSpPr>
        <p:spPr>
          <a:xfrm>
            <a:off x="548640" y="4983480"/>
            <a:ext cx="11091672" cy="1097280"/>
          </a:xfrm>
          <a:prstGeom prst="roundRect">
            <a:avLst>
              <a:gd name="adj" fmla="val 8333"/>
            </a:avLst>
          </a:prstGeom>
          <a:solidFill>
            <a:schemeClr val="accent5">
              <a:alpha val="10000"/>
            </a:schemeClr>
          </a:solidFill>
          <a:ln/>
        </p:spPr>
      </p:sp>
      <p:sp>
        <p:nvSpPr>
          <p:cNvPr id="31" name="box-text"/>
          <p:cNvSpPr txBox="1"/>
          <p:nvPr/>
        </p:nvSpPr>
        <p:spPr>
          <a:xfrm>
            <a:off x="749808" y="5111496"/>
            <a:ext cx="106893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chemeClr val="accent5"/>
                </a:solidFill>
              </a:rPr>
              <a:t>결정이 필요합니다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팀원 두 분의 셋업 일정, 그리고 각자 쓸 전용 테스트 페이지 주소(cdbd.in/editor/숫자). 공용 계정이라 사람마다 하나씩 필요합니다.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DBD Brand">
  <a:themeElements>
    <a:clrScheme name="CDBD Brand">
      <a:dk1>
        <a:srgbClr val="1D1D1F"/>
      </a:dk1>
      <a:lt1>
        <a:srgbClr val="FFFFFF"/>
      </a:lt1>
      <a:dk2>
        <a:srgbClr val="6E6E73"/>
      </a:dk2>
      <a:lt2>
        <a:srgbClr val="F5F5F7"/>
      </a:lt2>
      <a:accent1>
        <a:srgbClr val="6C4CFF"/>
      </a:accent1>
      <a:accent2>
        <a:srgbClr val="EEEAFB"/>
      </a:accent2>
      <a:accent3>
        <a:srgbClr val="1F8A4C"/>
      </a:accent3>
      <a:accent4>
        <a:srgbClr val="D9890F"/>
      </a:accent4>
      <a:accent5>
        <a:srgbClr val="C62F3A"/>
      </a:accent5>
      <a:accent6>
        <a:srgbClr val="9B7DFF"/>
      </a:accent6>
      <a:hlink>
        <a:srgbClr val="6C4CFF"/>
      </a:hlink>
      <a:folHlink>
        <a:srgbClr val="9B7DFF"/>
      </a:folHlink>
    </a:clrScheme>
    <a:fontScheme name="CDBD Brand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CdBd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CdBd 기능별 경로 가이드 — 결과 보고 · 팀원 셋업</dc:title>
  <dc:subject>PptxGenJS Presentation</dc:subject>
  <dc:creator>강현이 · Claude</dc:creator>
  <cp:lastModifiedBy>강현이 · Claude</cp:lastModifiedBy>
  <cp:revision>1</cp:revision>
  <dcterms:created xsi:type="dcterms:W3CDTF">2026-10-02T03:43:36Z</dcterms:created>
  <dcterms:modified xsi:type="dcterms:W3CDTF">2026-10-02T03:43:36Z</dcterms:modified>
</cp:coreProperties>
</file>