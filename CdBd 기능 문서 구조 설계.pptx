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1234440" cy="457200"/>
          </a:xfrm>
          <a:prstGeom prst="roundRect">
            <a:avLst>
              <a:gd name="adj" fmla="val 12000"/>
            </a:avLst>
          </a:prstGeom>
          <a:ln w="15875">
            <a:solidFill>
              <a:srgbClr val="1D1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583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5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19456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400" b="1" spc="-6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 기능 문서</a:t>
            </a:r>
            <a:endParaRPr lang="en-US" sz="4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4400" b="1" spc="-6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설계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9776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기능이 어느 볼트에 —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후보 3개 중 무엇을, 왜 고르나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6126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 볼트  ·  help@cdbd.in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766560" y="822960"/>
            <a:ext cx="4663440" cy="5212080"/>
          </a:xfrm>
          <a:prstGeom prst="roundRect">
            <a:avLst>
              <a:gd name="adj" fmla="val 3137"/>
            </a:avLst>
          </a:prstGeom>
          <a:solidFill>
            <a:srgbClr val="F5F5F7"/>
          </a:solidFill>
          <a:ln/>
        </p:spPr>
      </p:sp>
      <p:sp>
        <p:nvSpPr>
          <p:cNvPr id="8" name="Shape 6"/>
          <p:cNvSpPr/>
          <p:nvPr/>
        </p:nvSpPr>
        <p:spPr>
          <a:xfrm>
            <a:off x="8938260" y="1760220"/>
            <a:ext cx="1965960" cy="3794760"/>
          </a:xfrm>
          <a:prstGeom prst="roundRect">
            <a:avLst>
              <a:gd name="adj" fmla="val 12093"/>
            </a:avLst>
          </a:prstGeom>
          <a:solidFill>
            <a:srgbClr val="272729"/>
          </a:solidFill>
          <a:ln/>
          <a:effectLst>
            <a:outerShdw sx="100000" sy="100000" kx="0" ky="0" algn="bl" rotWithShape="0" blurRad="228600" dist="76200" dir="54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9029700" y="1879092"/>
            <a:ext cx="1783080" cy="3557016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9139428" y="2007108"/>
            <a:ext cx="1563624" cy="64008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/>
        </p:spPr>
      </p:sp>
      <p:sp>
        <p:nvSpPr>
          <p:cNvPr id="11" name="Shape 9"/>
          <p:cNvSpPr/>
          <p:nvPr/>
        </p:nvSpPr>
        <p:spPr>
          <a:xfrm>
            <a:off x="9139428" y="2793492"/>
            <a:ext cx="891540" cy="100584"/>
          </a:xfrm>
          <a:prstGeom prst="roundRect">
            <a:avLst>
              <a:gd name="adj" fmla="val 36364"/>
            </a:avLst>
          </a:prstGeom>
          <a:solidFill>
            <a:srgbClr val="1D1D1F"/>
          </a:solidFill>
          <a:ln/>
        </p:spPr>
      </p:sp>
      <p:sp>
        <p:nvSpPr>
          <p:cNvPr id="12" name="Shape 10"/>
          <p:cNvSpPr/>
          <p:nvPr/>
        </p:nvSpPr>
        <p:spPr>
          <a:xfrm>
            <a:off x="9139428" y="2976372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139428" y="3506724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22308" y="416509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15" name="Shape 13"/>
          <p:cNvSpPr/>
          <p:nvPr/>
        </p:nvSpPr>
        <p:spPr>
          <a:xfrm>
            <a:off x="7383780" y="1348740"/>
            <a:ext cx="1965960" cy="3794760"/>
          </a:xfrm>
          <a:prstGeom prst="roundRect">
            <a:avLst>
              <a:gd name="adj" fmla="val 12093"/>
            </a:avLst>
          </a:prstGeom>
          <a:solidFill>
            <a:srgbClr val="272729"/>
          </a:solidFill>
          <a:ln/>
          <a:effectLst>
            <a:outerShdw sx="100000" sy="100000" kx="0" ky="0" algn="bl" rotWithShape="0" blurRad="228600" dist="76200" dir="54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75220" y="1467612"/>
            <a:ext cx="1783080" cy="3557016"/>
          </a:xfrm>
          <a:prstGeom prst="roundRect">
            <a:avLst>
              <a:gd name="adj" fmla="val 8205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584948" y="1595628"/>
            <a:ext cx="1563624" cy="640080"/>
          </a:xfrm>
          <a:prstGeom prst="roundRect">
            <a:avLst>
              <a:gd name="adj" fmla="val 10000"/>
            </a:avLst>
          </a:prstGeom>
          <a:solidFill>
            <a:srgbClr val="EEEAFB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4948" y="2382012"/>
            <a:ext cx="891540" cy="100584"/>
          </a:xfrm>
          <a:prstGeom prst="roundRect">
            <a:avLst>
              <a:gd name="adj" fmla="val 36364"/>
            </a:avLst>
          </a:prstGeom>
          <a:solidFill>
            <a:srgbClr val="1D1D1F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4948" y="2564892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4948" y="3095244"/>
            <a:ext cx="1563624" cy="45720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67828" y="3753612"/>
            <a:ext cx="1197864" cy="310896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오늘 다루는 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전체 구조 파악 → 후보 3개 비교·선택 → 새 분류·경로 → 일정·영상.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spc="-4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633472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전체 파일구조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691640" y="303580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어느 CdBd 기능이 어느 볼트에 있나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77240" y="3438144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58444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spc="-4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35661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 후보 3개 — 무엇을, 왜 고르나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691640" y="396849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유지+목록 / 복제 모음집 / 기능 재구조화 → 1번 채택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77240" y="4370832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5171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spc="-4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498848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기능 분류 · 경로 문서 위치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691640" y="4901184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안의 에디터 · design 상위 폴더 계층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77240" y="5303520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44982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000" b="1" spc="-4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691640" y="5431536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제작 과정 · 소요 시간 · 영상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691640" y="583387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일정과, 영상이 필요한 기능·아카이빙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77240" y="6236208"/>
            <a:ext cx="1063721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① 전체 파일구조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01  현황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기능이 어느 볼트에 있나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상위 폴더 design/ 이 5개 볼트를 담고, 기능은 그 안에 흩어져 있습니다.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286000"/>
            <a:ext cx="10637215" cy="3401568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2487168"/>
            <a:ext cx="544982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design/   (허브 = 모든 볼트의 상위 폴더)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629400" y="2487168"/>
            <a:ext cx="447415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여기서 전체를 관리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88136" y="2756916"/>
            <a:ext cx="544982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cdbd-templates/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29400" y="2756916"/>
            <a:ext cx="447415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에디터 · 어드민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88136" y="3026664"/>
            <a:ext cx="544982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    ├─ 1-6-2. CdBd 카드 기능.md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29400" y="3026664"/>
            <a:ext cx="447415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15종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88136" y="3296412"/>
            <a:ext cx="544982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    ├─ 1-6-1. CdBd 에디터.md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629400" y="3296412"/>
            <a:ext cx="447415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에디터 구성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88136" y="3566160"/>
            <a:ext cx="544982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    └─ 1-7. 템플릿 상세 페이지.md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629400" y="3566160"/>
            <a:ext cx="447415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상세페이지·어드민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88136" y="3835908"/>
            <a:ext cx="544982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cdbd-design-service/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629400" y="3835908"/>
            <a:ext cx="447415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 · 이미지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88136" y="4105656"/>
            <a:ext cx="544982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    └─ 룩북/…/1-4. CdBd 콘텐츠.md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629400" y="4105656"/>
            <a:ext cx="447415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URL게시·Supabase·이미지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88136" y="4375404"/>
            <a:ext cx="544982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cdbd-design-system/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29400" y="4375404"/>
            <a:ext cx="447415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스펙 조회 (Figma)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88136" y="4645152"/>
            <a:ext cx="544982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    └─ 5-4. 카드 기획 가이드.md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629400" y="4645152"/>
            <a:ext cx="447415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치수·옵션 참조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88136" y="4914900"/>
            <a:ext cx="544982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cdbd-marketing/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629400" y="4914900"/>
            <a:ext cx="447415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마케팅 — CdBd 기능 아님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88136" y="5184648"/>
            <a:ext cx="5449824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└─ makevu-qrstp/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629400" y="5184648"/>
            <a:ext cx="4474159" cy="2697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별도 제품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77240" y="5797296"/>
            <a:ext cx="10637215" cy="45720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3272" y="579729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왜 흩어져 있나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2560320" y="5797296"/>
            <a:ext cx="8625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볼트는 ‘제작 도메인’ 축, 기능은 ‘고객’ 축 — 두 축은 원래 안 맞아 흩어짐이 정상. 그래서 재편이 아니라 목록으로 잇습니다.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구조 후보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구조 결정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후보는 셋 — 1번을 고릅니다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‘모든 기능을 다 아는 데 최적화된 구조’를 세 방식으로 놓고 비교합니다.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3362858" cy="3246120"/>
          </a:xfrm>
          <a:prstGeom prst="roundRect">
            <a:avLst>
              <a:gd name="adj" fmla="val 3944"/>
            </a:avLst>
          </a:prstGeom>
          <a:solidFill>
            <a:srgbClr val="EEEAFB"/>
          </a:solidFill>
          <a:ln w="19050">
            <a:solidFill>
              <a:srgbClr val="6C4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761488"/>
            <a:ext cx="457200" cy="457200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798064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2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유지 + 목록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9848" y="3447288"/>
            <a:ext cx="27776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볼트는 그대로.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허브에 목록 1개 추가.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69848" y="4270248"/>
            <a:ext cx="864921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9848" y="4270248"/>
            <a:ext cx="8649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볼트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026209" y="4270248"/>
            <a:ext cx="864921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26209" y="4270248"/>
            <a:ext cx="8649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볼트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982570" y="4270248"/>
            <a:ext cx="864921" cy="457200"/>
          </a:xfrm>
          <a:prstGeom prst="roundRect">
            <a:avLst>
              <a:gd name="adj" fmla="val 12000"/>
            </a:avLst>
          </a:prstGeom>
          <a:solidFill>
            <a:srgbClr val="6C4CFF"/>
          </a:solidFill>
          <a:ln w="12700">
            <a:solidFill>
              <a:srgbClr val="6C4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82570" y="4270248"/>
            <a:ext cx="8649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＋목록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069848" y="5129784"/>
            <a:ext cx="2777642" cy="402336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20" name="Text 18"/>
          <p:cNvSpPr/>
          <p:nvPr/>
        </p:nvSpPr>
        <p:spPr>
          <a:xfrm>
            <a:off x="1069848" y="5129784"/>
            <a:ext cx="27776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✓  채택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414418" y="2487168"/>
            <a:ext cx="336285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88738" y="2761488"/>
            <a:ext cx="457200" cy="457200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23" name="Text 21"/>
          <p:cNvSpPr/>
          <p:nvPr/>
        </p:nvSpPr>
        <p:spPr>
          <a:xfrm>
            <a:off x="4688738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37378" y="2798064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복제 모음집 추가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707026" y="3447288"/>
            <a:ext cx="27776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본문 복사본을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폴더에 모음.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707026" y="4270248"/>
            <a:ext cx="864921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7026" y="4270248"/>
            <a:ext cx="8649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볼트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663387" y="4270248"/>
            <a:ext cx="864921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3387" y="4270248"/>
            <a:ext cx="8649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볼트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19748" y="4270248"/>
            <a:ext cx="864921" cy="4572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19748" y="4270248"/>
            <a:ext cx="8649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＋복사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707026" y="5129784"/>
            <a:ext cx="2777642" cy="40233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33" name="Text 31"/>
          <p:cNvSpPr/>
          <p:nvPr/>
        </p:nvSpPr>
        <p:spPr>
          <a:xfrm>
            <a:off x="4707026" y="5129784"/>
            <a:ext cx="27776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✕  정답이 둘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8051597" y="2487168"/>
            <a:ext cx="3362858" cy="3246120"/>
          </a:xfrm>
          <a:prstGeom prst="roundRect">
            <a:avLst>
              <a:gd name="adj" fmla="val 394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25917" y="2761488"/>
            <a:ext cx="457200" cy="457200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36" name="Text 34"/>
          <p:cNvSpPr/>
          <p:nvPr/>
        </p:nvSpPr>
        <p:spPr>
          <a:xfrm>
            <a:off x="8325917" y="2761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874557" y="2798064"/>
            <a:ext cx="23570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기준 재구조화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344205" y="3447288"/>
            <a:ext cx="277764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볼트를 해체해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기능별로 재편.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344205" y="4270248"/>
            <a:ext cx="864921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4205" y="4270248"/>
            <a:ext cx="8649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에디터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9300566" y="4270248"/>
            <a:ext cx="864921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300566" y="4270248"/>
            <a:ext cx="8649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홈…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0256926" y="4270248"/>
            <a:ext cx="864921" cy="457200"/>
          </a:xfrm>
          <a:prstGeom prst="roundRect">
            <a:avLst>
              <a:gd name="adj" fmla="val 12000"/>
            </a:avLst>
          </a:prstGeom>
          <a:solidFill>
            <a:srgbClr val="1D1D1F"/>
          </a:solidFill>
          <a:ln w="12700">
            <a:solidFill>
              <a:srgbClr val="1D1D1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0256926" y="4270248"/>
            <a:ext cx="8649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재편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344205" y="5129784"/>
            <a:ext cx="2777642" cy="40233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46" name="Text 44"/>
          <p:cNvSpPr/>
          <p:nvPr/>
        </p:nvSpPr>
        <p:spPr>
          <a:xfrm>
            <a:off x="8344205" y="5129784"/>
            <a:ext cx="27776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✕  맥락 붕괴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후보 2 — 왜 안 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구조 결정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복제 모음집: ‘정답이 둘’이 된다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모음집을 넣으면 구조는 이렇게 되고 — 갈라짐은 곧 정답이 둘이 되는 문제입니다.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50292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 — 모음집을 넣으면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01752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design/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3328416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기능 모음집/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023360" y="3328416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← 새로 추가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3639312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    ├─ 카드 기능.md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23360" y="3639312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복사본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950208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    └─ URL 게시.md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023360" y="3950208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복사본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4261104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cdbd-templates/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023360" y="426110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51560" y="4572000"/>
            <a:ext cx="2880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└─ cdbd-design-service/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023360" y="457200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508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정보가 서로 달라지나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6355080" y="2971800"/>
            <a:ext cx="274320" cy="274320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23" name="Text 21"/>
          <p:cNvSpPr/>
          <p:nvPr/>
        </p:nvSpPr>
        <p:spPr>
          <a:xfrm>
            <a:off x="635508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57416" y="2944368"/>
            <a:ext cx="4672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원본 문서를 수정한다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355080" y="3483864"/>
            <a:ext cx="274320" cy="274320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26" name="Text 24"/>
          <p:cNvSpPr/>
          <p:nvPr/>
        </p:nvSpPr>
        <p:spPr>
          <a:xfrm>
            <a:off x="6355080" y="34838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57416" y="3456432"/>
            <a:ext cx="4672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모음집 복사본도 매번 똑같이 다시 고쳐야 한다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3995928"/>
            <a:ext cx="274320" cy="274320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29" name="Text 27"/>
          <p:cNvSpPr/>
          <p:nvPr/>
        </p:nvSpPr>
        <p:spPr>
          <a:xfrm>
            <a:off x="6355080" y="3995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57416" y="3968496"/>
            <a:ext cx="4672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번이라도 빠뜨리면 두 문서가 서로 달라진다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55080" y="4507992"/>
            <a:ext cx="274320" cy="274320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32" name="Text 30"/>
          <p:cNvSpPr/>
          <p:nvPr/>
        </p:nvSpPr>
        <p:spPr>
          <a:xfrm>
            <a:off x="6355080" y="4507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757416" y="4480560"/>
            <a:ext cx="46725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결국 어느 게 맞는지 아무도 모른다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7240" y="5650992"/>
            <a:ext cx="10637215" cy="502920"/>
          </a:xfrm>
          <a:prstGeom prst="roundRect">
            <a:avLst>
              <a:gd name="adj" fmla="val 18182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33272" y="5650992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사례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148840" y="5650992"/>
            <a:ext cx="90827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브랜드 그린이 #3DF69B(정본) ↔ #4DE98B(복사본)로 두 달간 갈라졌고, 마케팅 14곳이 잘못된 값을 정답으로 삼았습니다. → ‘갈라짐’은 별개 문제가 아니라 ‘정답이 둘’의 결과입니다.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후보 3 — 왜 안 되나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구조 결정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 재구조화: 실행 맥락이 무너진다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볼트를 해체해 기능별로 재편하면 구조는 이렇게 되고 — 잃는 게 큽니다.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50292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구조 — 기능별로 재편하면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0632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design/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3392424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에디터/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794760" y="33924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카드·게시·이미지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3721608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홈페이지/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794760" y="372160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통계·계정·요금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0507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└─ (templates·service·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051560" y="4379976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     system 해체)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794760" y="437997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원래 볼트 사라짐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안 되나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35508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8620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실행 자산과 분리된다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1546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스킬·워크플로우가 볼트에 묶여 있어 참조가 깨짐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55080" y="3566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5478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권한·용량 경계가 무너진다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3840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 자료(private)·517MB가 뒤섞임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355080" y="4251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675120" y="42336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볼트 간 링크가 깨진다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45262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게다가 2026-05에 반대로 결정한 사안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4937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49194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makevu는 아예 다른 제품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52120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축으로 묶을 수 없음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후보 1 — 채택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02  구조 결정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유지 + 목록 하나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볼트 구조는 그대로 두고, 창고(복사본)가 아니라 목록(주소)으로 모읍니다.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468880"/>
            <a:ext cx="5029200" cy="3063240"/>
          </a:xfrm>
          <a:prstGeom prst="roundRect">
            <a:avLst>
              <a:gd name="adj" fmla="val 4179"/>
            </a:avLst>
          </a:prstGeom>
          <a:solidFill>
            <a:srgbClr val="EEEAFB"/>
          </a:solidFill>
          <a:ln w="19050">
            <a:solidFill>
              <a:srgbClr val="6C4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651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 — 그대로 + 목록 1개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30632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design/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3392424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CdBd 기능 목록 상세.md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8620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목록(추가)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51560" y="372160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cdbd-templates/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886200" y="37216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그대로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4050792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    └─ _기능별 경로 가이드.md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886200" y="405079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@import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4379976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└─ cdbd-design-service/ …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886200" y="437997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그대로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4688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왜 1번인가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55080" y="2926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29077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안 갈라진다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75120" y="32186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목록은 내용이 아니라 주소만 담아 정답이 하나로 유지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5508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675120" y="3749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실행 맥락을 지킨다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75120" y="40599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기능이 스킬·도구 옆에 그대로 있어 바로 작동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46085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75120" y="459028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어디서나 강제 로드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75120" y="4901184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@import + (나중에) 플러그인으로 발견 보장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새 기능 분류 (고객 관점)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분류·경로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안에 에디터가 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홈·내 페이지·내 계정은 구조(nav) · 기능은 내 페이지·내 계정·에디터에. 상태는 작동 방식 유무.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8470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상태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280160" y="184708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C4C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●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508760" y="1847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작동 방식까지 있음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886200" y="1847088"/>
            <a:ext cx="228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114800" y="184708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스펙(생김새)은 있으나 작동 방식 추가 필요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889504" y="2286000"/>
            <a:ext cx="6400800" cy="54864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 w="19050">
            <a:solidFill>
              <a:srgbClr val="6C4C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89504" y="22860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홈페이지 (cdbd.in) — nav: 홈 · 내 페이지 · 내 계정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089904" y="2834640"/>
            <a:ext cx="0" cy="18288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58669" y="3017520"/>
            <a:ext cx="7274357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58669" y="3017520"/>
            <a:ext cx="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3017520"/>
            <a:ext cx="3362858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33272" y="3200400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페이지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1033272" y="3675888"/>
            <a:ext cx="285079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38404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◐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89304" y="3840480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공유 · 복제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51560" y="40873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◐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289304" y="4087368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페이지 만들기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43342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◐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289304" y="4334256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페이지 통계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45811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89304" y="4581144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버전 관리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51560" y="48280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◐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289304" y="4828032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주소 · 비밀번호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051560" y="5074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◐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289304" y="5074920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관리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095848" y="3017520"/>
            <a:ext cx="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414418" y="3017520"/>
            <a:ext cx="3362858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70450" y="3200400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계정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670450" y="3675888"/>
            <a:ext cx="285079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88738" y="38404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◐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926482" y="3840480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요금 · 결제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688738" y="40873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◐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926482" y="4087368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 관리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688738" y="43342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◐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926482" y="4334256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주소 설정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688738" y="45811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◐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926482" y="4581144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가입 · 로그인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733026" y="3017520"/>
            <a:ext cx="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051597" y="3017520"/>
            <a:ext cx="3362858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07629" y="3200400"/>
            <a:ext cx="290565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0" kern="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에디터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9311335" y="3236976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내 페이지에서 진입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307629" y="3675888"/>
            <a:ext cx="285079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325917" y="384048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●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8563661" y="3840480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15종 (+상품·코드)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325917" y="408736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●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563661" y="4087368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자동화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325917" y="4334256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●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563661" y="4334256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구성·테마·꾸미기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325917" y="4581144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◐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563661" y="4581144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멀티페이지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325917" y="482803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●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563661" y="4828032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이미지 라이브러리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325917" y="5074920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●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563661" y="5074920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게시 (URL · OG)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325917" y="5321808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◐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563661" y="5321808"/>
            <a:ext cx="26313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연결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77240" y="5742432"/>
            <a:ext cx="10637215" cy="45720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33272" y="57424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1874520" y="5742432"/>
            <a:ext cx="9357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홈은 진입 화면(구조)이라 기능 없음. 내 페이지·내 계정은 전부 ◐(스펙만) → 작동 방식은 영상으로. 에디터는 대부분 ●.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기능 경로 문서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분류·경로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어디에 · 어떤 구조로 두나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허브 design/ 이 상위 폴더 — 목록은 맨 위 1장, 경로 문서는 각 볼트 안에 1장씩.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621792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578608"/>
            <a:ext cx="35935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design/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754880" y="2578608"/>
            <a:ext cx="2167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허브 = 최상위 폴더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69848" y="2866644"/>
            <a:ext cx="35935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CdBd 기능 목록 상세.md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54880" y="2866644"/>
            <a:ext cx="2167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전체 목록 (여기 1장)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69848" y="3154680"/>
            <a:ext cx="35935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69848" y="3442716"/>
            <a:ext cx="35935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cdbd-templates/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54880" y="3442716"/>
            <a:ext cx="2167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볼트 (하위 폴더)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69848" y="3730752"/>
            <a:ext cx="35935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    ├─ CLAUDE.md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754880" y="3730752"/>
            <a:ext cx="2167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@_기능별 경로 가이드.md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69848" y="4018788"/>
            <a:ext cx="35935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│    ├─ _기능별 경로 가이드.md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754880" y="4018788"/>
            <a:ext cx="2167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이 볼트 경로 문서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69848" y="4306824"/>
            <a:ext cx="35935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    └─ 1. 작업 가이드/ …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754880" y="4306824"/>
            <a:ext cx="2167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정본 파일들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69848" y="4594860"/>
            <a:ext cx="35935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E5E7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1069848" y="4882896"/>
            <a:ext cx="35935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cdbd-design-service/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069848" y="5170932"/>
            <a:ext cx="35935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│    └─ _기능별 경로 가이드.md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54880" y="5170932"/>
            <a:ext cx="2167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볼트마다 하나씩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69848" y="5458968"/>
            <a:ext cx="3593592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└─ design-system · marketing · makevu …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754880" y="5458968"/>
            <a:ext cx="2167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동일 패턴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2377440"/>
            <a:ext cx="4053535" cy="1664208"/>
          </a:xfrm>
          <a:prstGeom prst="roundRect">
            <a:avLst>
              <a:gd name="adj" fmla="val 6593"/>
            </a:avLst>
          </a:prstGeom>
          <a:solidFill>
            <a:srgbClr val="EEEAFB"/>
          </a:solidFill>
          <a:ln w="15875">
            <a:solidFill>
              <a:srgbClr val="6C4C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16952" y="2560320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허브 목록 — 왜 design에?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616952" y="2889504"/>
            <a:ext cx="3541471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design은 모든 볼트의 상위 폴더 — 볼트를 가로지르는 목록은 여기에만 둘 수 있습니다. 한 볼트에 넣으면 다른 볼트에선 안 보입니다.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60920" y="4224528"/>
            <a:ext cx="4053535" cy="1719072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16952" y="4407408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② 볼트 경로 문서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616952" y="4754880"/>
            <a:ext cx="354147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CLAUDE.md가 @import로 강제 로드 → 그 볼트를 켜면 Claude가 기능→파일을 다 압니다.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③ 볼트 연결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분류·경로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볼트 연결 구조 — 3층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볼트끼리 직접 링크는 작동 안 함. 역할이 다른 3층으로 잇습니다.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395728"/>
            <a:ext cx="10637215" cy="749808"/>
          </a:xfrm>
          <a:prstGeom prst="roundRect">
            <a:avLst>
              <a:gd name="adj" fmla="val 14634"/>
            </a:avLst>
          </a:prstGeom>
          <a:solidFill>
            <a:srgbClr val="EEEAFB"/>
          </a:solidFill>
          <a:ln w="19050">
            <a:solidFill>
              <a:srgbClr val="6C4C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2587752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25877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103120" y="239572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2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플러그인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395728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어느 볼트·맨 바깥에서 켜도 전체를 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28455" y="2615184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14" name="Text 12"/>
          <p:cNvSpPr/>
          <p:nvPr/>
        </p:nvSpPr>
        <p:spPr>
          <a:xfrm>
            <a:off x="9128455" y="261518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Claude · 위치 무관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273552"/>
            <a:ext cx="10637215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3465576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17" name="Text 15"/>
          <p:cNvSpPr/>
          <p:nvPr/>
        </p:nvSpPr>
        <p:spPr>
          <a:xfrm>
            <a:off x="1051560" y="346557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103120" y="327355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볼트별 @import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0" y="3273552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볼트를 켜면 그 볼트를 다 앎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28455" y="3493008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28455" y="3493008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Claude · 볼트 안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7240" y="4151376"/>
            <a:ext cx="10637215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4343400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6C4C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51560" y="434340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415137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허브 목록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4572000" y="4151376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전체를 한 장으로 봄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28455" y="4370832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28" name="Text 26"/>
          <p:cNvSpPr/>
          <p:nvPr/>
        </p:nvSpPr>
        <p:spPr>
          <a:xfrm>
            <a:off x="9128455" y="4370832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사람 · 조망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77240" y="5029200"/>
            <a:ext cx="10637215" cy="749808"/>
          </a:xfrm>
          <a:prstGeom prst="roundRect">
            <a:avLst>
              <a:gd name="adj" fmla="val 14634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51560" y="5221224"/>
            <a:ext cx="822960" cy="365760"/>
          </a:xfrm>
          <a:prstGeom prst="roundRect">
            <a:avLst>
              <a:gd name="adj" fmla="val 50000"/>
            </a:avLst>
          </a:prstGeom>
          <a:solidFill>
            <a:srgbClr val="6E6E73"/>
          </a:solidFill>
          <a:ln/>
        </p:spPr>
      </p:sp>
      <p:sp>
        <p:nvSpPr>
          <p:cNvPr id="31" name="Text 29"/>
          <p:cNvSpPr/>
          <p:nvPr/>
        </p:nvSpPr>
        <p:spPr>
          <a:xfrm>
            <a:off x="1051560" y="522122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0층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103120" y="502920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spc="-20" kern="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볼트끼리 직접 링크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572000" y="5029200"/>
            <a:ext cx="4297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✕ 작동 안 함 — 그래서 위 3층이 필요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목록 파일이 하는 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분류·경로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 기능 목록 상세.md 란?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고객이 쓰는 기준(내 페이지·내 계정·에디터)으로 묶음. 홈은 구조. 상태는 작동 방식 유무.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76295" y="1847088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● 작동 방식까지  ◐ 스펙만·작동 방식 추가 필요   ·   [T] templates  [SV] design-service  [DS] design-system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Ⓔ 에디터  (내 페이지에서 진입)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578608"/>
            <a:ext cx="5074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카드 15종 (+상품·코드)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971800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●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429000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4-3~17 · [T] 1-6-2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77240" y="2935224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5351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카드 자동화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71800" y="29535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●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29000" y="295351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3-2-3 · [T] skills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7240" y="3236976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25526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구성·테마·꾸미기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71800" y="32552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●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429000" y="325526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3-2-4 · [T] 1-6-1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3538728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5570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멀티페이지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971800" y="35570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◐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429000" y="35570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3-2-5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77240" y="3840480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38587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이미지 라이브러리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971800" y="38587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●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429000" y="38587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[SV] CLAUDE §이미지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7240" y="4142232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160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게시 (URL · OG)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71800" y="4160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●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429000" y="4160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[SV] 1-4 §게시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7240" y="4443984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46227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데이터 연결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971800" y="446227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◐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429000" y="446227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3-10 §에디터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36792" y="22860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Ⓝ 내 페이지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6336792" y="2578608"/>
            <a:ext cx="5074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36792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공유 · 복제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531352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◐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988552" y="26517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3-9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336792" y="2926080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294436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새 페이지 만들기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531352" y="29443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◐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988552" y="294436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3-14 · [T] 1-1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36792" y="3218688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36792" y="323697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페이지 통계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531352" y="323697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◐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988552" y="323697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3-11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336792" y="3511296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36792" y="352958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버전 관리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531352" y="35295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◐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8988552" y="352958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3-15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336792" y="3803904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36792" y="382219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주소 · 비밀번호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8531352" y="38221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◐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988552" y="3822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3-5 · [SV] 1-4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6336792" y="4096512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36792" y="41148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데이터 관리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8531352" y="4114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◐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988552" y="41148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3-10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336792" y="443484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Ⓒ 내 계정</a:t>
            </a:r>
            <a:endParaRPr lang="en-US" sz="1250" dirty="0"/>
          </a:p>
        </p:txBody>
      </p:sp>
      <p:sp>
        <p:nvSpPr>
          <p:cNvPr id="64" name="Shape 62"/>
          <p:cNvSpPr/>
          <p:nvPr/>
        </p:nvSpPr>
        <p:spPr>
          <a:xfrm>
            <a:off x="6336792" y="4727448"/>
            <a:ext cx="5074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336792" y="4800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요금 · 결제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531352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◐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8988552" y="48006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3-8 §크레딧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6336792" y="5074920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336792" y="509320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권한 관리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8531352" y="50932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◐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8988552" y="5093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3-13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6336792" y="5367528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36792" y="538581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내 주소 설정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8531352" y="5385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◐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988552" y="53858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3-5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336792" y="5660136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336792" y="567842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가입 · 로그인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8531352" y="56784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◐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8988552" y="56784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[DS] 3-6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예시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03  분류·경로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예시 — cdbd-templates 볼트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볼트에 어떤 CdBd 기능이 있고, 각각 어느 파일에 있는지 이렇게 적습니다.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49377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7860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cdbd-templates/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290779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├─ CLAUDE.md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0" y="290779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@경로 가이드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51560" y="323697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_기능별 경로 가이드.md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323697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오른쪽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51560" y="356616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.claude/skills/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51560" y="3895344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   └─ cdbd-card-automation/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840480" y="3895344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자동화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51560" y="4224528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└─ 1. 작업 가이드/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51560" y="4553712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  ├─ 1-6-2. CdBd 카드 기능.md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0" y="4553712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15종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51560" y="4882896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  ├─ 1-6-1. CdBd 에디터.md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4882896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구성·꾸미기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51560" y="5212080"/>
            <a:ext cx="2697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  └─ 1-1. 워크플로우.md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521208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생성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989320" y="2377440"/>
            <a:ext cx="5425135" cy="3611880"/>
          </a:xfrm>
          <a:prstGeom prst="roundRect">
            <a:avLst>
              <a:gd name="adj" fmla="val 3038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63640" y="2560320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_기능별 경로 가이드.md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63640" y="2871216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볼트에 있는 CdBd 기능 → 어느 파일에 있나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63640" y="3246120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카드 기능 15종  (상품·예약·유튜브·SNS…)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91656" y="3474720"/>
            <a:ext cx="47484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1-6-2. CdBd 카드 기능.md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63640" y="3794760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페이지 추가  (템플릿에서 생성)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391656" y="4023360"/>
            <a:ext cx="47484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1-1. 워크플로우.md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63640" y="4343400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페이지 구성·꾸미기  (테마·배경·여백)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391656" y="4572000"/>
            <a:ext cx="47484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1-6-1. CdBd 에디터.md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63640" y="4892040"/>
            <a:ext cx="48764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카드 자동화  (순서·핀·복제·삭제)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6391656" y="5120640"/>
            <a:ext cx="474847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.claude/skills/cdbd-card-automation/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63640" y="562356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＊ 시안·프리셋·팔레트 = Figma 제작 · 상세페이지 = 어드민 → 같은 파일에 구분해 따로 담습니다.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제작 과정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제작·일정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제작 과정 — 무엇부터, 어떻게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 볼트(templates)로 파일럿 → 검증되면 확산 → 마지막에 플러그인.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3362858" cy="3063240"/>
          </a:xfrm>
          <a:prstGeom prst="roundRect">
            <a:avLst>
              <a:gd name="adj" fmla="val 4179"/>
            </a:avLst>
          </a:prstGeom>
          <a:solidFill>
            <a:srgbClr val="EEEAFB"/>
          </a:solidFill>
          <a:ln w="19050">
            <a:solidFill>
              <a:srgbClr val="6C4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33272" y="2752344"/>
            <a:ext cx="285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파일럿 (한 볼트)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33272" y="309981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11" name="Text 9"/>
          <p:cNvSpPr/>
          <p:nvPr/>
        </p:nvSpPr>
        <p:spPr>
          <a:xfrm>
            <a:off x="1033272" y="30998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≈ 1일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585618" y="3118104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▶ 여기부터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033272" y="3538728"/>
            <a:ext cx="285079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33272" y="3703320"/>
            <a:ext cx="237744" cy="23774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15" name="Text 13"/>
          <p:cNvSpPr/>
          <p:nvPr/>
        </p:nvSpPr>
        <p:spPr>
          <a:xfrm>
            <a:off x="1033272" y="3703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44168" y="3675888"/>
            <a:ext cx="257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대분류 4갈래 확정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33272" y="4087368"/>
            <a:ext cx="237744" cy="23774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18" name="Text 16"/>
          <p:cNvSpPr/>
          <p:nvPr/>
        </p:nvSpPr>
        <p:spPr>
          <a:xfrm>
            <a:off x="1033272" y="4087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344168" y="4059936"/>
            <a:ext cx="257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마스터 목록 작성 (기능→파일)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033272" y="4471416"/>
            <a:ext cx="237744" cy="23774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21" name="Text 19"/>
          <p:cNvSpPr/>
          <p:nvPr/>
        </p:nvSpPr>
        <p:spPr>
          <a:xfrm>
            <a:off x="1033272" y="4471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344168" y="4443984"/>
            <a:ext cx="257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templates 경로 가이드 작성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33272" y="4855464"/>
            <a:ext cx="237744" cy="23774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33272" y="485546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344168" y="4828032"/>
            <a:ext cx="257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CLAUDE.md @import 연결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33272" y="5239512"/>
            <a:ext cx="237744" cy="23774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33272" y="52395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344168" y="5212080"/>
            <a:ext cx="257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— “상품 카드 넣어줘”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49242" y="39090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14418" y="2514600"/>
            <a:ext cx="3362858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70450" y="2752344"/>
            <a:ext cx="285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확산 (나머지 4볼트)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670450" y="309981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33" name="Text 31"/>
          <p:cNvSpPr/>
          <p:nvPr/>
        </p:nvSpPr>
        <p:spPr>
          <a:xfrm>
            <a:off x="4670450" y="30998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≈ 2~3일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70450" y="3538728"/>
            <a:ext cx="285079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70450" y="3703320"/>
            <a:ext cx="237744" cy="23774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36" name="Text 34"/>
          <p:cNvSpPr/>
          <p:nvPr/>
        </p:nvSpPr>
        <p:spPr>
          <a:xfrm>
            <a:off x="4670450" y="3703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981346" y="3675888"/>
            <a:ext cx="257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볼트별 경로 가이드 복제·작성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70450" y="4087368"/>
            <a:ext cx="237744" cy="23774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39" name="Text 37"/>
          <p:cNvSpPr/>
          <p:nvPr/>
        </p:nvSpPr>
        <p:spPr>
          <a:xfrm>
            <a:off x="4670450" y="4087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981346" y="4059936"/>
            <a:ext cx="257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볼트별 검증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86421" y="39090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8051597" y="2514600"/>
            <a:ext cx="3362858" cy="3063240"/>
          </a:xfrm>
          <a:prstGeom prst="roundRect">
            <a:avLst>
              <a:gd name="adj" fmla="val 41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07629" y="2752344"/>
            <a:ext cx="2850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spc="-2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③ 플러그인 (전역)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307629" y="3099816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F5F5F7"/>
          </a:solidFill>
          <a:ln/>
        </p:spPr>
      </p:sp>
      <p:sp>
        <p:nvSpPr>
          <p:cNvPr id="45" name="Text 43"/>
          <p:cNvSpPr/>
          <p:nvPr/>
        </p:nvSpPr>
        <p:spPr>
          <a:xfrm>
            <a:off x="8307629" y="30998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이후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307629" y="3538728"/>
            <a:ext cx="2850794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07629" y="3703320"/>
            <a:ext cx="237744" cy="23774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48" name="Text 46"/>
          <p:cNvSpPr/>
          <p:nvPr/>
        </p:nvSpPr>
        <p:spPr>
          <a:xfrm>
            <a:off x="8307629" y="370332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8618525" y="3675888"/>
            <a:ext cx="257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→ 통합 가이드 병합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307629" y="4087368"/>
            <a:ext cx="237744" cy="23774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51" name="Text 49"/>
          <p:cNvSpPr/>
          <p:nvPr/>
        </p:nvSpPr>
        <p:spPr>
          <a:xfrm>
            <a:off x="8307629" y="40873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618525" y="4059936"/>
            <a:ext cx="257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cdbd-plugin 배포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307629" y="4471416"/>
            <a:ext cx="237744" cy="23774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54" name="Text 52"/>
          <p:cNvSpPr/>
          <p:nvPr/>
        </p:nvSpPr>
        <p:spPr>
          <a:xfrm>
            <a:off x="8307629" y="447141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618525" y="4443984"/>
            <a:ext cx="25764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 컴퓨터 설치·검증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77240" y="5742432"/>
            <a:ext cx="10637215" cy="457200"/>
          </a:xfrm>
          <a:prstGeom prst="roundRect">
            <a:avLst>
              <a:gd name="adj" fmla="val 20000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33272" y="5742432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원칙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1783080" y="5742432"/>
            <a:ext cx="9448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Phase 1을 한 볼트로 완성·검증하기 전엔 확산 금지 — 실패를 한 볼트에 가둡니다.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⑤ 플러그인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제작·일정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파일 구조만으론 남는 게 있다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목록+경로 문서는 ‘그 볼트 안’ 발견을 보장합니다. 볼트 경계를 넘는 건 플러그인 몫.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5120640" cy="2697480"/>
          </a:xfrm>
          <a:prstGeom prst="roundRect">
            <a:avLst>
              <a:gd name="adj" fmla="val 474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2743200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 구조가 하는 일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88136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35608" y="32186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볼트를 켜면 그 볼트 기능을 다 앎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88136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35608" y="372160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@import로 매 세션 강제 로드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88136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35608" y="42245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사람이 허브 목록으로 전체를 봄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88136" y="4745736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단, ‘그 볼트를 켰을 때’ 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09360" y="2487168"/>
            <a:ext cx="5120640" cy="2697480"/>
          </a:xfrm>
          <a:prstGeom prst="roundRect">
            <a:avLst>
              <a:gd name="adj" fmla="val 4746"/>
            </a:avLst>
          </a:prstGeom>
          <a:solidFill>
            <a:srgbClr val="EEEAFB"/>
          </a:solidFill>
          <a:ln w="19050">
            <a:solidFill>
              <a:srgbClr val="6C4C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0256" y="2743200"/>
            <a:ext cx="44988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플러그인이 더 하는 일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620256" y="3236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967728" y="321868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어느 볼트·맨 바깥에서 켜도 로드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967728" y="345643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위치에 안 묶임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20256" y="3739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7728" y="37216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마켓플레이스에서 자동 최신화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967728" y="395935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수동 설치 X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20256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67728" y="422452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볼트를 넘는 라우팅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67728" y="44622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다른 볼트 기능의 위치까지 안내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548640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파일 구조 = 볼트 내부용 · 플러그인 = 볼트 경계를 넘는 발견용 — 대체재가 아니라 보완재.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77240" y="5806440"/>
            <a:ext cx="10637215" cy="384048"/>
          </a:xfrm>
          <a:prstGeom prst="roundRect">
            <a:avLst>
              <a:gd name="adj" fmla="val 23810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3272" y="5806440"/>
            <a:ext cx="101800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555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팀원 설치는 한 줄:  /plugin marketplace add CdBd-in/cdbd-plugin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⑤ 플러그인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제작·일정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플러그인이 담는 건 ‘통합 기능 경로 가이드’ 하나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5개 볼트의 경로 가이드를 하나로 합친 파일 — 이게 하는 역할은 셋입니다.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493776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78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플러그인이 담는 것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51560" y="2999232"/>
            <a:ext cx="4389120" cy="530352"/>
          </a:xfrm>
          <a:prstGeom prst="roundRect">
            <a:avLst>
              <a:gd name="adj" fmla="val 17241"/>
            </a:avLst>
          </a:prstGeom>
          <a:solidFill>
            <a:srgbClr val="EEEAFB"/>
          </a:solidFill>
          <a:ln w="15875">
            <a:solidFill>
              <a:srgbClr val="6C4C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999232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기능 경로 가이드 (.md 한 장)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36758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= 5개 볼트의 _기능별 경로 가이드를 하나로 합침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051560" y="404164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041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555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templates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20240" y="404164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4041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555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service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88920" y="404164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88920" y="4041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555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system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7600" y="404164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4041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555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marketing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526280" y="4041648"/>
            <a:ext cx="822960" cy="292608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26280" y="404164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55555A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qrstp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051560" y="46817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이건 플러그인이 아님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51560" y="4956048"/>
            <a:ext cx="4389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브랜드 토큰 · Figma MCP → Figma 작업용 도구</a:t>
            </a:r>
            <a:endParaRPr lang="en-US" sz="10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· 로그인 정보 → 비밀이라 각자 로컬(~/.config)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2377440"/>
            <a:ext cx="5425135" cy="3611880"/>
          </a:xfrm>
          <a:prstGeom prst="roundRect">
            <a:avLst>
              <a:gd name="adj" fmla="val 3038"/>
            </a:avLst>
          </a:prstGeom>
          <a:solidFill>
            <a:srgbClr val="F5F5F7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578608"/>
            <a:ext cx="48764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가이드가 하는 일 (역할)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63640" y="3081528"/>
            <a:ext cx="365760" cy="365760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28" name="Text 26"/>
          <p:cNvSpPr/>
          <p:nvPr/>
        </p:nvSpPr>
        <p:spPr>
          <a:xfrm>
            <a:off x="6263640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766560" y="306324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위치 무관 발견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766560" y="3364992"/>
            <a:ext cx="4373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볼트별 가이드는 그 볼트를 켰을 때만. 통합 가이드는 어느 볼트·맨 바깥에서 켜도 전 CdBd 기능을 안다.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4041648"/>
            <a:ext cx="365760" cy="365760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32" name="Text 30"/>
          <p:cNvSpPr/>
          <p:nvPr/>
        </p:nvSpPr>
        <p:spPr>
          <a:xfrm>
            <a:off x="6263640" y="4041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402336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볼트를 넘는 라우팅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766560" y="4325112"/>
            <a:ext cx="4373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templates에서 “URL 게시해줘” → “그건 design-service 1-4에 있다”고 안내. 볼트 경계를 알아서 넘는다.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263640" y="5001768"/>
            <a:ext cx="365760" cy="365760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36" name="Text 34"/>
          <p:cNvSpPr/>
          <p:nvPr/>
        </p:nvSpPr>
        <p:spPr>
          <a:xfrm>
            <a:off x="6263640" y="5001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766560" y="4983480"/>
            <a:ext cx="4419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한 번 고치면 전원 최신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766560" y="5285232"/>
            <a:ext cx="4373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push하면 마켓플레이스로 팀 전원에 자동 반영. 볼트마다 손댈 필요 없다.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⑤ 플러그인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제작·일정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통합 기능 경로 가이드 — 내용은 이렇게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10p 분류 그대로 · CdBd 기능만 (홈은 구조라 제외). 3개 볼트에 흩어진 걸 한 파일에.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70855" y="184708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[T] templates  [SV] design-service  [DS] design-system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Ⓔ 에디터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2615184"/>
            <a:ext cx="5074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70662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카드 15종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788920" y="27066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[T] 1-6-2 · [DS] 4-x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77240" y="3072384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09067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카드 자동화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88920" y="309067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3-2-3 · [T] skills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240" y="3456432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47472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구성·테마·꾸미기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788920" y="34747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3-2-4 · [T] 1-6-1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77240" y="3840480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85876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멀티페이지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88920" y="385876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3-2-5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77240" y="4224528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24281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이미지 라이브러리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788920" y="424281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[SV] CLAUDE §이미지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77240" y="4608576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" y="462686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게시 (URL · OG)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88920" y="462686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[SV] 1-4 §게시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777240" y="4992624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0109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연결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788920" y="501091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3-10 §에디터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336792" y="2286000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Ⓝ 내 페이지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336792" y="2615184"/>
            <a:ext cx="5074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36792" y="270662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공유 · 복제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348472" y="27066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3-9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336792" y="2999232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36792" y="3017520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새 페이지 만들기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348472" y="3017520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3-14 · [T] 1-1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36792" y="3310128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36792" y="332841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페이지 통계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348472" y="332841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3-11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336792" y="3621024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363931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버전 관리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348472" y="363931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3-15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336792" y="3931920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36792" y="395020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주소 · 비밀번호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348472" y="395020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3-5 · [SV] 1-4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336792" y="4242816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36792" y="426110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데이터 관리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348472" y="426110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3-10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336792" y="4553712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Ⓒ 내 계정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6336792" y="4882896"/>
            <a:ext cx="507492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36792" y="497433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요금 · 결제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8348472" y="4974336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3-8 §크레딧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6336792" y="5266944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36792" y="528523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권한 관리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8348472" y="5285232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3-13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336792" y="5577840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336792" y="559612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내 주소 설정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8348472" y="5596128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3-5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6336792" y="5888736"/>
            <a:ext cx="5074920" cy="0"/>
          </a:xfrm>
          <a:prstGeom prst="line">
            <a:avLst/>
          </a:prstGeom>
          <a:noFill/>
          <a:ln w="6350">
            <a:solidFill>
              <a:srgbClr val="F0F0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36792" y="590702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가입 · 로그인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348472" y="5907024"/>
            <a:ext cx="3063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 [DS] 3-6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⑤ 플러그인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제작·일정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플러그인 제작 후 — 전체 구조와 갱신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저장소 1개(cdbd-plugin)만 추가 · 볼트는 그대로. 가이드가 바뀌면 재생성해 push.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377440"/>
            <a:ext cx="612648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578608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GitHub/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051560" y="2862072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├─ cdbd-plugin/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937760" y="286207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신규 저장소 1개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3145536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C4C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    └─ 통합 기능 경로 가이드.md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37760" y="314553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합본(파생본)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3429000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E5E7EB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│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51560" y="3712464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└─ design/  (허브 · 그대로)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051560" y="3995928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   ├─ CdBd 기능 목록 상세.md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37760" y="3995928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마스터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4279392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   ├─ cdbd-templates/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37760" y="4279392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_경로 가이드 ①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51560" y="4562856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   ├─ cdbd-design-service/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37760" y="4562856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_경로 가이드 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" y="4846320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   ├─ cdbd-design-system/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4846320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_경로 가이드 ③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51560" y="5129784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   ├─ cdbd-marketing/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937760" y="5129784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_경로 가이드 ④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51560" y="5413248"/>
            <a:ext cx="37947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     └─ makevu-qrstp/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5413248"/>
            <a:ext cx="17830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_경로 가이드 ⑤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2395728"/>
            <a:ext cx="43735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갱신 흐름 — 한 볼트가 바뀌면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040880" y="2788920"/>
            <a:ext cx="4373575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187184" y="2889504"/>
            <a:ext cx="329184" cy="32918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31" name="Text 29"/>
          <p:cNvSpPr/>
          <p:nvPr/>
        </p:nvSpPr>
        <p:spPr>
          <a:xfrm>
            <a:off x="7187184" y="28895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607808" y="2852928"/>
            <a:ext cx="3733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볼트 가이드 수정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07808" y="3072384"/>
            <a:ext cx="3733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templates/_경로 가이드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040880" y="3300984"/>
            <a:ext cx="43735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040880" y="3520440"/>
            <a:ext cx="4373575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87184" y="3621024"/>
            <a:ext cx="329184" cy="32918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37" name="Text 35"/>
          <p:cNvSpPr/>
          <p:nvPr/>
        </p:nvSpPr>
        <p:spPr>
          <a:xfrm>
            <a:off x="7187184" y="36210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607808" y="3584448"/>
            <a:ext cx="3733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통합 가이드 재생성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7607808" y="3803904"/>
            <a:ext cx="3733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병합 스크립트가 5개를 합침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40880" y="4032504"/>
            <a:ext cx="43735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040880" y="4251960"/>
            <a:ext cx="4373575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187184" y="4352544"/>
            <a:ext cx="329184" cy="32918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43" name="Text 41"/>
          <p:cNvSpPr/>
          <p:nvPr/>
        </p:nvSpPr>
        <p:spPr>
          <a:xfrm>
            <a:off x="7187184" y="43525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607808" y="4315968"/>
            <a:ext cx="3733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cdbd-plugin push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7607808" y="4535424"/>
            <a:ext cx="3733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커밋 &amp; 푸시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040880" y="4764024"/>
            <a:ext cx="437357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↓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040880" y="4983480"/>
            <a:ext cx="4373575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87184" y="5084064"/>
            <a:ext cx="329184" cy="329184"/>
          </a:xfrm>
          <a:prstGeom prst="ellipse">
            <a:avLst/>
          </a:prstGeom>
          <a:solidFill>
            <a:srgbClr val="6C4CFF"/>
          </a:solidFill>
          <a:ln/>
        </p:spPr>
      </p:sp>
      <p:sp>
        <p:nvSpPr>
          <p:cNvPr id="49" name="Text 47"/>
          <p:cNvSpPr/>
          <p:nvPr/>
        </p:nvSpPr>
        <p:spPr>
          <a:xfrm>
            <a:off x="7187184" y="50840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607808" y="5047488"/>
            <a:ext cx="373349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팀원 자동 반영</a:t>
            </a:r>
            <a:endParaRPr lang="en-US" sz="1150" dirty="0"/>
          </a:p>
        </p:txBody>
      </p:sp>
      <p:sp>
        <p:nvSpPr>
          <p:cNvPr id="51" name="Text 49"/>
          <p:cNvSpPr/>
          <p:nvPr/>
        </p:nvSpPr>
        <p:spPr>
          <a:xfrm>
            <a:off x="7607808" y="5266944"/>
            <a:ext cx="3733495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마켓플레이스가 최신본 pull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40880" y="5742432"/>
            <a:ext cx="4373575" cy="457200"/>
          </a:xfrm>
          <a:prstGeom prst="roundRect">
            <a:avLst>
              <a:gd name="adj" fmla="val 20000"/>
            </a:avLst>
          </a:prstGeom>
          <a:solidFill>
            <a:srgbClr val="EEEAFB"/>
          </a:solidFill>
          <a:ln w="15875">
            <a:solidFill>
              <a:srgbClr val="6C4C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223760" y="5742432"/>
            <a:ext cx="4053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C4CF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⚠ 통합 가이드는 파생본 — 자동 병합해야 원본과 안 갈라집니다.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일정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제작·일정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얼마나 걸리나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 구조만이면 약 1주, 작동 방식을 영상으로 채우면 약 2주. (추정치)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5120640" cy="2788920"/>
          </a:xfrm>
          <a:prstGeom prst="roundRect">
            <a:avLst>
              <a:gd name="adj" fmla="val 459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8136" y="2743200"/>
            <a:ext cx="4498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문서 구조 구축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88136" y="326440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첫 볼트 경로 문서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32644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0.5~1일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88136" y="366674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나머지 4볼트 확산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43400" y="36667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2~3일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88136" y="4069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연결 · 검증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43400" y="406908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0.5일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88136" y="447141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플러그인 배포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343400" y="447141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0.5~1일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088136" y="4818888"/>
            <a:ext cx="449884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88136" y="4910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합계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70332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000" b="1" spc="-4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1주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309360" y="2487168"/>
            <a:ext cx="5120640" cy="2788920"/>
          </a:xfrm>
          <a:prstGeom prst="roundRect">
            <a:avLst>
              <a:gd name="adj" fmla="val 4590"/>
            </a:avLst>
          </a:prstGeom>
          <a:solidFill>
            <a:srgbClr val="EEEAFB"/>
          </a:solidFill>
          <a:ln w="19050">
            <a:solidFill>
              <a:srgbClr val="6C4C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20256" y="2743200"/>
            <a:ext cx="4498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영상까지 문서화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620256" y="32644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○ 공백 기능 12개 (통계·계정·요금)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620256" y="36667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◐ 부분 기능 9개 보강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620256" y="4069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수령 → 프레임 추출·작성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0058400" y="4069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D1D1F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+3~5일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20256" y="4818888"/>
            <a:ext cx="4498848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0256" y="4910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문서 구조 + 영상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235440" y="48463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2000" b="1" spc="-40" kern="0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≈ 2주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77240" y="553212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E6E73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※ 숫자는 추정치(예시)입니다. 다음 장에서 ‘어떤 기능에 영상이 필요한가’를 봅니다.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669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④ 영상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42455" y="56692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04  제작·일정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77240" y="896112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26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영상은 ‘작동 방식’을 채운다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생김새(화면 스펙)는 design-system에 있습니다. 영상은 ‘어떻게 작동하나’를 채웁니다.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5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CDBD  ·  HOME.CDBD.IN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0500055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18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77240" y="2450592"/>
            <a:ext cx="5120640" cy="1965960"/>
          </a:xfrm>
          <a:prstGeom prst="roundRect">
            <a:avLst>
              <a:gd name="adj" fmla="val 651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9848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6E6E73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영상 불필요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9848" y="3090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작동 방식까지 문서화된 기능 (●)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069848" y="3419856"/>
            <a:ext cx="4535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5555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카드 · 게시 · 이미지 등 에디터 기능 — 스킬·작업 문서에 작동 방식이 이미 있습니다.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2450592"/>
            <a:ext cx="5120640" cy="1965960"/>
          </a:xfrm>
          <a:prstGeom prst="roundRect">
            <a:avLst>
              <a:gd name="adj" fmla="val 6512"/>
            </a:avLst>
          </a:prstGeom>
          <a:solidFill>
            <a:srgbClr val="EEEAFB"/>
          </a:solidFill>
          <a:ln w="19050">
            <a:solidFill>
              <a:srgbClr val="6C4C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26700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6C4C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필요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601968" y="30906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스펙은 있으나 작동 방식이 없는 기능 (◐)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601968" y="3419856"/>
            <a:ext cx="45354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통계 · 계정 · 요금 · 버전 · 권한 등 대시보드 — design-system에 화면 스펙은 있지만 로그인 뒤 ‘어떻게 작동하나’가 없습니다.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4617720"/>
            <a:ext cx="10637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 영상은 남겨야 하나? — 정본은 텍스트, 원본은 필요할 때만 클라우드에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" y="4956048"/>
            <a:ext cx="336285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6696" y="5102352"/>
            <a:ext cx="2923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정본 = 텍스트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996696" y="5394960"/>
            <a:ext cx="29239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‘영상에서 뽑은 문서’가 정본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96696" y="5669280"/>
            <a:ext cx="2923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영상은 제작용 소스일 뿐 · 검색은 문서로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14418" y="4956048"/>
            <a:ext cx="336285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3874" y="5102352"/>
            <a:ext cx="2923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원본 영상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633874" y="5394960"/>
            <a:ext cx="29239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필요하면 git 밖 클라우드(구글 드라이브)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33874" y="5669280"/>
            <a:ext cx="2923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+ 문서에 링크 · 커밋 시 볼트 무거워짐(517MB 전례)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51597" y="4956048"/>
            <a:ext cx="3362858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71053" y="5102352"/>
            <a:ext cx="29239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핵심 프레임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71053" y="5394960"/>
            <a:ext cx="29239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D1D1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정지컷 몇 장만 볼트 attachments/ 에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71053" y="5669280"/>
            <a:ext cx="29239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E6E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문서에서 ![[…]] 로 바로 보이게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58368"/>
            <a:ext cx="1234440" cy="457200"/>
          </a:xfrm>
          <a:prstGeom prst="roundRect">
            <a:avLst>
              <a:gd name="adj" fmla="val 12000"/>
            </a:avLst>
          </a:prstGeom>
          <a:ln w="15875">
            <a:solidFill>
              <a:srgbClr val="1D1D1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658368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b="1" spc="5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CDBD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77240" y="2286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6C4CFF"/>
                </a:solidFill>
                <a:latin typeface="Pretendard SemiBold" pitchFamily="34" charset="0"/>
                <a:ea typeface="Pretendard SemiBold" pitchFamily="34" charset="-122"/>
                <a:cs typeface="Pretendard SemiBold" pitchFamily="34" charset="-120"/>
              </a:rPr>
              <a:t>정리하면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97480"/>
            <a:ext cx="106070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5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후보 3개 중 1번 — 기존 볼트 구조는 유지한다.</a:t>
            </a:r>
            <a:endParaRPr lang="en-US" sz="25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25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기능은 복제 모음집이 아니라 목록 하나로 모은다.</a:t>
            </a:r>
            <a:endParaRPr lang="en-US" sz="25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25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목록은 볼트마다 @import로 강제 로드 →</a:t>
            </a:r>
            <a:endParaRPr lang="en-US" sz="2500" dirty="0"/>
          </a:p>
          <a:p>
            <a:pPr algn="l" indent="0" marL="0">
              <a:lnSpc>
                <a:spcPct val="132000"/>
              </a:lnSpc>
              <a:buNone/>
            </a:pPr>
            <a:r>
              <a:rPr lang="en-US" sz="2500" b="1" spc="-40" kern="0" dirty="0">
                <a:solidFill>
                  <a:srgbClr val="1D1D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영상은 로그인 뒤 기능만, 원본은 클라우드에.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77724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spc="30" kern="0" dirty="0">
                <a:solidFill>
                  <a:srgbClr val="9AA0A6"/>
                </a:solidFill>
                <a:latin typeface="Pretendard Medium" pitchFamily="34" charset="0"/>
                <a:ea typeface="Pretendard Medium" pitchFamily="34" charset="-122"/>
                <a:cs typeface="Pretendard Medium" pitchFamily="34" charset="-120"/>
              </a:rPr>
              <a:t>design 볼트  ·  CdBd 기능 목록 상세.md  ·  help@cdbd.in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2026-08-12T02:00:45Z</dcterms:created>
  <dcterms:modified xsi:type="dcterms:W3CDTF">2026-08-12T02:00:45Z</dcterms:modified>
</cp:coreProperties>
</file>