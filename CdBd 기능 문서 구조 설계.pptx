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658368"/>
            <a:ext cx="1234440" cy="457200"/>
          </a:xfrm>
          <a:prstGeom prst="roundRect">
            <a:avLst>
              <a:gd name="adj" fmla="val 12000"/>
            </a:avLst>
          </a:prstGeom>
          <a:ln w="15875">
            <a:solidFill>
              <a:srgbClr val="1D1D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65836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5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CDBD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77240" y="219456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400" b="1" spc="-6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CdBd 기능 문서</a:t>
            </a:r>
            <a:endParaRPr lang="en-US" sz="4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4400" b="1" spc="-6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 설계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77240" y="397764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어느 기능이 어느 볼트에 —</a:t>
            </a:r>
            <a:endParaRPr lang="en-US" sz="17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 후보 3개 중 무엇을, 왜 고르나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77240" y="61264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design 볼트  ·  help@cdbd.in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766560" y="822960"/>
            <a:ext cx="4663440" cy="5212080"/>
          </a:xfrm>
          <a:prstGeom prst="roundRect">
            <a:avLst>
              <a:gd name="adj" fmla="val 3137"/>
            </a:avLst>
          </a:prstGeom>
          <a:solidFill>
            <a:srgbClr val="F5F5F7"/>
          </a:solidFill>
          <a:ln/>
        </p:spPr>
      </p:sp>
      <p:sp>
        <p:nvSpPr>
          <p:cNvPr id="8" name="Shape 6"/>
          <p:cNvSpPr/>
          <p:nvPr/>
        </p:nvSpPr>
        <p:spPr>
          <a:xfrm>
            <a:off x="8938260" y="1760220"/>
            <a:ext cx="1965960" cy="3794760"/>
          </a:xfrm>
          <a:prstGeom prst="roundRect">
            <a:avLst>
              <a:gd name="adj" fmla="val 12093"/>
            </a:avLst>
          </a:prstGeom>
          <a:solidFill>
            <a:srgbClr val="272729"/>
          </a:solidFill>
          <a:ln/>
          <a:effectLst>
            <a:outerShdw sx="100000" sy="100000" kx="0" ky="0" algn="bl" rotWithShape="0" blurRad="228600" dist="76200" dir="5400000">
              <a:srgbClr val="000000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029700" y="1879092"/>
            <a:ext cx="1783080" cy="3557016"/>
          </a:xfrm>
          <a:prstGeom prst="roundRect">
            <a:avLst>
              <a:gd name="adj" fmla="val 8205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9139428" y="2007108"/>
            <a:ext cx="1563624" cy="640080"/>
          </a:xfrm>
          <a:prstGeom prst="roundRect">
            <a:avLst>
              <a:gd name="adj" fmla="val 10000"/>
            </a:avLst>
          </a:prstGeom>
          <a:solidFill>
            <a:srgbClr val="EEEAFB"/>
          </a:solidFill>
          <a:ln/>
        </p:spPr>
      </p:sp>
      <p:sp>
        <p:nvSpPr>
          <p:cNvPr id="11" name="Shape 9"/>
          <p:cNvSpPr/>
          <p:nvPr/>
        </p:nvSpPr>
        <p:spPr>
          <a:xfrm>
            <a:off x="9139428" y="2793492"/>
            <a:ext cx="891540" cy="100584"/>
          </a:xfrm>
          <a:prstGeom prst="roundRect">
            <a:avLst>
              <a:gd name="adj" fmla="val 36364"/>
            </a:avLst>
          </a:prstGeom>
          <a:solidFill>
            <a:srgbClr val="1D1D1F"/>
          </a:solidFill>
          <a:ln/>
        </p:spPr>
      </p:sp>
      <p:sp>
        <p:nvSpPr>
          <p:cNvPr id="12" name="Shape 10"/>
          <p:cNvSpPr/>
          <p:nvPr/>
        </p:nvSpPr>
        <p:spPr>
          <a:xfrm>
            <a:off x="9139428" y="2976372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39428" y="3506724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322308" y="4165092"/>
            <a:ext cx="1197864" cy="310896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  <p:sp>
        <p:nvSpPr>
          <p:cNvPr id="15" name="Shape 13"/>
          <p:cNvSpPr/>
          <p:nvPr/>
        </p:nvSpPr>
        <p:spPr>
          <a:xfrm>
            <a:off x="7383780" y="1348740"/>
            <a:ext cx="1965960" cy="3794760"/>
          </a:xfrm>
          <a:prstGeom prst="roundRect">
            <a:avLst>
              <a:gd name="adj" fmla="val 12093"/>
            </a:avLst>
          </a:prstGeom>
          <a:solidFill>
            <a:srgbClr val="272729"/>
          </a:solidFill>
          <a:ln/>
          <a:effectLst>
            <a:outerShdw sx="100000" sy="100000" kx="0" ky="0" algn="bl" rotWithShape="0" blurRad="228600" dist="76200" dir="5400000">
              <a:srgbClr val="000000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475220" y="1467612"/>
            <a:ext cx="1783080" cy="3557016"/>
          </a:xfrm>
          <a:prstGeom prst="roundRect">
            <a:avLst>
              <a:gd name="adj" fmla="val 8205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584948" y="1595628"/>
            <a:ext cx="1563624" cy="640080"/>
          </a:xfrm>
          <a:prstGeom prst="roundRect">
            <a:avLst>
              <a:gd name="adj" fmla="val 10000"/>
            </a:avLst>
          </a:prstGeom>
          <a:solidFill>
            <a:srgbClr val="EEEAFB"/>
          </a:solidFill>
          <a:ln/>
        </p:spPr>
      </p:sp>
      <p:sp>
        <p:nvSpPr>
          <p:cNvPr id="18" name="Shape 16"/>
          <p:cNvSpPr/>
          <p:nvPr/>
        </p:nvSpPr>
        <p:spPr>
          <a:xfrm>
            <a:off x="7584948" y="2382012"/>
            <a:ext cx="891540" cy="100584"/>
          </a:xfrm>
          <a:prstGeom prst="roundRect">
            <a:avLst>
              <a:gd name="adj" fmla="val 36364"/>
            </a:avLst>
          </a:prstGeom>
          <a:solidFill>
            <a:srgbClr val="1D1D1F"/>
          </a:solidFill>
          <a:ln/>
        </p:spPr>
      </p:sp>
      <p:sp>
        <p:nvSpPr>
          <p:cNvPr id="19" name="Shape 17"/>
          <p:cNvSpPr/>
          <p:nvPr/>
        </p:nvSpPr>
        <p:spPr>
          <a:xfrm>
            <a:off x="7584948" y="2564892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84948" y="3095244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67828" y="3753612"/>
            <a:ext cx="1197864" cy="310896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OVERVIEW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다루는 것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구조 파악 → 후보 3개 비교·선택 → 새 분류·경로 → 일정·영상.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" y="26517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spc="-4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691640" y="2633472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전체 파일구조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691640" y="3035808"/>
            <a:ext cx="9509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어느 CdBd 기능이 어느 볼트에 있나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77240" y="3438144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58444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spc="-4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691640" y="356616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구조 후보 3개 — 무엇을, 왜 고르나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691640" y="3968496"/>
            <a:ext cx="9509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유지+목록 / 복제 모음집 / 기능 재구조화 → 1번 채택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77240" y="4370832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4517136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spc="-4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691640" y="449884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새 기능 분류 · 경로 문서 위치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691640" y="4901184"/>
            <a:ext cx="9509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안의 에디터 · design 상위 폴더 계층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77240" y="5303520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544982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spc="-4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691640" y="5431536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제작 과정 · 소요 시간 · 영상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691640" y="5833872"/>
            <a:ext cx="9509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일정과, 영상이 필요한 기능·아카이빙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77240" y="6236208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① 전체 파일구조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  현황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어느 기능이 어느 볼트에 있나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상위 폴더 design/ 이 5개 볼트를 담고, 기능은 그 안에 흩어져 있습니다.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286000"/>
            <a:ext cx="10637215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88136" y="2505456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design/   (허브 = 모든 볼트의 상위 폴더)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629400" y="2505456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여기서 전체를 관리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88136" y="2788920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cdbd-templates/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629400" y="2788920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에디터 · 어드민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88136" y="3072384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├─ 1-6-2. CdBd 카드 기능.md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629400" y="3072384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15종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88136" y="3355848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├─ 1-6-1. CdBd 에디터.md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629400" y="3355848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에디터 구성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88136" y="3639312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└─ 1-7. 템플릿 상세 페이지.md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629400" y="3639312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상세페이지·어드민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88136" y="3922776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cdbd-design-service/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629400" y="3922776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게시 · 이미지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88136" y="4206240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└─ 룩북/…/1-4. CdBd 콘텐츠.md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29400" y="4206240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URL게시·Supabase·이미지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088136" y="4489704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cdbd-design-system/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629400" y="4489704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스펙 조회 (Figma)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88136" y="4773168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└─ 5-4. 카드 기획 가이드.md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629400" y="4773168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치수·옵션 참조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088136" y="5056632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cdbd-marketing/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629400" y="5056632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마케팅 — CdBd 기능 아님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088136" y="5340096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└─ makevu-qrstp/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629400" y="5340096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별도 제품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② 구조 후보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  구조 결정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후보는 셋 — 1번을 고릅니다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‘모든 기능을 다 아는 데 최적화된 구조’를 세 방식으로 놓고 비교합니다.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87168"/>
            <a:ext cx="3362858" cy="3246120"/>
          </a:xfrm>
          <a:prstGeom prst="roundRect">
            <a:avLst>
              <a:gd name="adj" fmla="val 3944"/>
            </a:avLst>
          </a:prstGeom>
          <a:solidFill>
            <a:srgbClr val="EEEAFB"/>
          </a:solidFill>
          <a:ln w="19050">
            <a:solidFill>
              <a:srgbClr val="6C4C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51560" y="2761488"/>
            <a:ext cx="457200" cy="45720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2761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600200" y="2798064"/>
            <a:ext cx="2357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b="1" spc="-2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유지 + 목록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69848" y="3447288"/>
            <a:ext cx="27776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볼트는 그대로.</a:t>
            </a:r>
            <a:endParaRPr lang="en-US" sz="12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허브에 목록 1개 추가.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1069848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9848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볼트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026209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026209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볼트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982570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6C4CFF"/>
          </a:solidFill>
          <a:ln w="12700">
            <a:solidFill>
              <a:srgbClr val="6C4C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82570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＋목록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1069848" y="5129784"/>
            <a:ext cx="2777642" cy="402336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  <p:sp>
        <p:nvSpPr>
          <p:cNvPr id="20" name="Text 18"/>
          <p:cNvSpPr/>
          <p:nvPr/>
        </p:nvSpPr>
        <p:spPr>
          <a:xfrm>
            <a:off x="1069848" y="5129784"/>
            <a:ext cx="27776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✓  채택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414418" y="2487168"/>
            <a:ext cx="3362858" cy="3246120"/>
          </a:xfrm>
          <a:prstGeom prst="roundRect">
            <a:avLst>
              <a:gd name="adj" fmla="val 394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688738" y="2761488"/>
            <a:ext cx="457200" cy="45720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23" name="Text 21"/>
          <p:cNvSpPr/>
          <p:nvPr/>
        </p:nvSpPr>
        <p:spPr>
          <a:xfrm>
            <a:off x="4688738" y="2761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237378" y="2798064"/>
            <a:ext cx="2357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b="1" spc="-2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복제 모음집 추가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707026" y="3447288"/>
            <a:ext cx="27776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복사본을</a:t>
            </a:r>
            <a:endParaRPr lang="en-US" sz="12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폴더에 모음.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707026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07026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볼트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663387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3387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볼트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619748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 w="12700">
            <a:solidFill>
              <a:srgbClr val="1D1D1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19748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＋복사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707026" y="5129784"/>
            <a:ext cx="2777642" cy="402336"/>
          </a:xfrm>
          <a:prstGeom prst="roundRect">
            <a:avLst>
              <a:gd name="adj" fmla="val 50000"/>
            </a:avLst>
          </a:prstGeom>
          <a:solidFill>
            <a:srgbClr val="F5F5F7"/>
          </a:solidFill>
          <a:ln/>
        </p:spPr>
      </p:sp>
      <p:sp>
        <p:nvSpPr>
          <p:cNvPr id="33" name="Text 31"/>
          <p:cNvSpPr/>
          <p:nvPr/>
        </p:nvSpPr>
        <p:spPr>
          <a:xfrm>
            <a:off x="4707026" y="5129784"/>
            <a:ext cx="27776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✕  정답이 둘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8051597" y="2487168"/>
            <a:ext cx="3362858" cy="3246120"/>
          </a:xfrm>
          <a:prstGeom prst="roundRect">
            <a:avLst>
              <a:gd name="adj" fmla="val 394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325917" y="2761488"/>
            <a:ext cx="457200" cy="45720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36" name="Text 34"/>
          <p:cNvSpPr/>
          <p:nvPr/>
        </p:nvSpPr>
        <p:spPr>
          <a:xfrm>
            <a:off x="8325917" y="2761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8874557" y="2798064"/>
            <a:ext cx="2357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b="1" spc="-2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 기준 재구조화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8344205" y="3447288"/>
            <a:ext cx="27776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볼트를 해체해</a:t>
            </a:r>
            <a:endParaRPr lang="en-US" sz="12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기능별로 재편.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8344205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344205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에디터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9300566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300566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홈…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10256926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 w="12700">
            <a:solidFill>
              <a:srgbClr val="1D1D1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256926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재편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8344205" y="5129784"/>
            <a:ext cx="2777642" cy="402336"/>
          </a:xfrm>
          <a:prstGeom prst="roundRect">
            <a:avLst>
              <a:gd name="adj" fmla="val 50000"/>
            </a:avLst>
          </a:prstGeom>
          <a:solidFill>
            <a:srgbClr val="F5F5F7"/>
          </a:solidFill>
          <a:ln/>
        </p:spPr>
      </p:sp>
      <p:sp>
        <p:nvSpPr>
          <p:cNvPr id="46" name="Text 44"/>
          <p:cNvSpPr/>
          <p:nvPr/>
        </p:nvSpPr>
        <p:spPr>
          <a:xfrm>
            <a:off x="8344205" y="5129784"/>
            <a:ext cx="27776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✕  맥락 붕괴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후보 2 — 왜 안 되나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  구조 결정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복제 모음집: ‘정답이 둘’이 된다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모음집을 넣으면 구조는 이렇게 되고 — 갈라짐은 곧 정답이 둘이 되는 문제입니다.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68880"/>
            <a:ext cx="5029200" cy="306324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651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구조 — 모음집을 넣으면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51560" y="3017520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design/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51560" y="3328416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기능 모음집/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023360" y="3328416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← 새로 추가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51560" y="3639312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├─ 카드 기능.md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023360" y="3639312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복사본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51560" y="3950208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└─ URL 게시.md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023360" y="3950208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복사본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51560" y="426110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cdbd-templates/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023360" y="4261104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원본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51560" y="4572000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└─ cdbd-design-service/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023360" y="457200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원본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355080" y="24688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왜 정보가 서로 달라지나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355080" y="2971800"/>
            <a:ext cx="274320" cy="27432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23" name="Text 21"/>
          <p:cNvSpPr/>
          <p:nvPr/>
        </p:nvSpPr>
        <p:spPr>
          <a:xfrm>
            <a:off x="635508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757416" y="2944368"/>
            <a:ext cx="46725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원본 문서를 수정한다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355080" y="3483864"/>
            <a:ext cx="274320" cy="27432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26" name="Text 24"/>
          <p:cNvSpPr/>
          <p:nvPr/>
        </p:nvSpPr>
        <p:spPr>
          <a:xfrm>
            <a:off x="6355080" y="34838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757416" y="3456432"/>
            <a:ext cx="46725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모음집 복사본도 매번 똑같이 다시 고쳐야 한다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355080" y="3995928"/>
            <a:ext cx="274320" cy="27432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29" name="Text 27"/>
          <p:cNvSpPr/>
          <p:nvPr/>
        </p:nvSpPr>
        <p:spPr>
          <a:xfrm>
            <a:off x="6355080" y="39959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757416" y="3968496"/>
            <a:ext cx="46725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번이라도 빠뜨리면 두 문서가 서로 달라진다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355080" y="4507992"/>
            <a:ext cx="274320" cy="27432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32" name="Text 30"/>
          <p:cNvSpPr/>
          <p:nvPr/>
        </p:nvSpPr>
        <p:spPr>
          <a:xfrm>
            <a:off x="6355080" y="45079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757416" y="4480560"/>
            <a:ext cx="46725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결국 어느 게 맞는지 아무도 모른다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777240" y="5650992"/>
            <a:ext cx="10637215" cy="502920"/>
          </a:xfrm>
          <a:prstGeom prst="roundRect">
            <a:avLst>
              <a:gd name="adj" fmla="val 18182"/>
            </a:avLst>
          </a:prstGeom>
          <a:solidFill>
            <a:srgbClr val="F5F5F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33272" y="5650992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사례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2148840" y="5650992"/>
            <a:ext cx="9082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그린이 #3DF69B(정본) ↔ #4DE98B(복사본)로 두 달간 갈라졌고, 마케팅 14곳이 잘못된 값을 정답으로 삼았습니다. → ‘갈라짐’은 별개 문제가 아니라 ‘정답이 둘’의 결과입니다.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후보 3 — 왜 안 되나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  구조 결정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 재구조화: 실행 맥락이 무너진다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볼트를 해체해 기능별로 재편하면 구조는 이렇게 되고 — 잃는 게 큽니다.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68880"/>
            <a:ext cx="5029200" cy="306324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651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구조 — 기능별로 재편하면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51560" y="306324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design/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51560" y="3392424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에디터/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794760" y="339242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카드·게시·이미지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51560" y="3721608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홈페이지/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794760" y="37216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통계·계정·요금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51560" y="4050792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└─ (templates·service·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051560" y="4379976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     system 해체)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794760" y="4379976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원래 볼트 사라짐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55080" y="24688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왜 안 되나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355080" y="2880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✕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675120" y="28620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실행 자산과 분리된다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675120" y="315468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스킬·워크플로우가 볼트에 묶여 있어 참조가 깨짐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355080" y="3566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✕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675120" y="35478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권한·용량 경계가 무너진다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675120" y="384048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 자료(private)·517MB가 뒤섞임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35508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✕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675120" y="42336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볼트 간 링크가 깨진다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675120" y="452628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게다가 2026-05에 반대로 결정한 사안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355080" y="4937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✕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675120" y="49194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makevu는 아예 다른 제품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675120" y="521208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축으로 묶을 수 없음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후보 1 — 채택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  구조 결정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유지 + 목록 하나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볼트 구조는 그대로 두고, 창고(복사본)가 아니라 목록(주소)으로 모읍니다.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68880"/>
            <a:ext cx="5029200" cy="3063240"/>
          </a:xfrm>
          <a:prstGeom prst="roundRect">
            <a:avLst>
              <a:gd name="adj" fmla="val 4179"/>
            </a:avLst>
          </a:prstGeom>
          <a:solidFill>
            <a:srgbClr val="EEEAFB"/>
          </a:solidFill>
          <a:ln w="19050">
            <a:solidFill>
              <a:srgbClr val="6C4C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651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 — 그대로 + 목록 1개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51560" y="306324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design/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51560" y="339242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 기능 목록 상세.md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886200" y="339242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목록(추가)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51560" y="3721608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cdbd-templates/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886200" y="372160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그대로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51560" y="405079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└─ _기능별 경로 가이드.md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886200" y="405079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@import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51560" y="4379976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└─ cdbd-design-service/ …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886200" y="4379976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그대로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55080" y="24688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왜 1번인가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355080" y="2926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675120" y="290779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안 갈라진다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675120" y="32186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목록은 내용이 아니라 주소만 담아 정답이 하나로 유지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355080" y="3767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675120" y="374904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실행 맥락을 지킨다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675120" y="405993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기능이 스킬·도구 옆에 그대로 있어 바로 작동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355080" y="46085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675120" y="459028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어디서나 강제 로드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675120" y="490118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@import + (나중에) 플러그인으로 발견 보장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③ 새 기능 분류 (고객 관점)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분류·경로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안에 에디터가 있다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어드민 제외 · 고객이 쓰는 두 갈래(대시보드 · 에디터). 상태는 ‘작동 방식’ 유무 기준.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" y="184708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상태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280160" y="1847088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●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508760" y="184708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작동 방식까지 있음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886200" y="1847088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◐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114800" y="1847088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스펙(생김새)은 있으나 작동 방식 추가 필요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2432304" y="2286000"/>
            <a:ext cx="7315200" cy="603504"/>
          </a:xfrm>
          <a:prstGeom prst="roundRect">
            <a:avLst>
              <a:gd name="adj" fmla="val 18182"/>
            </a:avLst>
          </a:prstGeom>
          <a:solidFill>
            <a:srgbClr val="EEEAFB"/>
          </a:solidFill>
          <a:ln w="19050">
            <a:solidFill>
              <a:srgbClr val="6C4C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32304" y="2286000"/>
            <a:ext cx="7315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(cdbd.in) — 고객이 쓰는 제품 전체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089904" y="2889504"/>
            <a:ext cx="0" cy="201168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46704" y="3090672"/>
            <a:ext cx="5495544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345104" y="3090672"/>
            <a:ext cx="0" cy="-27432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7240" y="3063240"/>
            <a:ext cx="5135728" cy="2450592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69848" y="328269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Ⓐ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554480" y="3337560"/>
            <a:ext cx="4129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대시보드 (계정)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1069848" y="3794760"/>
            <a:ext cx="455051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88136" y="394106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◐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1362456" y="3941064"/>
            <a:ext cx="431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회원가입 · 로그인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88136" y="421538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◐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362456" y="4215384"/>
            <a:ext cx="431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 · 내 페이지 · 공유 · 버전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088136" y="448970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◐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1362456" y="4489704"/>
            <a:ext cx="431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페이지 · URL 통계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88136" y="476402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◐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1362456" y="4764024"/>
            <a:ext cx="431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계정 · 내 주소 · 권한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088136" y="503834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◐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1362456" y="5038344"/>
            <a:ext cx="431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요금 · 결제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088136" y="531266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◐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1362456" y="5312664"/>
            <a:ext cx="431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템플릿 선택 → 페이지 생성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846591" y="3090672"/>
            <a:ext cx="0" cy="-27432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78728" y="3063240"/>
            <a:ext cx="5135728" cy="2450592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571336" y="328269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Ⓑ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7055968" y="3337560"/>
            <a:ext cx="4129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에디터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6571336" y="3794760"/>
            <a:ext cx="455051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89624" y="394106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●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6863944" y="3941064"/>
            <a:ext cx="431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15종 (+상품·코드)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589624" y="421538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●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6863944" y="4215384"/>
            <a:ext cx="431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구성·꾸미기 · 이미지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589624" y="448970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●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6863944" y="4489704"/>
            <a:ext cx="431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게시 (URL · OG · 비밀번호)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6589624" y="476402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◐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6863944" y="4764024"/>
            <a:ext cx="431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연결 (개인화)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777240" y="5669280"/>
            <a:ext cx="10637215" cy="475488"/>
          </a:xfrm>
          <a:prstGeom prst="roundRect">
            <a:avLst>
              <a:gd name="adj" fmla="val 19231"/>
            </a:avLst>
          </a:prstGeom>
          <a:solidFill>
            <a:srgbClr val="F5F5F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033272" y="5669280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</a:t>
            </a:r>
            <a:endParaRPr lang="en-US" sz="1250" dirty="0"/>
          </a:p>
        </p:txBody>
      </p:sp>
      <p:sp>
        <p:nvSpPr>
          <p:cNvPr id="49" name="Text 47"/>
          <p:cNvSpPr/>
          <p:nvPr/>
        </p:nvSpPr>
        <p:spPr>
          <a:xfrm>
            <a:off x="1874520" y="5669280"/>
            <a:ext cx="935705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대시보드는 design-system 3-x에 화면 스펙은 있지만, 로그인 뒤 ‘어떻게 작동하나(사용 흐름)’가 없습니다. 이게 영상으로 채울 대상. (어드민 제외)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③ 기능 경로 문서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분류·경로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어디에 · 어떤 구조로 두나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허브 design/ 이 상위 폴더 — 목록은 맨 위 1장, 경로 문서는 각 볼트 안에 1장씩.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377440"/>
            <a:ext cx="62179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9848" y="2578608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design/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754880" y="2578608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허브 = 최상위 폴더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69848" y="2866644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 기능 목록 상세.md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754880" y="2866644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전체 목록 (여기 1장)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69848" y="3154680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69848" y="3442716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cdbd-templates/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754880" y="3442716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볼트 (하위 폴더)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69848" y="3730752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├─ CLAUDE.md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54880" y="3730752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@_기능별 경로 가이드.md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69848" y="4018788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│    ├─ _기능별 경로 가이드.md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754880" y="4018788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이 볼트 경로 문서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69848" y="4306824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└─ 1. 작업 가이드/ …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754880" y="4306824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정본 파일들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69848" y="4594860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1069848" y="4882896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cdbd-design-service/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069848" y="5170932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│    └─ _기능별 경로 가이드.md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754880" y="5170932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볼트마다 하나씩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069848" y="5458968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└─ design-system · marketing · makevu …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754880" y="5458968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패턴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360920" y="2377440"/>
            <a:ext cx="4053535" cy="1664208"/>
          </a:xfrm>
          <a:prstGeom prst="roundRect">
            <a:avLst>
              <a:gd name="adj" fmla="val 6593"/>
            </a:avLst>
          </a:prstGeom>
          <a:solidFill>
            <a:srgbClr val="EEEAFB"/>
          </a:solidFill>
          <a:ln w="15875">
            <a:solidFill>
              <a:srgbClr val="6C4C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616952" y="2560320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허브 목록 — 왜 design에?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7616952" y="2889504"/>
            <a:ext cx="3541471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design은 모든 볼트의 상위 폴더 — 볼트를 가로지르는 목록은 여기에만 둘 수 있습니다. 한 볼트에 넣으면 다른 볼트에선 안 보입니다.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360920" y="4224528"/>
            <a:ext cx="4053535" cy="1719072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616952" y="4407408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② 볼트 경로 문서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616952" y="4754880"/>
            <a:ext cx="3541471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CLAUDE.md가 @import로 강제 로드 → 그 볼트를 켜면 Claude가 기능→파일을 다 압니다.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목록 파일이 하는 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분류·경로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CdBd 기능 목록 상세.md 란?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고객이 쓰는 기준(대시보드·에디터)으로 묶음. 상태는 ‘작동 방식’ 유무 기준입니다.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09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76295" y="184708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● 작동 방식까지  ◐ 스펙만·작동 방식 추가 필요   ·   [T] templates  [SV] design-service  [DS] design-system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77240" y="228600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Ⓑ 에디터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596896"/>
            <a:ext cx="507492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268833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카드 15종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017520" y="268833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●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474720" y="268833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[DS] 4-3~17 · [T] 1-6-2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7240" y="2994660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0175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카드 상품·코드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017520" y="301752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●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474720" y="301752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[DS] 4-12·4-16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77240" y="3323844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334670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카드 자동화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017520" y="334670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●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474720" y="334670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[T] skills/card-automation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77240" y="3653028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36758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구성·꾸미기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017520" y="367588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●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474720" y="367588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[DS] 3-2-x · [T] 1-6-1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77240" y="3982212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7240" y="40050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이미지 라이브러리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017520" y="40050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●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474720" y="400507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[SV] CLAUDE §이미지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77240" y="4311396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7240" y="433425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URL 게시 · OG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017520" y="433425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●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474720" y="433425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[SV] 1-4 §URL 게시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77240" y="4640580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77240" y="46634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게시 자동화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017520" y="466344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●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474720" y="466344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[SV] 1-4 §Supabase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77240" y="4969764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7240" y="499262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페이지 비밀번호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017520" y="499262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◐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3474720" y="499262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[SV] 1-4 모달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777240" y="5298948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77240" y="532180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데이터 연결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3017520" y="532180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◐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3474720" y="532180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[DS] 3-10 데이터 관리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336792" y="228600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Ⓐ 대시보드 (계정)</a:t>
            </a:r>
            <a:endParaRPr lang="en-US" sz="1250" dirty="0"/>
          </a:p>
        </p:txBody>
      </p:sp>
      <p:sp>
        <p:nvSpPr>
          <p:cNvPr id="47" name="Shape 45"/>
          <p:cNvSpPr/>
          <p:nvPr/>
        </p:nvSpPr>
        <p:spPr>
          <a:xfrm>
            <a:off x="6336792" y="2596896"/>
            <a:ext cx="507492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36792" y="268833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회원가입 · 로그인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8577072" y="268833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◐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9034272" y="268833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[DS] 3-6 가입·로그인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6336792" y="2994660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36792" y="30175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홈 · 내 페이지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8577072" y="301752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◐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9034272" y="301752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[DS] 3-7 · 3-9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6336792" y="3323844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36792" y="334670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공유 복제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8577072" y="334670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◐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9034272" y="334670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[DS] 3-9 내 페이지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6336792" y="3653028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336792" y="36758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버전 기록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8577072" y="367588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◐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9034272" y="367588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[DS] 3-15 버전 히스토리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6336792" y="3982212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336792" y="40050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페이지 · URL 통계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8577072" y="40050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◐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9034272" y="400507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[DS] 3-11 통계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6336792" y="4311396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336792" y="433425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계정 · 내 주소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8577072" y="433425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◐</a:t>
            </a:r>
            <a:endParaRPr lang="en-US" sz="1100" dirty="0"/>
          </a:p>
        </p:txBody>
      </p:sp>
      <p:sp>
        <p:nvSpPr>
          <p:cNvPr id="70" name="Text 68"/>
          <p:cNvSpPr/>
          <p:nvPr/>
        </p:nvSpPr>
        <p:spPr>
          <a:xfrm>
            <a:off x="9034272" y="433425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[DS] 3-8 · 3-5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336792" y="4640580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336792" y="46634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권한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8577072" y="466344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◐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9034272" y="466344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[DS] 3-13 권한 관리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336792" y="4969764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336792" y="499262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요금 · 결제</a:t>
            </a: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8577072" y="499262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◐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9034272" y="499262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[DS] 3-8 §크레딧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336792" y="5298948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336792" y="532180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템플릿 페이지 생성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8577072" y="532180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◐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9034272" y="532180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[DS] 3-14 · [T] 1-1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예시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분류·경로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 — cdbd-templates 볼트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볼트에 어떤 CdBd 기능이 있고, 각각 어느 파일에 있는지 이렇게 적습니다.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377440"/>
            <a:ext cx="4937760" cy="361188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578608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cdbd-templates/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51560" y="2907792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├─ CLAUDE.md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840480" y="2907792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@경로 가이드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051560" y="3236976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_기능별 경로 가이드.md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840480" y="3236976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오른쪽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51560" y="35661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.claude/skills/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51560" y="3895344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└─ cdbd-card-automation/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840480" y="3895344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자동화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051560" y="4224528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└─ 1. 작업 가이드/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51560" y="4553712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    ├─ 1-6-2. CdBd 카드 기능.md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840480" y="4553712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15종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51560" y="4882896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    ├─ 1-6-1. CdBd 에디터.md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840480" y="4882896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구성·꾸미기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051560" y="521208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    └─ 1-1. 워크플로우.md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840480" y="5212080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템플릿 생성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989320" y="2377440"/>
            <a:ext cx="5425135" cy="3611880"/>
          </a:xfrm>
          <a:prstGeom prst="roundRect">
            <a:avLst>
              <a:gd name="adj" fmla="val 3038"/>
            </a:avLst>
          </a:prstGeom>
          <a:solidFill>
            <a:srgbClr val="F5F5F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63640" y="2560320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_기능별 경로 가이드.md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263640" y="2871216"/>
            <a:ext cx="4876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볼트에 있는 CdBd 기능 → 어느 파일에 있나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63640" y="3246120"/>
            <a:ext cx="4876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카드 기능 15종  (상품·예약·유튜브·SNS…)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391656" y="3474720"/>
            <a:ext cx="47484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1-6-2. CdBd 카드 기능.md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263640" y="3794760"/>
            <a:ext cx="4876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새 페이지 추가  (템플릿에서 생성)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391656" y="4023360"/>
            <a:ext cx="47484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1-1. 워크플로우.md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263640" y="4343400"/>
            <a:ext cx="4876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페이지 구성·꾸미기  (테마·배경·여백)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391656" y="4572000"/>
            <a:ext cx="47484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1-6-1. CdBd 에디터.md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263640" y="4892040"/>
            <a:ext cx="4876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카드 자동화  (순서·핀·복제·삭제)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391656" y="5120640"/>
            <a:ext cx="47484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.claude/skills/cdbd-card-automation/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263640" y="5623560"/>
            <a:ext cx="4876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＊ 시안·프리셋·팔레트 = Figma 제작 · 상세페이지 = 어드민 → 같은 파일에 구분해 따로 담습니다.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④ 제작 과정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제작·일정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볼트를 끝까지 → 확산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곳(cdbd-templates)을 완성·검증한 뒤, 나머지 볼트로 그대로 복제합니다.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005840" y="2487168"/>
            <a:ext cx="0" cy="3108960"/>
          </a:xfrm>
          <a:prstGeom prst="line">
            <a:avLst/>
          </a:prstGeom>
          <a:noFill/>
          <a:ln w="15875">
            <a:solidFill>
              <a:srgbClr val="E5E7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4672" y="2286000"/>
            <a:ext cx="402336" cy="402336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10" name="Text 8"/>
          <p:cNvSpPr/>
          <p:nvPr/>
        </p:nvSpPr>
        <p:spPr>
          <a:xfrm>
            <a:off x="804672" y="2286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435608" y="228600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분류 확정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435608" y="2596896"/>
            <a:ext cx="8351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대분류(대시보드 · 에디터)를 합의하고 첫 볼트를 고른다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10042855" y="2304288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EEEAFB"/>
          </a:solidFill>
          <a:ln/>
        </p:spPr>
      </p:sp>
      <p:sp>
        <p:nvSpPr>
          <p:cNvPr id="14" name="Text 12"/>
          <p:cNvSpPr/>
          <p:nvPr/>
        </p:nvSpPr>
        <p:spPr>
          <a:xfrm>
            <a:off x="10042855" y="230428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오늘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04672" y="2907792"/>
            <a:ext cx="402336" cy="402336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29077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435608" y="2907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경로 문서 작성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435608" y="3218688"/>
            <a:ext cx="8351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볼트의 CdBd 기능 → 정확한 파일·섹션을 매핑하고 경로를 검증한다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10042855" y="292608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EEEAFB"/>
          </a:solidFill>
          <a:ln/>
        </p:spPr>
      </p:sp>
      <p:sp>
        <p:nvSpPr>
          <p:cNvPr id="20" name="Text 18"/>
          <p:cNvSpPr/>
          <p:nvPr/>
        </p:nvSpPr>
        <p:spPr>
          <a:xfrm>
            <a:off x="10042855" y="292608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0.5일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04672" y="3529584"/>
            <a:ext cx="402336" cy="402336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22" name="Text 20"/>
          <p:cNvSpPr/>
          <p:nvPr/>
        </p:nvSpPr>
        <p:spPr>
          <a:xfrm>
            <a:off x="804672" y="35295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435608" y="352958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CLAUDE.md 연결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1435608" y="3840480"/>
            <a:ext cx="8351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볼트 CLAUDE.md 맨 위에 @_기능별 경로 가이드.md 한 줄을 넣는다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10042855" y="3547872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EEEAFB"/>
          </a:solidFill>
          <a:ln/>
        </p:spPr>
      </p:sp>
      <p:sp>
        <p:nvSpPr>
          <p:cNvPr id="26" name="Text 24"/>
          <p:cNvSpPr/>
          <p:nvPr/>
        </p:nvSpPr>
        <p:spPr>
          <a:xfrm>
            <a:off x="10042855" y="354787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5분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04672" y="4151376"/>
            <a:ext cx="402336" cy="402336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28" name="Text 26"/>
          <p:cNvSpPr/>
          <p:nvPr/>
        </p:nvSpPr>
        <p:spPr>
          <a:xfrm>
            <a:off x="804672" y="4151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435608" y="4151376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검증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1435608" y="4462272"/>
            <a:ext cx="8351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“상품 카드 넣어줘” 등으로 Claude가 올바른 파일을 여는지 확인한다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10042855" y="4169664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EEEAFB"/>
          </a:solidFill>
          <a:ln/>
        </p:spPr>
      </p:sp>
      <p:sp>
        <p:nvSpPr>
          <p:cNvPr id="32" name="Text 30"/>
          <p:cNvSpPr/>
          <p:nvPr/>
        </p:nvSpPr>
        <p:spPr>
          <a:xfrm>
            <a:off x="10042855" y="416966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10분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04672" y="4773168"/>
            <a:ext cx="402336" cy="402336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34" name="Text 32"/>
          <p:cNvSpPr/>
          <p:nvPr/>
        </p:nvSpPr>
        <p:spPr>
          <a:xfrm>
            <a:off x="804672" y="47731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1435608" y="477316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나머지 볼트 확산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1435608" y="5084064"/>
            <a:ext cx="8351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통과하면 나머지 4개 볼트에 같은 경로 문서를 복제한다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10042855" y="4791456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EEEAFB"/>
          </a:solidFill>
          <a:ln/>
        </p:spPr>
      </p:sp>
      <p:sp>
        <p:nvSpPr>
          <p:cNvPr id="38" name="Text 36"/>
          <p:cNvSpPr/>
          <p:nvPr/>
        </p:nvSpPr>
        <p:spPr>
          <a:xfrm>
            <a:off x="10042855" y="479145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이후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804672" y="5394960"/>
            <a:ext cx="402336" cy="402336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40" name="Text 38"/>
          <p:cNvSpPr/>
          <p:nvPr/>
        </p:nvSpPr>
        <p:spPr>
          <a:xfrm>
            <a:off x="804672" y="5394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1435608" y="539496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플러그인 배포</a:t>
            </a:r>
            <a:endParaRPr lang="en-US" sz="1450" dirty="0"/>
          </a:p>
        </p:txBody>
      </p:sp>
      <p:sp>
        <p:nvSpPr>
          <p:cNvPr id="42" name="Text 40"/>
          <p:cNvSpPr/>
          <p:nvPr/>
        </p:nvSpPr>
        <p:spPr>
          <a:xfrm>
            <a:off x="1435608" y="5705856"/>
            <a:ext cx="8351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통합 경로 가이드·브랜드 토큰을 묶어 어느 볼트에서도 로드되게 한다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10042855" y="5413248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EEEAFB"/>
          </a:solidFill>
          <a:ln/>
        </p:spPr>
      </p:sp>
      <p:sp>
        <p:nvSpPr>
          <p:cNvPr id="44" name="Text 42"/>
          <p:cNvSpPr/>
          <p:nvPr/>
        </p:nvSpPr>
        <p:spPr>
          <a:xfrm>
            <a:off x="10042855" y="541324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이후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⑤ 플러그인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제작·일정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파일 구조만으론 남는 게 있다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목록+경로 문서는 ‘그 볼트 안’ 발견을 보장합니다. 볼트 경계를 넘는 건 플러그인 몫.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87168"/>
            <a:ext cx="5120640" cy="269748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88136" y="2743200"/>
            <a:ext cx="4498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파일 구조가 하는 일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88136" y="32369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435608" y="321868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볼트를 켜면 그 볼트 기능을 다 앎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088136" y="37398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435608" y="372160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@import로 매 세션 강제 로드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088136" y="4242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35608" y="422452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사람이 허브 목록으로 전체를 봄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1088136" y="4745736"/>
            <a:ext cx="4498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단, ‘그 볼트를 켰을 때’ 뿐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309360" y="2487168"/>
            <a:ext cx="5120640" cy="2697480"/>
          </a:xfrm>
          <a:prstGeom prst="roundRect">
            <a:avLst>
              <a:gd name="adj" fmla="val 4746"/>
            </a:avLst>
          </a:prstGeom>
          <a:solidFill>
            <a:srgbClr val="EEEAFB"/>
          </a:solidFill>
          <a:ln w="19050">
            <a:solidFill>
              <a:srgbClr val="6C4C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20256" y="2743200"/>
            <a:ext cx="4498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플러그인이 더 하는 일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620256" y="32369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967728" y="321868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어느 볼트·맨 바깥에서 켜도 로드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967728" y="345643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위치에 안 묶임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620256" y="37398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967728" y="372160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마켓플레이스에서 자동 최신화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967728" y="395935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수동 설치 X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620256" y="4242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967728" y="422452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볼트를 넘는 라우팅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967728" y="446227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다른 볼트 기능의 위치까지 안내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77240" y="54864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파일 구조 = 볼트 내부용 · 플러그인 = 볼트 경계를 넘는 발견용 — 대체재가 아니라 보완재.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777240" y="5806440"/>
            <a:ext cx="10637215" cy="384048"/>
          </a:xfrm>
          <a:prstGeom prst="roundRect">
            <a:avLst>
              <a:gd name="adj" fmla="val 23810"/>
            </a:avLst>
          </a:prstGeom>
          <a:solidFill>
            <a:srgbClr val="F5F5F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33272" y="5806440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팀원 설치는 한 줄:  /plugin marketplace add CdBd-in/cdbd-plugin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⑤ 플러그인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제작·일정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플러그인이 담는 건 ‘통합 기능 경로 가이드’ 하나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5개 볼트의 경로 가이드를 하나로 합친 파일 — 이게 하는 역할은 셋입니다.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377440"/>
            <a:ext cx="4937760" cy="361188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578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플러그인이 담는 것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051560" y="2999232"/>
            <a:ext cx="4389120" cy="530352"/>
          </a:xfrm>
          <a:prstGeom prst="roundRect">
            <a:avLst>
              <a:gd name="adj" fmla="val 17241"/>
            </a:avLst>
          </a:prstGeom>
          <a:solidFill>
            <a:srgbClr val="EEEAFB"/>
          </a:solidFill>
          <a:ln w="15875">
            <a:solidFill>
              <a:srgbClr val="6C4C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2999232"/>
            <a:ext cx="4389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통합 기능 경로 가이드 (.md 한 장)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51560" y="367588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= 5개 볼트의 _기능별 경로 가이드를 하나로 합침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051560" y="4041648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40416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templates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1920240" y="4041648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920240" y="40416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service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788920" y="4041648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88920" y="40416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system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0" y="4041648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0" y="40416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marketing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526280" y="4041648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26280" y="40416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qrstp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051560" y="468172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이건 플러그인이 아님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051560" y="4956048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브랜드 토큰 · Figma MCP → Figma 작업용 도구</a:t>
            </a:r>
            <a:endParaRPr lang="en-US" sz="10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로그인 정보 → 비밀이라 각자 로컬(~/.config)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89320" y="2377440"/>
            <a:ext cx="5425135" cy="3611880"/>
          </a:xfrm>
          <a:prstGeom prst="roundRect">
            <a:avLst>
              <a:gd name="adj" fmla="val 3038"/>
            </a:avLst>
          </a:prstGeom>
          <a:solidFill>
            <a:srgbClr val="F5F5F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63640" y="2578608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가이드가 하는 일 (역할)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263640" y="3081528"/>
            <a:ext cx="365760" cy="36576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28" name="Text 26"/>
          <p:cNvSpPr/>
          <p:nvPr/>
        </p:nvSpPr>
        <p:spPr>
          <a:xfrm>
            <a:off x="6263640" y="3081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766560" y="306324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위치 무관 발견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766560" y="3364992"/>
            <a:ext cx="4373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볼트별 가이드는 그 볼트를 켰을 때만. 통합 가이드는 어느 볼트·맨 바깥에서 켜도 전 CdBd 기능을 안다.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263640" y="4041648"/>
            <a:ext cx="365760" cy="36576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32" name="Text 30"/>
          <p:cNvSpPr/>
          <p:nvPr/>
        </p:nvSpPr>
        <p:spPr>
          <a:xfrm>
            <a:off x="6263640" y="4041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766560" y="402336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볼트를 넘는 라우팅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766560" y="4325112"/>
            <a:ext cx="4373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templates에서 “URL 게시해줘” → “그건 design-service 1-4에 있다”고 안내. 볼트 경계를 알아서 넘는다.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263640" y="5001768"/>
            <a:ext cx="365760" cy="36576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36" name="Text 34"/>
          <p:cNvSpPr/>
          <p:nvPr/>
        </p:nvSpPr>
        <p:spPr>
          <a:xfrm>
            <a:off x="6263640" y="5001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766560" y="498348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한 번 고치면 전원 최신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766560" y="5285232"/>
            <a:ext cx="4373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push하면 마켓플레이스로 팀 전원에 자동 반영. 볼트마다 손댈 필요 없다.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⑤ 플러그인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제작·일정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통합 기능 경로 가이드 — 내용은 이렇게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10p 분류(에디터·대시보드) 그대로 + 다른 볼트 작업까지 합쳐, ‘어느 기능이 어느 파일에’.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70855" y="1847088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[T] templates  [SV] design-service  [DS] design-system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77240" y="228600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CdBd 기능 (에디터 · 대시보드)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615184"/>
            <a:ext cx="507492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272491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카드 15종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97480" y="2724912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[T] 1-6-2 · [DS] 4-x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77240" y="3127248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318211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페이지 구성·꾸미기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97480" y="3182112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[DS] 3-2-x · [T] 1-6-1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77240" y="3584448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363931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게시 (URL · OG)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97480" y="3639312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[SV] 1-4 §게시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77240" y="4041648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409651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페이지 · URL 통계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97480" y="4096512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[DS] 3-11 통계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4498848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455371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계정 · 주소 · 요금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97480" y="4553712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[DS] 3-8 · 3-5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77240" y="4956048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" y="501091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버전 · 권한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97480" y="5010912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[DS] 3-15 · 3-13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336792" y="228600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다른 볼트 — 제작 작업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336792" y="2615184"/>
            <a:ext cx="507492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36792" y="272491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룩북 시안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8257032" y="2724912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[SV] 룩북/1-2. 시안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336792" y="3127248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36792" y="318211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소식지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8257032" y="3182112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[SV] 소식지/1. 제작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336792" y="3584448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36792" y="363931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QR 이벤트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8257032" y="3639312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makevu 3. 워크플로우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336792" y="4041648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336792" y="409651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블로그 썸네일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8257032" y="4096512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marketing 1-1. 썸네일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336792" y="4498848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36792" y="455371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아이콘 제작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8257032" y="4553712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[DS] skills/icon-use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777240" y="580644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핵심 — CdBd 기능뿐 아니라 룩북·QR·마케팅 작업까지 전부. 어느 볼트에서 켜도 이 한 파일로 다 압니다.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일정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제작·일정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얼마나 걸리나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문서 구조만이면 약 1주, 작동 방식을 영상으로 채우면 약 2주. (추정치)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87168"/>
            <a:ext cx="5120640" cy="2788920"/>
          </a:xfrm>
          <a:prstGeom prst="roundRect">
            <a:avLst>
              <a:gd name="adj" fmla="val 459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88136" y="2743200"/>
            <a:ext cx="4498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문서 구조 구축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88136" y="326440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볼트 경로 문서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343400" y="326440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0.5~1일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8136" y="366674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나머지 4볼트 확산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343400" y="366674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2~3일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88136" y="40690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연결 · 검증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343400" y="40690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0.5일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88136" y="447141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플러그인 배포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343400" y="447141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0.5~1일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088136" y="4818888"/>
            <a:ext cx="4498848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88136" y="49103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합계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703320" y="48463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2000" b="1" spc="-4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≈ 1주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6309360" y="2487168"/>
            <a:ext cx="5120640" cy="2788920"/>
          </a:xfrm>
          <a:prstGeom prst="roundRect">
            <a:avLst>
              <a:gd name="adj" fmla="val 4590"/>
            </a:avLst>
          </a:prstGeom>
          <a:solidFill>
            <a:srgbClr val="EEEAFB"/>
          </a:solidFill>
          <a:ln w="19050">
            <a:solidFill>
              <a:srgbClr val="6C4C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20256" y="2743200"/>
            <a:ext cx="4498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영상까지 문서화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620256" y="32644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○ 공백 기능 12개 (통계·계정·요금)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620256" y="366674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◐ 부분 기능 9개 보강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620256" y="4069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수령 → 프레임 추출·작성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10058400" y="4069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+3~5일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620256" y="4818888"/>
            <a:ext cx="4498848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620256" y="4910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문서 구조 + 영상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235440" y="48463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2000" b="1" spc="-4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≈ 2주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777240" y="553212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※ 숫자는 추정치(예시)입니다. 다음 장에서 ‘어떤 기능에 영상이 필요한가’를 봅니다.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④ 영상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제작·일정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영상은 ‘작동 방식’을 채운다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생김새(화면 스펙)는 design-system에 있습니다. 영상은 ‘어떻게 작동하나’를 채웁니다.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50592"/>
            <a:ext cx="512064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9848" y="2670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불필요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69848" y="30906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작동 방식까지 문서화된 기능 (●)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069848" y="3419856"/>
            <a:ext cx="4535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· 게시 · 이미지 등 에디터 기능 — 스킬·작업 문서에 작동 방식이 이미 있습니다.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309360" y="2450592"/>
            <a:ext cx="5120640" cy="1965960"/>
          </a:xfrm>
          <a:prstGeom prst="roundRect">
            <a:avLst>
              <a:gd name="adj" fmla="val 6512"/>
            </a:avLst>
          </a:prstGeom>
          <a:solidFill>
            <a:srgbClr val="EEEAFB"/>
          </a:solidFill>
          <a:ln w="19050">
            <a:solidFill>
              <a:srgbClr val="6C4C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01968" y="2670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필요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601968" y="30906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스펙은 있으나 작동 방식이 없는 기능 (◐)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601968" y="3419856"/>
            <a:ext cx="4535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통계 · 계정 · 요금 · 버전 · 권한 등 대시보드 — design-system에 화면 스펙은 있지만 로그인 뒤 ‘어떻게 작동하나’가 없습니다.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77240" y="461772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원본 영상은 남겨야 하나? — 정본은 텍스트, 원본은 필요할 때만 클라우드에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" y="4956048"/>
            <a:ext cx="3362858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96696" y="5102352"/>
            <a:ext cx="29239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정본 = 텍스트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996696" y="5394960"/>
            <a:ext cx="292394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‘영상에서 뽑은 문서’가 정본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96696" y="5669280"/>
            <a:ext cx="29239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영상은 제작용 소스일 뿐 · 검색은 문서로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414418" y="4956048"/>
            <a:ext cx="3362858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33874" y="5102352"/>
            <a:ext cx="29239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원본 영상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633874" y="5394960"/>
            <a:ext cx="292394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필요하면 git 밖 클라우드(구글 드라이브)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633874" y="5669280"/>
            <a:ext cx="29239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 문서에 링크 · 커밋 시 볼트 무거워짐(517MB 전례)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051597" y="4956048"/>
            <a:ext cx="3362858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71053" y="5102352"/>
            <a:ext cx="29239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프레임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271053" y="5394960"/>
            <a:ext cx="292394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정지컷 몇 장만 볼트 attachments/ 에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271053" y="5669280"/>
            <a:ext cx="29239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문서에서 ![[…]] 로 바로 보이게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658368"/>
            <a:ext cx="1234440" cy="457200"/>
          </a:xfrm>
          <a:prstGeom prst="roundRect">
            <a:avLst>
              <a:gd name="adj" fmla="val 12000"/>
            </a:avLst>
          </a:prstGeom>
          <a:ln w="15875">
            <a:solidFill>
              <a:srgbClr val="1D1D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65836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b="1" spc="5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CDBD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77240" y="22860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정리하면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2697480"/>
            <a:ext cx="10607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25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후보 3개 중 1번 — 기존 볼트 구조는 유지한다.</a:t>
            </a:r>
            <a:endParaRPr lang="en-US" sz="25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25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기능은 복제 모음집이 아니라 목록 하나로 모은다.</a:t>
            </a:r>
            <a:endParaRPr lang="en-US" sz="25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25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목록은 볼트마다 @import로 강제 로드 →</a:t>
            </a:r>
            <a:endParaRPr lang="en-US" sz="25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25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영상은 로그인 뒤 기능만, 원본은 클라우드에.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777240" y="6035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spc="3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design 볼트  ·  CdBd 기능 목록 상세.md  ·  help@cdbd.in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2026-08-11T12:29:14Z</dcterms:created>
  <dcterms:modified xsi:type="dcterms:W3CDTF">2026-08-11T12:29:14Z</dcterms:modified>
</cp:coreProperties>
</file>