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58368"/>
            <a:ext cx="1234440" cy="457200"/>
          </a:xfrm>
          <a:prstGeom prst="roundRect">
            <a:avLst>
              <a:gd name="adj" fmla="val 12000"/>
            </a:avLst>
          </a:prstGeom>
          <a:ln w="15875">
            <a:solidFill>
              <a:srgbClr val="1D1D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5836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5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CDBD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19456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400" b="1" spc="-6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CdBd</a:t>
            </a:r>
            <a:endParaRPr lang="en-US" sz="4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400" b="1" spc="-6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경로 가이드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77240" y="39776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계획  ·  어느 팀원이 Claude에게 CdBd 기능을 시켜도, 다 알고 제대로 동작하게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6126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후속 문서: CdBd 문서 체계 진단 및 개편 제안   ·   2026-08-11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766560" y="822960"/>
            <a:ext cx="4663440" cy="5212080"/>
          </a:xfrm>
          <a:prstGeom prst="roundRect">
            <a:avLst>
              <a:gd name="adj" fmla="val 3137"/>
            </a:avLst>
          </a:prstGeom>
          <a:solidFill>
            <a:srgbClr val="F5F5F7"/>
          </a:solidFill>
          <a:ln/>
        </p:spPr>
      </p:sp>
      <p:sp>
        <p:nvSpPr>
          <p:cNvPr id="8" name="Shape 6"/>
          <p:cNvSpPr/>
          <p:nvPr/>
        </p:nvSpPr>
        <p:spPr>
          <a:xfrm>
            <a:off x="8938260" y="1760220"/>
            <a:ext cx="1965960" cy="3794760"/>
          </a:xfrm>
          <a:prstGeom prst="roundRect">
            <a:avLst>
              <a:gd name="adj" fmla="val 12093"/>
            </a:avLst>
          </a:prstGeom>
          <a:solidFill>
            <a:srgbClr val="272729"/>
          </a:solidFill>
          <a:ln/>
          <a:effectLst>
            <a:outerShdw sx="100000" sy="100000" kx="0" ky="0" algn="bl" rotWithShape="0" blurRad="228600" dist="76200" dir="540000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029700" y="1879092"/>
            <a:ext cx="1783080" cy="3557016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9139428" y="2007108"/>
            <a:ext cx="1563624" cy="640080"/>
          </a:xfrm>
          <a:prstGeom prst="roundRect">
            <a:avLst>
              <a:gd name="adj" fmla="val 10000"/>
            </a:avLst>
          </a:prstGeom>
          <a:solidFill>
            <a:srgbClr val="EEEAFB"/>
          </a:solidFill>
          <a:ln/>
        </p:spPr>
      </p:sp>
      <p:sp>
        <p:nvSpPr>
          <p:cNvPr id="11" name="Shape 9"/>
          <p:cNvSpPr/>
          <p:nvPr/>
        </p:nvSpPr>
        <p:spPr>
          <a:xfrm>
            <a:off x="9139428" y="2793492"/>
            <a:ext cx="891540" cy="100584"/>
          </a:xfrm>
          <a:prstGeom prst="roundRect">
            <a:avLst>
              <a:gd name="adj" fmla="val 36364"/>
            </a:avLst>
          </a:prstGeom>
          <a:solidFill>
            <a:srgbClr val="1D1D1F"/>
          </a:solidFill>
          <a:ln/>
        </p:spPr>
      </p:sp>
      <p:sp>
        <p:nvSpPr>
          <p:cNvPr id="12" name="Shape 10"/>
          <p:cNvSpPr/>
          <p:nvPr/>
        </p:nvSpPr>
        <p:spPr>
          <a:xfrm>
            <a:off x="9139428" y="2976372"/>
            <a:ext cx="1563624" cy="457200"/>
          </a:xfrm>
          <a:prstGeom prst="roundRect">
            <a:avLst>
              <a:gd name="adj" fmla="val 14000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39428" y="3506724"/>
            <a:ext cx="1563624" cy="457200"/>
          </a:xfrm>
          <a:prstGeom prst="roundRect">
            <a:avLst>
              <a:gd name="adj" fmla="val 14000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22308" y="4165092"/>
            <a:ext cx="1197864" cy="310896"/>
          </a:xfrm>
          <a:prstGeom prst="roundRect">
            <a:avLst>
              <a:gd name="adj" fmla="val 50000"/>
            </a:avLst>
          </a:prstGeom>
          <a:solidFill>
            <a:srgbClr val="6C4C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383780" y="1348740"/>
            <a:ext cx="1965960" cy="3794760"/>
          </a:xfrm>
          <a:prstGeom prst="roundRect">
            <a:avLst>
              <a:gd name="adj" fmla="val 12093"/>
            </a:avLst>
          </a:prstGeom>
          <a:solidFill>
            <a:srgbClr val="272729"/>
          </a:solidFill>
          <a:ln/>
          <a:effectLst>
            <a:outerShdw sx="100000" sy="100000" kx="0" ky="0" algn="bl" rotWithShape="0" blurRad="228600" dist="76200" dir="540000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75220" y="1467612"/>
            <a:ext cx="1783080" cy="3557016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584948" y="1595628"/>
            <a:ext cx="1563624" cy="640080"/>
          </a:xfrm>
          <a:prstGeom prst="roundRect">
            <a:avLst>
              <a:gd name="adj" fmla="val 10000"/>
            </a:avLst>
          </a:prstGeom>
          <a:solidFill>
            <a:srgbClr val="EEEAFB"/>
          </a:solidFill>
          <a:ln/>
        </p:spPr>
      </p:sp>
      <p:sp>
        <p:nvSpPr>
          <p:cNvPr id="18" name="Shape 16"/>
          <p:cNvSpPr/>
          <p:nvPr/>
        </p:nvSpPr>
        <p:spPr>
          <a:xfrm>
            <a:off x="7584948" y="2382012"/>
            <a:ext cx="891540" cy="100584"/>
          </a:xfrm>
          <a:prstGeom prst="roundRect">
            <a:avLst>
              <a:gd name="adj" fmla="val 36364"/>
            </a:avLst>
          </a:prstGeom>
          <a:solidFill>
            <a:srgbClr val="1D1D1F"/>
          </a:solidFill>
          <a:ln/>
        </p:spPr>
      </p:sp>
      <p:sp>
        <p:nvSpPr>
          <p:cNvPr id="19" name="Shape 17"/>
          <p:cNvSpPr/>
          <p:nvPr/>
        </p:nvSpPr>
        <p:spPr>
          <a:xfrm>
            <a:off x="7584948" y="2564892"/>
            <a:ext cx="1563624" cy="457200"/>
          </a:xfrm>
          <a:prstGeom prst="roundRect">
            <a:avLst>
              <a:gd name="adj" fmla="val 14000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4948" y="3095244"/>
            <a:ext cx="1563624" cy="457200"/>
          </a:xfrm>
          <a:prstGeom prst="roundRect">
            <a:avLst>
              <a:gd name="adj" fmla="val 14000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67828" y="3753612"/>
            <a:ext cx="1197864" cy="310896"/>
          </a:xfrm>
          <a:prstGeom prst="roundRect">
            <a:avLst>
              <a:gd name="adj" fmla="val 50000"/>
            </a:avLst>
          </a:prstGeom>
          <a:solidFill>
            <a:srgbClr val="6C4CF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목차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91640" y="192024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목표와 문제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732520" y="192024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무엇이 안 되나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2377440"/>
            <a:ext cx="106372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39572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91640" y="2395728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분류 기준 — 에디터·어드민·홈페이지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732520" y="239572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뼈대를 새로 세운다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2852928"/>
            <a:ext cx="106372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871216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91640" y="2871216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분류표 초안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732520" y="287121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기능별 볼트 문서 유무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3328416"/>
            <a:ext cx="106372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34670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91640" y="3346704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문서 채우기 — 영상이 필요한 기능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732520" y="334670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어떻게 채우나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" y="3803904"/>
            <a:ext cx="106372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82219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691640" y="3822192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문서 경로 가이드 — 설계와 원리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732520" y="382219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무슨 파일에 어떻게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7240" y="4279392"/>
            <a:ext cx="106372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29768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691640" y="4297680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실행 순서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732520" y="429768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곳을 끝까지 → 확산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77240" y="4754880"/>
            <a:ext cx="106372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477316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691640" y="4773168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예시 — cdbd-design-service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732520" y="477316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과정과 예상 결과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77240" y="5230368"/>
            <a:ext cx="106372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5248656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691640" y="5248656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플러그인 — 어느 볼트에서나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732520" y="524865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마지막 단계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77240" y="5705856"/>
            <a:ext cx="106372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572414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691640" y="5724144"/>
            <a:ext cx="7223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다음 액션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732520" y="572414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결정할 것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77240" y="6181344"/>
            <a:ext cx="106372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왜 하는가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01  목표와 문제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기능을 다 알고, 다 되게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경로 가이드는 목표가 아니라 방법입니다. 필요하면 스킬·플러그인까지 함께 씁니다.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606040"/>
            <a:ext cx="3332378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" y="288036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EEEAF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4440" y="3044952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6C4CFF"/>
          </a:solidFill>
          <a:ln/>
        </p:spPr>
      </p:sp>
      <p:sp>
        <p:nvSpPr>
          <p:cNvPr id="11" name="Text 9"/>
          <p:cNvSpPr/>
          <p:nvPr/>
        </p:nvSpPr>
        <p:spPr>
          <a:xfrm>
            <a:off x="1069848" y="3611880"/>
            <a:ext cx="27471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목표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69848" y="3886200"/>
            <a:ext cx="27471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spc="-20" kern="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누가 시켜도 된다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69848" y="4389120"/>
            <a:ext cx="274716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어느 팀원의 Claude든 CdBd 기능을 알고 제대로 실행한다 — 사람이 문서 위치를 외우지 않아도.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29658" y="2606040"/>
            <a:ext cx="3332378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22266" y="288036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EEEAFB"/>
          </a:solidFill>
          <a:ln/>
        </p:spPr>
      </p:sp>
      <p:sp>
        <p:nvSpPr>
          <p:cNvPr id="16" name="Shape 14"/>
          <p:cNvSpPr/>
          <p:nvPr/>
        </p:nvSpPr>
        <p:spPr>
          <a:xfrm>
            <a:off x="4886858" y="3044952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6C4CFF"/>
          </a:solidFill>
          <a:ln/>
        </p:spPr>
      </p:sp>
      <p:sp>
        <p:nvSpPr>
          <p:cNvPr id="17" name="Text 15"/>
          <p:cNvSpPr/>
          <p:nvPr/>
        </p:nvSpPr>
        <p:spPr>
          <a:xfrm>
            <a:off x="4722266" y="3611880"/>
            <a:ext cx="27471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지금 문제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22266" y="3886200"/>
            <a:ext cx="27471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spc="-20" kern="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스스로 못 찾는다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22266" y="4389120"/>
            <a:ext cx="274716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기능은 문서에 흩어져 있고, Claude에게 위키링크는 클릭이 아니라 글자일 뿐. 폴더를 열어도 무엇이 있는지 모른다.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82077" y="2606040"/>
            <a:ext cx="3332378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74685" y="288036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EEEAFB"/>
          </a:solidFill>
          <a:ln/>
        </p:spPr>
      </p:sp>
      <p:sp>
        <p:nvSpPr>
          <p:cNvPr id="22" name="Shape 20"/>
          <p:cNvSpPr/>
          <p:nvPr/>
        </p:nvSpPr>
        <p:spPr>
          <a:xfrm>
            <a:off x="8539277" y="3044952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6C4CFF"/>
          </a:solidFill>
          <a:ln/>
        </p:spPr>
      </p:sp>
      <p:sp>
        <p:nvSpPr>
          <p:cNvPr id="23" name="Text 21"/>
          <p:cNvSpPr/>
          <p:nvPr/>
        </p:nvSpPr>
        <p:spPr>
          <a:xfrm>
            <a:off x="8374685" y="3611880"/>
            <a:ext cx="27471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방법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74685" y="3886200"/>
            <a:ext cx="27471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spc="-20" kern="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경로를 정리한다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74685" y="4389120"/>
            <a:ext cx="274716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무슨 기능이 → 어느 파일 어느 섹션에 있는지 표로 두고, CLAUDE.md가 그걸 먼저 읽게 연결한다.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분류 기준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02  뼈대를 새로 세운다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 표면 3곳으로 나눈다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가이드 센터(cdbd.mintlify.app)는 빠짐을 막는 참고용. 뼈대는 팀이 실제 시키는 일 기준으로.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468880"/>
            <a:ext cx="3332378" cy="2468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" y="274320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EEEAF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4440" y="2907792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6C4CFF"/>
          </a:solidFill>
          <a:ln/>
        </p:spPr>
      </p:sp>
      <p:sp>
        <p:nvSpPr>
          <p:cNvPr id="11" name="Text 9"/>
          <p:cNvSpPr/>
          <p:nvPr/>
        </p:nvSpPr>
        <p:spPr>
          <a:xfrm>
            <a:off x="1069848" y="3474720"/>
            <a:ext cx="27471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①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69848" y="3749040"/>
            <a:ext cx="27471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spc="-20" kern="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에디터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69848" y="4251960"/>
            <a:ext cx="27471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페이지를 만드는 곳. 카드 · 페이지 구성 · 이미지 · 게시(URL/OG) · 데이터 연결.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29658" y="2468880"/>
            <a:ext cx="3332378" cy="2468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22266" y="274320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EEEAFB"/>
          </a:solidFill>
          <a:ln/>
        </p:spPr>
      </p:sp>
      <p:sp>
        <p:nvSpPr>
          <p:cNvPr id="16" name="Shape 14"/>
          <p:cNvSpPr/>
          <p:nvPr/>
        </p:nvSpPr>
        <p:spPr>
          <a:xfrm>
            <a:off x="4886858" y="2907792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6C4CFF"/>
          </a:solidFill>
          <a:ln/>
        </p:spPr>
      </p:sp>
      <p:sp>
        <p:nvSpPr>
          <p:cNvPr id="17" name="Text 15"/>
          <p:cNvSpPr/>
          <p:nvPr/>
        </p:nvSpPr>
        <p:spPr>
          <a:xfrm>
            <a:off x="4722266" y="3474720"/>
            <a:ext cx="27471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②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22266" y="3749040"/>
            <a:ext cx="27471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spc="-20" kern="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어드민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22266" y="4251960"/>
            <a:ext cx="27471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템플릿 · 운영 관리. 템플릿 등록 · 상세페이지 · 운영 설정.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82077" y="2468880"/>
            <a:ext cx="3332378" cy="2468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74685" y="274320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EEEAFB"/>
          </a:solidFill>
          <a:ln/>
        </p:spPr>
      </p:sp>
      <p:sp>
        <p:nvSpPr>
          <p:cNvPr id="22" name="Shape 20"/>
          <p:cNvSpPr/>
          <p:nvPr/>
        </p:nvSpPr>
        <p:spPr>
          <a:xfrm>
            <a:off x="8539277" y="2907792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6C4CFF"/>
          </a:solidFill>
          <a:ln/>
        </p:spPr>
      </p:sp>
      <p:sp>
        <p:nvSpPr>
          <p:cNvPr id="23" name="Text 21"/>
          <p:cNvSpPr/>
          <p:nvPr/>
        </p:nvSpPr>
        <p:spPr>
          <a:xfrm>
            <a:off x="8374685" y="3474720"/>
            <a:ext cx="27471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③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74685" y="3749040"/>
            <a:ext cx="27471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spc="-20" kern="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홈페이지 (계정)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74685" y="4251960"/>
            <a:ext cx="27471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cdbd.in 대시보드. 홈 · 내 페이지 · 통계 · 공유 · 권한 · 버전 · 계정 · 요금.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77240" y="5120640"/>
            <a:ext cx="10637215" cy="868680"/>
          </a:xfrm>
          <a:prstGeom prst="roundRect">
            <a:avLst>
              <a:gd name="adj" fmla="val 10526"/>
            </a:avLst>
          </a:prstGeom>
          <a:solidFill>
            <a:srgbClr val="F5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1560" y="5230368"/>
            <a:ext cx="10088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＊ 실행 도구는 ‘기능’이 아닙니다.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Supabase 자동화 · 이미지 라이브러리 헬퍼 · 브라우저 세션 등은 그 기능을 ‘실행하는 팀 도구’ → ‘도구·규칙’으로 따로 표기.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분류표 초안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03  기능별 볼트 문서 유무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에디터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‘있음’ 행은 다음 단계에서 정확한 파일·섹션까지 채웁니다.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286000"/>
          <a:ext cx="106372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446520"/>
                <a:gridCol w="245059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영역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기능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볼트 문서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카드 15종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프로필·텍스트·이미지·갤러리·버튼·Q&amp;A·위치·SNS·구분선·2단·유튜브·예약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C4C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●  있음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카드 15종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상품 · 코드 · 메뉴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E6E73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◐  부분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구성·꾸미기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페이지 테마 · 카드 디자인 · 페이지 관리·설정 · 원페이지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C4C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●  있음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게시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URL 생성·게시 · OG · 슬러그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C4C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●  있음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이미지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이미지 라이브러리 (자산 관리)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C4C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●  있음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데이터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데이터 연결 (개인화 병합)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0A6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○  없음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분류표 초안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03  기능별 볼트 문서 유무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어드민 · 홈페이지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‘없음’ = 제품엔 있으나 팀 볼트엔 문서가 없는 기능. 앞으로 채울 목록.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240280"/>
          <a:ext cx="106372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446520"/>
                <a:gridCol w="24505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영역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기능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볼트 문서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어드민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템플릿 등록 · 상세페이지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E6E73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◐  부분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어드민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운영 설정 세부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0A6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○  없음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홈페이지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페이지 비밀번호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E6E73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◐  부분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홈페이지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페이지 통계 · URL 통계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0A6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○  없음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홈페이지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홈·내 페이지·공유 복제·버전 기록·권한·계정·내 주소·요금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0A6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○  없음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시작하기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템플릿 페이지 생성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E6E73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◐  부분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시작하기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회원가입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A0A6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○  없음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분류표 초안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03  ◐ 부분 — 구체적으로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‘부분만 있음’은 무엇이 있고 없나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◐ 표시한 기능의 있는 부분과 채울 부분.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07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286000"/>
          <a:ext cx="106372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377647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기능 (◐ 부분)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볼트에 있는 부분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채울 부분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상품·코드·메뉴 카드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카드 기능 목록(1-6-2)에 정의됨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전용 제작·사용 가이드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페이지 비밀번호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게시 모달에 ‘페이지 비밀번호’ 언급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설정 절차 문서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템플릿 등록·상세페이지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상세페이지 문서(1-7) 있음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어드민 등록 단계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템플릿 페이지 생성</a:t>
                      </a:r>
                      <a:endParaRPr lang="en-US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템플릿 워크플로우에 언급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신규 생성 단계별 문서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문서 채우기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04  무엇을 어떻게 채우나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영상이 필요한 기능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로그인 뒤에서만 보이는 UI 흐름이라 텍스트로 유추 불가 → 영상이 정확한 문서화에 도움.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240280"/>
            <a:ext cx="10637215" cy="2377440"/>
          </a:xfrm>
          <a:prstGeom prst="roundRect">
            <a:avLst>
              <a:gd name="adj" fmla="val 4615"/>
            </a:avLst>
          </a:prstGeom>
          <a:solidFill>
            <a:srgbClr val="EEEAFB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395728"/>
            <a:ext cx="99971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영상(녹화) 권장 — ○ 없음 대부분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816352"/>
            <a:ext cx="999713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페이지 통계 · URL 통계 (방문·클릭·응답·예약·구독)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데이터 연결(개인화) — 고객 데이터 병합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버전 기록 · 공유 복제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내 페이지 관리 · 어드민 운영 설정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계정 · 내 주소 · 요금(결제) · 권한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4846320"/>
            <a:ext cx="10637215" cy="1051560"/>
          </a:xfrm>
          <a:prstGeom prst="roundRect">
            <a:avLst>
              <a:gd name="adj" fmla="val 8696"/>
            </a:avLst>
          </a:prstGeom>
          <a:solidFill>
            <a:srgbClr val="272729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956048"/>
            <a:ext cx="100885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B7D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형식 안내 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파일을 주시면 제가 프레임(정지화면)으로 뽑아 읽습니다. 화면은 보지만 음성(내레이션)은 못 들으니, 핵심 동작이 화면에 보이게(또는 자막) 녹화해 주세요.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설계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05  문서 경로 가이드 — 설계와 원리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저장소마다 살아있는 index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저장소에 CLAUDE.md + _문서 경로 가이드.md 를 둡니다.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194560"/>
            <a:ext cx="10637215" cy="1280160"/>
          </a:xfrm>
          <a:prstGeom prst="roundRect">
            <a:avLst>
              <a:gd name="adj" fmla="val 8571"/>
            </a:avLst>
          </a:prstGeom>
          <a:solidFill>
            <a:srgbClr val="272729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340864"/>
            <a:ext cx="99971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B7D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각 저장소/
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├─ CLAUDE.md          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9D2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← 맨 위에 "작업 전 _문서 경로 가이드.md 읽어라" 1줄
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└─ _문서 경로 가이드.md  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9D2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← 이 저장소의 기능 → 파일 매핑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3785616"/>
            <a:ext cx="109728" cy="256032"/>
          </a:xfrm>
          <a:prstGeom prst="roundRect">
            <a:avLst>
              <a:gd name="adj" fmla="val 16667"/>
            </a:avLst>
          </a:prstGeom>
          <a:solidFill>
            <a:srgbClr val="6C4CFF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7490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Claude에게 위키링크는 ‘클릭’이 아니라 그냥 글자 — 스스로 열지 않는다.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4242816"/>
            <a:ext cx="109728" cy="256032"/>
          </a:xfrm>
          <a:prstGeom prst="roundRect">
            <a:avLst>
              <a:gd name="adj" fmla="val 16667"/>
            </a:avLst>
          </a:prstGeom>
          <a:solidFill>
            <a:srgbClr val="6C4C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2062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CLAUDE.md는 폴더 열 때 자동으로 읽는 유일한 파일 → 여기서 가리켜야 읽힌다.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4700016"/>
            <a:ext cx="109728" cy="256032"/>
          </a:xfrm>
          <a:prstGeom prst="roundRect">
            <a:avLst>
              <a:gd name="adj" fmla="val 16667"/>
            </a:avLst>
          </a:prstGeom>
          <a:solidFill>
            <a:srgbClr val="6C4C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6634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볼트에서 일하면 Claude가 파일을 바로 찾는다. (볼트 간 링크는 작동 안 함 → 저장소 안에 self-contained)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" y="5257800"/>
            <a:ext cx="10637215" cy="777240"/>
          </a:xfrm>
          <a:prstGeom prst="roundRect">
            <a:avLst>
              <a:gd name="adj" fmla="val 11765"/>
            </a:avLst>
          </a:prstGeom>
          <a:solidFill>
            <a:srgbClr val="EEEAFB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5349240"/>
            <a:ext cx="100885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‘아무 볼트에서나’ 되게 하려면?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저장소 파일은 그 볼트에서만 작동. 어느 볼트·맨 바깥에서 켜도 되게 하려면 → 플러그인(08장) = 실행 순서 7단계.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06  실행 순서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곳을 끝까지 → 확산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‘연결’ = CLAUDE.md에 경로 가이드를 읽으라고 한 줄 적어 잇는 것.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286000"/>
          <a:ext cx="10637215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6748272"/>
                <a:gridCol w="1463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단계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무엇을 · 왜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소요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C4C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1  정의 확정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대분류(에디터·어드민·홈페이지) 합의 — 무엇을 셀지 먼저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E73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오늘</a:t>
                      </a:r>
                      <a:endParaRPr lang="en-US" sz="12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C4C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2  분류표 초안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기능 ↔ 볼트 유무 대조 (앞 03장 형태)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E73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0.5일</a:t>
                      </a:r>
                      <a:endParaRPr lang="en-US" sz="12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C4C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3  경로 가이드 작성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저장소 1개만 골라 기능→정확한 파일·섹션 확정 + 경로 검증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E73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0.5일</a:t>
                      </a:r>
                      <a:endParaRPr lang="en-US" sz="12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C4C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4  연결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그 저장소 CLAUDE.md에 ‘_문서 경로 가이드.md 먼저 읽어라’ 1줄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E73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5분</a:t>
                      </a:r>
                      <a:endParaRPr lang="en-US" sz="12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C4C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5  검증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"○○ 해줘" → Claude가 경로 가이드 보고 올바른 파일 여는지 테스트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E73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10분</a:t>
                      </a:r>
                      <a:endParaRPr lang="en-US" sz="12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C4C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6  확산 &amp; 스킬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나머지 저장소에 복제 · 고빈도만 얇은 스킬로 승격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E73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이후</a:t>
                      </a:r>
                      <a:endParaRPr lang="en-US" sz="12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C4CFF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7  플러그인 제작·배포</a:t>
                      </a:r>
                      <a:endParaRPr lang="en-US" sz="125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555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경로 가이드·스킬·도구를 묶어 어느 볼트·맨 바깥에서도 로드 (08장)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E6E73"/>
                          </a:solidFill>
                          <a:latin typeface="Pretendard Medium" pitchFamily="34" charset="0"/>
                          <a:ea typeface="Pretendard Medium" pitchFamily="34" charset="-122"/>
                          <a:cs typeface="Pretendard Medium" pitchFamily="34" charset="-120"/>
                        </a:rPr>
                        <a:t>이후</a:t>
                      </a:r>
                      <a:endParaRPr lang="en-US" sz="1200" dirty="0">
                        <a:latin typeface="Pretendard Medium" charset="0"/>
                        <a:ea typeface="Pretendard Medium" charset="0"/>
                        <a:cs typeface="Pretendard Medium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585216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6~7단계 = ‘아무 볼트에서나’ 되게 하는 확장.  </a:t>
            </a:r>
            <a:pPr indent="0" marL="0">
              <a:buNone/>
            </a:pPr>
            <a:r>
              <a:rPr lang="en-US" sz="12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1곳이 작동 확인되면 복제하고, 마지막에 플러그인으로 어디서 켜도 로드되게 만든다.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예시 · 과정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07  cdbd-design-service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끝까지 하면 — 과정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저장소 1곳(추천: cdbd-design-service)을 예로.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286000"/>
            <a:ext cx="10637215" cy="713232"/>
          </a:xfrm>
          <a:prstGeom prst="roundRect">
            <a:avLst>
              <a:gd name="adj" fmla="val 12821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5256" y="245973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6C4CFF"/>
          </a:solidFill>
          <a:ln/>
        </p:spPr>
      </p:sp>
      <p:sp>
        <p:nvSpPr>
          <p:cNvPr id="10" name="Text 8"/>
          <p:cNvSpPr/>
          <p:nvPr/>
        </p:nvSpPr>
        <p:spPr>
          <a:xfrm>
            <a:off x="905256" y="2459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63040" y="2286000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기능 추출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0" y="2286000"/>
            <a:ext cx="7573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가이드 + 볼트 대조 → 이 저장소가 실제로 다루는 CdBd 기능만 추림 (콘텐츠 등록·URL 게시·이미지 라이브러리·카드 매핑·누끼 크롭)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3072384"/>
            <a:ext cx="10637215" cy="713232"/>
          </a:xfrm>
          <a:prstGeom prst="roundRect">
            <a:avLst>
              <a:gd name="adj" fmla="val 12821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5256" y="32461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6C4CFF"/>
          </a:solidFill>
          <a:ln/>
        </p:spPr>
      </p:sp>
      <p:sp>
        <p:nvSpPr>
          <p:cNvPr id="15" name="Text 13"/>
          <p:cNvSpPr/>
          <p:nvPr/>
        </p:nvSpPr>
        <p:spPr>
          <a:xfrm>
            <a:off x="905256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3072384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파일·섹션 확정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0" y="3072384"/>
            <a:ext cx="7573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기능 → 정확한 파일·섹션 + 경로 실재 검증 (진단서가 지적한 ‘표 경로 9개 오류’ 정정)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7240" y="3858768"/>
            <a:ext cx="10637215" cy="713232"/>
          </a:xfrm>
          <a:prstGeom prst="roundRect">
            <a:avLst>
              <a:gd name="adj" fmla="val 12821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5256" y="403250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6C4CFF"/>
          </a:solidFill>
          <a:ln/>
        </p:spPr>
      </p:sp>
      <p:sp>
        <p:nvSpPr>
          <p:cNvPr id="20" name="Text 18"/>
          <p:cNvSpPr/>
          <p:nvPr/>
        </p:nvSpPr>
        <p:spPr>
          <a:xfrm>
            <a:off x="905256" y="4032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63040" y="3858768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경로 가이드 작성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0" y="3858768"/>
            <a:ext cx="7573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_문서 경로 가이드.md 표로 정리 (기능 | 이렇게 말하면 | 파일·섹션 | 스킬화)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77240" y="4645152"/>
            <a:ext cx="10637215" cy="713232"/>
          </a:xfrm>
          <a:prstGeom prst="roundRect">
            <a:avLst>
              <a:gd name="adj" fmla="val 12821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5256" y="481888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6C4CFF"/>
          </a:solidFill>
          <a:ln/>
        </p:spPr>
      </p:sp>
      <p:sp>
        <p:nvSpPr>
          <p:cNvPr id="25" name="Text 23"/>
          <p:cNvSpPr/>
          <p:nvPr/>
        </p:nvSpPr>
        <p:spPr>
          <a:xfrm>
            <a:off x="905256" y="4818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63040" y="4645152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연결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0" y="4645152"/>
            <a:ext cx="7573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CLAUDE.md 맨 위에 ‘_문서 경로 가이드.md 먼저 읽어라’ 1줄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77240" y="5431536"/>
            <a:ext cx="10637215" cy="713232"/>
          </a:xfrm>
          <a:prstGeom prst="roundRect">
            <a:avLst>
              <a:gd name="adj" fmla="val 12821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5256" y="560527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6C4CFF"/>
          </a:solidFill>
          <a:ln/>
        </p:spPr>
      </p:sp>
      <p:sp>
        <p:nvSpPr>
          <p:cNvPr id="30" name="Text 28"/>
          <p:cNvSpPr/>
          <p:nvPr/>
        </p:nvSpPr>
        <p:spPr>
          <a:xfrm>
            <a:off x="905256" y="5605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463040" y="5431536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검증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57600" y="5431536"/>
            <a:ext cx="7573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 룩북 CdBd에 올려줘" → Claude가 스스로 §등록 워크플로우 열고 7단계 수행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예시 · 결과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07  cdbd-design-service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결과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"CdBd에 올려줘" 한마디로 달라지는 것.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286000"/>
            <a:ext cx="5135728" cy="2148840"/>
          </a:xfrm>
          <a:prstGeom prst="roundRect">
            <a:avLst>
              <a:gd name="adj" fmla="val 5106"/>
            </a:avLst>
          </a:prstGeom>
          <a:solidFill>
            <a:srgbClr val="F5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450592"/>
            <a:ext cx="458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지금 (경로 가이드 없음)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880360"/>
            <a:ext cx="45870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어느 문서를 볼지 모름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표 경로가 옛 파일명이라 헤맴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사람이 매번 문서를 지정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팀원마다 결과가 달라짐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78728" y="2286000"/>
            <a:ext cx="5135728" cy="2148840"/>
          </a:xfrm>
          <a:prstGeom prst="roundRect">
            <a:avLst>
              <a:gd name="adj" fmla="val 5106"/>
            </a:avLst>
          </a:prstGeom>
          <a:solidFill>
            <a:srgbClr val="6C4CFF"/>
          </a:solidFill>
          <a:ln/>
        </p:spPr>
      </p:sp>
      <p:sp>
        <p:nvSpPr>
          <p:cNvPr id="12" name="Text 10"/>
          <p:cNvSpPr/>
          <p:nvPr/>
        </p:nvSpPr>
        <p:spPr>
          <a:xfrm>
            <a:off x="6553048" y="2450592"/>
            <a:ext cx="458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적용 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53048" y="2880360"/>
            <a:ext cx="45870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경로 가이드에서 바로 §등록 워크플로우로 진입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폴더 확인 → 멀티페이지 → 카드 매핑 → URL·OG → 검증 → 게시 자동 흐름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누가 시켜도 같은 결과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46177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부수 결과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493776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진단서가 지적한 ‘핵심 문서 표 경로 9개 오류’ 정정   · ‘통계·개인화·버전기록 = 볼트에 없음’이 명시돼 다음 작업 목록이 생김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소요 반나절 · 산출물 = _문서 경로 가이드.md 1개 + CLAUDE.md 1줄 → 통하면 나머지 저장소로 복제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확장 · 마지막 단계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08  플러그인 제작·배포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플러그인 — 어느 볼트에서나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경로 가이드·스킬·도구를 하나로 묶어 배포 (진단서 D안·부록 B).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194560"/>
            <a:ext cx="10637215" cy="1783080"/>
          </a:xfrm>
          <a:prstGeom prst="roundRect">
            <a:avLst>
              <a:gd name="adj" fmla="val 6154"/>
            </a:avLst>
          </a:prstGeom>
          <a:solidFill>
            <a:srgbClr val="272729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322576"/>
            <a:ext cx="999713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9B7D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cdbd-plugin/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9D2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                  (GitHub 저장소 1개)
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├─ .claude-plugin/marketplace.json     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9B7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← 새로
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└─ plugins/cdbd/
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├─ .claude-plugin/plugin.json          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9B7D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← 새로
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├─ skills/ · agents/ · commands/
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├─ .mcp.json   (Figma 연결)
</a:t>
            </a:r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└─ 문서 경로 가이드(공통) · 브랜드 토큰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4160520"/>
            <a:ext cx="5135728" cy="1783080"/>
          </a:xfrm>
          <a:prstGeom prst="roundRect">
            <a:avLst>
              <a:gd name="adj" fmla="val 5128"/>
            </a:avLst>
          </a:prstGeom>
          <a:solidFill>
            <a:srgbClr val="F5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4297680"/>
            <a:ext cx="458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새로 만드는 것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4645152"/>
            <a:ext cx="45870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GitHub 저장소 1개 (private 권장)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새 파일 2개: marketplace.json · plugin.json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나머지는 기존 스킬·도구를 그대로 복사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깨진 링크 정리 + 브랜드 토큰 동봉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78728" y="4160520"/>
            <a:ext cx="5135728" cy="1783080"/>
          </a:xfrm>
          <a:prstGeom prst="roundRect">
            <a:avLst>
              <a:gd name="adj" fmla="val 5128"/>
            </a:avLst>
          </a:prstGeom>
          <a:solidFill>
            <a:srgbClr val="EEEAFB"/>
          </a:solidFill>
          <a:ln/>
        </p:spPr>
      </p:sp>
      <p:sp>
        <p:nvSpPr>
          <p:cNvPr id="14" name="Text 12"/>
          <p:cNvSpPr/>
          <p:nvPr/>
        </p:nvSpPr>
        <p:spPr>
          <a:xfrm>
            <a:off x="6553048" y="4297680"/>
            <a:ext cx="458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팀원 설치 (1회)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53048" y="4645152"/>
            <a:ext cx="45870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/plugin marketplace add CdBd-in/cdbd-plugin
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/plugin install cdbd@cdbd-plugin
</a:t>
            </a:r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어느 볼트·맨 바깥에서도 로드 · 자동 최신화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다음 액션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09  지금 결정할 것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결정할 것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2468880"/>
            <a:ext cx="10637215" cy="960120"/>
          </a:xfrm>
          <a:prstGeom prst="roundRect">
            <a:avLst>
              <a:gd name="adj" fmla="val 11429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468880"/>
            <a:ext cx="109728" cy="960120"/>
          </a:xfrm>
          <a:prstGeom prst="roundRect">
            <a:avLst>
              <a:gd name="adj" fmla="val 16667"/>
            </a:avLst>
          </a:prstGeom>
          <a:solidFill>
            <a:srgbClr val="6C4CFF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61518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대분류 확정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980944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에디터 · 어드민 · 홈페이지(계정) — 실행 도구는 ‘도구’로 별도. 이대로 갈지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566160"/>
            <a:ext cx="10637215" cy="960120"/>
          </a:xfrm>
          <a:prstGeom prst="roundRect">
            <a:avLst>
              <a:gd name="adj" fmla="val 11429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566160"/>
            <a:ext cx="109728" cy="960120"/>
          </a:xfrm>
          <a:prstGeom prst="roundRect">
            <a:avLst>
              <a:gd name="adj" fmla="val 16667"/>
            </a:avLst>
          </a:prstGeom>
          <a:solidFill>
            <a:srgbClr val="6C4C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7124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첫 저장소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4078224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cdbd-design-service 추천 — 다른 곳으로 할지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4663440"/>
            <a:ext cx="10637215" cy="960120"/>
          </a:xfrm>
          <a:prstGeom prst="roundRect">
            <a:avLst>
              <a:gd name="adj" fmla="val 11429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663440"/>
            <a:ext cx="109728" cy="960120"/>
          </a:xfrm>
          <a:prstGeom prst="roundRect">
            <a:avLst>
              <a:gd name="adj" fmla="val 16667"/>
            </a:avLst>
          </a:prstGeom>
          <a:solidFill>
            <a:srgbClr val="6C4CFF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8097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확정되면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5175504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2단계(분류표 초안) → 3단계(경로 가이드 작성)로 바로 진행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2026-08-11T05:50:35Z</dcterms:created>
  <dcterms:modified xsi:type="dcterms:W3CDTF">2026-08-11T05:50:35Z</dcterms:modified>
</cp:coreProperties>
</file>