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C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F69B"/>
                </a:solidFill>
                <a:latin typeface="Pretendard"/>
                <a:ea typeface="Pretendard"/>
                <a:cs typeface="Pretendard"/>
              </a:rPr>
              <a:t>CdBd 디자인팀 · 문서 체계 진단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97480"/>
            <a:ext cx="9692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Claude가 우리 기능을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 알게 만들려면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70916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C9C9C9"/>
                </a:solidFill>
                <a:latin typeface="Pretendard"/>
                <a:ea typeface="Pretendard"/>
                <a:cs typeface="Pretendard"/>
              </a:rPr>
              <a:t>저장소 9개 · 문서 465개 전수 조사 결과와 개편 제안</a:t>
            </a:r>
          </a:p>
          <a:p>
            <a:pPr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2026-08-09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C4CFF"/>
                </a:solidFill>
                <a:latin typeface="Pretendard"/>
                <a:ea typeface="Pretendard"/>
                <a:cs typeface="Pretendard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한 줄로 요약하면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148840"/>
            <a:ext cx="106344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487168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CdBd의 기능은 총 82개입니다.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127248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그중 Claude가 스스로 발견할 수 있는 건 </a:t>
            </a:r>
            <a:r>
              <a:rPr sz="3400" b="1">
                <a:solidFill>
                  <a:srgbClr val="6C4CFF"/>
                </a:solidFill>
                <a:latin typeface="Pretendard"/>
                <a:ea typeface="Pretendard"/>
                <a:cs typeface="Pretendard"/>
              </a:rPr>
              <a:t>7개</a:t>
            </a:r>
            <a:r>
              <a:rPr sz="2600" b="0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 뿐입니다.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858768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53A40"/>
                </a:solidFill>
                <a:latin typeface="Pretendard"/>
                <a:ea typeface="Pretendard"/>
                <a:cs typeface="Pretendard"/>
              </a:rPr>
              <a:t>그리고 볼트 루트에서 Claude를 켜면 — 0개입니다.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754880"/>
            <a:ext cx="10607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즉 팀원이 “룩북 시안 만들어줘”, “큐알 이벤트 만들어줘” 라고 해도</a:t>
            </a:r>
          </a:p>
          <a:p>
            <a:pPr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</a:pPr>
            <a:r>
              <a:rPr sz="17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Claude는 그런 기능이 있다는 사실 자체를 모릅니다. 문서는 훌륭하게 쓰여 있는데도요.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조사: 5개 카테고리 저장소 + 허브 + 미확인 저장소 3개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2636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C4CFF"/>
                </a:solidFill>
                <a:latin typeface="Pretendard"/>
                <a:ea typeface="Pretendard"/>
                <a:cs typeface="Pretendard"/>
              </a:rPr>
              <a:t>① 현황 파악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CdBd-in 계정에는 저장소가 9개 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ONBOARDING.md는 6개라고 안내하지만, 실제로는 3개가 더 있습니다.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240280"/>
          <a:ext cx="10634472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3017520"/>
                <a:gridCol w="1097280"/>
                <a:gridCol w="1463040"/>
                <a:gridCol w="2313432"/>
              </a:tblGrid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저장소</a:t>
                      </a:r>
                    </a:p>
                  </a:txBody>
                  <a:tcPr marL="128016" marR="91440" marT="36576" marB="36576" anchor="ctr">
                    <a:solidFill>
                      <a:srgbClr val="2929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역할</a:t>
                      </a:r>
                    </a:p>
                  </a:txBody>
                  <a:tcPr marL="128016" marR="91440" marT="36576" marB="36576" anchor="ctr">
                    <a:solidFill>
                      <a:srgbClr val="2929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</a:t>
                      </a:r>
                    </a:p>
                  </a:txBody>
                  <a:tcPr marL="128016" marR="91440" marT="36576" marB="36576" anchor="ctr">
                    <a:solidFill>
                      <a:srgbClr val="2929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용량</a:t>
                      </a:r>
                    </a:p>
                  </a:txBody>
                  <a:tcPr marL="128016" marR="91440" marT="36576" marB="36576" anchor="ctr">
                    <a:solidFill>
                      <a:srgbClr val="2929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</a:t>
                      </a:r>
                    </a:p>
                  </a:txBody>
                  <a:tcPr marL="128016" marR="91440" marT="36576" marB="36576" anchor="ctr">
                    <a:solidFill>
                      <a:srgbClr val="292929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design (허브)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공통 문서 · 온보딩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3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3 MB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공통 규칙 0개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cdbd-design-system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디자인 시스템 정본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99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활동 저조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cdbd-templates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템플릿 제작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163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 MB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최활성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cdbd-marketing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블로그 · 매거진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82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517 MB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45일 방치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cdbd-design-service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룩북 · 소식지 (고객)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43 MB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활동 저조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makevu-qrstp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QR 스탬프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173 MB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활성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documentation</a:t>
                      </a:r>
                    </a:p>
                  </a:txBody>
                  <a:tcPr marL="128016" marR="91440" marT="36576" marB="36576" anchor="ctr">
                    <a:solidFill>
                      <a:srgbClr val="FFF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Mintlify 기본 템플릿</a:t>
                      </a:r>
                    </a:p>
                  </a:txBody>
                  <a:tcPr marL="128016" marR="91440" marT="36576" marB="36576" anchor="ctr">
                    <a:solidFill>
                      <a:srgbClr val="FFF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</a:t>
                      </a:r>
                    </a:p>
                  </a:txBody>
                  <a:tcPr marL="128016" marR="91440" marT="36576" marB="36576" anchor="ctr">
                    <a:solidFill>
                      <a:srgbClr val="FFF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180 KB</a:t>
                      </a:r>
                    </a:p>
                  </a:txBody>
                  <a:tcPr marL="128016" marR="91440" marT="36576" marB="36576" anchor="ctr">
                    <a:solidFill>
                      <a:srgbClr val="FFF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미사용 · 방치</a:t>
                      </a:r>
                    </a:p>
                  </a:txBody>
                  <a:tcPr marL="128016" marR="91440" marT="36576" marB="36576" anchor="ctr">
                    <a:solidFill>
                      <a:srgbClr val="FFF6E6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mintlify-docs</a:t>
                      </a:r>
                    </a:p>
                  </a:txBody>
                  <a:tcPr marL="128016" marR="91440" marT="36576" marB="36576" anchor="ctr">
                    <a:solidFill>
                      <a:srgbClr val="FFF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Mintlify 기본 템플릿</a:t>
                      </a:r>
                    </a:p>
                  </a:txBody>
                  <a:tcPr marL="128016" marR="91440" marT="36576" marB="36576" anchor="ctr">
                    <a:solidFill>
                      <a:srgbClr val="FFF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35</a:t>
                      </a:r>
                    </a:p>
                  </a:txBody>
                  <a:tcPr marL="128016" marR="91440" marT="36576" marB="36576" anchor="ctr">
                    <a:solidFill>
                      <a:srgbClr val="FFF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 MB</a:t>
                      </a:r>
                    </a:p>
                  </a:txBody>
                  <a:tcPr marL="128016" marR="91440" marT="36576" marB="36576" anchor="ctr">
                    <a:solidFill>
                      <a:srgbClr val="FFF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미사용 · 방치</a:t>
                      </a:r>
                    </a:p>
                  </a:txBody>
                  <a:tcPr marL="128016" marR="91440" marT="36576" marB="36576" anchor="ctr">
                    <a:solidFill>
                      <a:srgbClr val="FFF6E6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docs</a:t>
                      </a:r>
                    </a:p>
                  </a:txBody>
                  <a:tcPr marL="128016" marR="91440" marT="36576" marB="36576" anchor="ctr">
                    <a:solidFill>
                      <a:srgbClr val="FFF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Mintlify 기본 템플릿</a:t>
                      </a:r>
                    </a:p>
                  </a:txBody>
                  <a:tcPr marL="128016" marR="91440" marT="36576" marB="36576" anchor="ctr">
                    <a:solidFill>
                      <a:srgbClr val="FFF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35</a:t>
                      </a:r>
                    </a:p>
                  </a:txBody>
                  <a:tcPr marL="128016" marR="91440" marT="36576" marB="36576" anchor="ctr">
                    <a:solidFill>
                      <a:srgbClr val="FFF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 MB</a:t>
                      </a:r>
                    </a:p>
                  </a:txBody>
                  <a:tcPr marL="128016" marR="91440" marT="36576" marB="36576" anchor="ctr">
                    <a:solidFill>
                      <a:srgbClr val="FFF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미사용 · 방치</a:t>
                      </a:r>
                    </a:p>
                  </a:txBody>
                  <a:tcPr marL="128016" marR="91440" marT="36576" marB="36576" anchor="ctr">
                    <a:solidFill>
                      <a:srgbClr val="FFF6E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5806440"/>
            <a:ext cx="10634472" cy="384048"/>
          </a:xfrm>
          <a:prstGeom prst="rect">
            <a:avLst/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888736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신규 발견 3개는 모두 Mintlify 기본 템플릿 그대로입니다. 커밋 1개('Initial commit'), CdBd 내용 0줄, docs와 mintlify-docs는 완전히 동일한 중복본입니다.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2636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C4CFF"/>
                </a:solidFill>
                <a:latin typeface="Pretendard"/>
                <a:ea typeface="Pretendard"/>
                <a:cs typeface="Pretendard"/>
              </a:rPr>
              <a:t>① 현황 파악 · 긴급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공개 설정이 문서와 정반대입니다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10634472" cy="566928"/>
          </a:xfrm>
          <a:prstGeom prst="rect">
            <a:avLst/>
          </a:prstGeom>
          <a:solidFill>
            <a:srgbClr val="FDEEEE"/>
          </a:solidFill>
          <a:ln w="15240">
            <a:solidFill>
              <a:srgbClr val="E5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75104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53A40"/>
                </a:solidFill>
                <a:latin typeface="Pretendard"/>
                <a:ea typeface="Pretendard"/>
                <a:cs typeface="Pretendard"/>
              </a:rPr>
              <a:t>ONBOARDING.md 48행:  “cdbd-design-service는 고객 대행 작업이라 비공개(private) 저장소입니다.”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697480"/>
          <a:ext cx="10634472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114800"/>
                <a:gridCol w="2926080"/>
                <a:gridCol w="3593592"/>
              </a:tblGrid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저장소</a:t>
                      </a:r>
                    </a:p>
                  </a:txBody>
                  <a:tcPr marL="128016" marR="91440" marT="36576" marB="36576" anchor="ctr">
                    <a:solidFill>
                      <a:srgbClr val="29292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문서상 설명</a:t>
                      </a:r>
                    </a:p>
                  </a:txBody>
                  <a:tcPr marL="128016" marR="91440" marT="36576" marB="36576" anchor="ctr">
                    <a:solidFill>
                      <a:srgbClr val="29292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실제 설정</a:t>
                      </a:r>
                    </a:p>
                  </a:txBody>
                  <a:tcPr marL="128016" marR="91440" marT="36576" marB="36576" anchor="ctr">
                    <a:solidFill>
                      <a:srgbClr val="29292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cdbd-design-service</a:t>
                      </a:r>
                    </a:p>
                  </a:txBody>
                  <a:tcPr marL="128016" marR="91440" marT="36576" marB="36576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비공개 (고객 자료)</a:t>
                      </a:r>
                    </a:p>
                  </a:txBody>
                  <a:tcPr marL="128016" marR="91440" marT="36576" marB="36576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🔴 PUBLIC — 누구나 열람 가능</a:t>
                      </a:r>
                    </a:p>
                  </a:txBody>
                  <a:tcPr marL="128016" marR="91440" marT="36576" marB="36576" anchor="ctr">
                    <a:solidFill>
                      <a:srgbClr val="FDEE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cdbd-design-system</a:t>
                      </a:r>
                    </a:p>
                  </a:txBody>
                  <a:tcPr marL="128016" marR="91440" marT="36576" marB="36576" anchor="ctr">
                    <a:solidFill>
                      <a:srgbClr val="ECFA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언급 없음</a:t>
                      </a:r>
                    </a:p>
                  </a:txBody>
                  <a:tcPr marL="128016" marR="91440" marT="36576" marB="36576" anchor="ctr">
                    <a:solidFill>
                      <a:srgbClr val="ECFA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🔒 private</a:t>
                      </a:r>
                    </a:p>
                  </a:txBody>
                  <a:tcPr marL="128016" marR="91440" marT="36576" marB="36576" anchor="ctr">
                    <a:solidFill>
                      <a:srgbClr val="ECFA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design · templates · marketing · makevu-qrstp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공개 전제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PUBLIC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457200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C4CFF"/>
                </a:solidFill>
                <a:latin typeface="Pretendard"/>
                <a:ea typeface="Pretendard"/>
                <a:cs typeface="Pretendard"/>
              </a:rPr>
              <a:t>무슨 뜻이냐면</a:t>
            </a:r>
          </a:p>
          <a:p>
            <a:pPr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450" b="0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· 고객사 룩북 작업 자료(브랜드명 · 시안 · 제작 프로세스)가 지금 인터넷에 공개돼 있습니다.</a:t>
            </a:r>
          </a:p>
          <a:p>
            <a:pPr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</a:pPr>
            <a:r>
              <a:rPr sz="1450" b="0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· 반대로 정말 공유돼야 할 디자인 시스템 저장소가 비공개로 잠겨 있습니다.</a:t>
            </a:r>
          </a:p>
          <a:p>
            <a:pPr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</a:pPr>
            <a:r>
              <a:rPr sz="145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· 대용량 저장소(marketing 517MB · makevu 173MB)도 임시 캡처 이미지가 그대로 커밋된 결과입니다.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확인 방법: GitHub API 응답 코드 — 미인증 상태에서 열람 가능 여부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2636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C4CFF"/>
                </a:solidFill>
                <a:latin typeface="Pretendard"/>
                <a:ea typeface="Pretendard"/>
                <a:cs typeface="Pretendard"/>
              </a:rPr>
              <a:t>② 진단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기능은 82개, 등록된 건 7개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“기능”이란 팀원이 Claude에게 시킬 수 있는 작업 단위입니다. (예: 룩북 시안 제작, QR 이벤트 제작)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cdbd-templates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11880" y="2368296"/>
            <a:ext cx="5852160" cy="310896"/>
          </a:xfrm>
          <a:prstGeom prst="rect">
            <a:avLst/>
          </a:prstGeom>
          <a:solidFill>
            <a:srgbClr val="E8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11880" y="2368296"/>
            <a:ext cx="2065468" cy="310896"/>
          </a:xfrm>
          <a:prstGeom prst="rect">
            <a:avLst/>
          </a:prstGeom>
          <a:solidFill>
            <a:srgbClr val="6C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46920" y="23865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C4CFF"/>
                </a:solidFill>
                <a:latin typeface="Pretendard"/>
                <a:ea typeface="Pretendard"/>
                <a:cs typeface="Pretendard"/>
              </a:rPr>
              <a:t>6/17  ·  35%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8094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cdbd-design-system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2971800"/>
            <a:ext cx="5852160" cy="310896"/>
          </a:xfrm>
          <a:prstGeom prst="rect">
            <a:avLst/>
          </a:prstGeom>
          <a:solidFill>
            <a:srgbClr val="E8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80" y="2971800"/>
            <a:ext cx="688489" cy="310896"/>
          </a:xfrm>
          <a:prstGeom prst="rect">
            <a:avLst/>
          </a:prstGeom>
          <a:solidFill>
            <a:srgbClr val="6C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46920" y="2990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C4CFF"/>
                </a:solidFill>
                <a:latin typeface="Pretendard"/>
                <a:ea typeface="Pretendard"/>
                <a:cs typeface="Pretendard"/>
              </a:rPr>
              <a:t>2/17  ·  12%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8444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cdbd-marketing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11880" y="3575304"/>
            <a:ext cx="5852160" cy="310896"/>
          </a:xfrm>
          <a:prstGeom prst="rect">
            <a:avLst/>
          </a:prstGeom>
          <a:solidFill>
            <a:srgbClr val="E8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20" y="3593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53A40"/>
                </a:solidFill>
                <a:latin typeface="Pretendard"/>
                <a:ea typeface="Pretendard"/>
                <a:cs typeface="Pretendard"/>
              </a:rPr>
              <a:t>0/12  ·  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87951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cdbd-design-service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1880" y="4178807"/>
            <a:ext cx="5852160" cy="310896"/>
          </a:xfrm>
          <a:prstGeom prst="rect">
            <a:avLst/>
          </a:prstGeom>
          <a:solidFill>
            <a:srgbClr val="E8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419709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53A40"/>
                </a:solidFill>
                <a:latin typeface="Pretendard"/>
                <a:ea typeface="Pretendard"/>
                <a:cs typeface="Pretendard"/>
              </a:rPr>
              <a:t>0/16  ·  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791455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makevu-qrstp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11880" y="4782312"/>
            <a:ext cx="5852160" cy="310896"/>
          </a:xfrm>
          <a:prstGeom prst="rect">
            <a:avLst/>
          </a:prstGeom>
          <a:solidFill>
            <a:srgbClr val="E8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480059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53A40"/>
                </a:solidFill>
                <a:latin typeface="Pretendard"/>
                <a:ea typeface="Pretendard"/>
                <a:cs typeface="Pretendard"/>
              </a:rPr>
              <a:t>0/20  ·  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5532120"/>
            <a:ext cx="10634472" cy="475488"/>
          </a:xfrm>
          <a:prstGeom prst="rect">
            <a:avLst/>
          </a:prstGeom>
          <a:solidFill>
            <a:srgbClr val="29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65099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합계 82개 중 7개 (8.5%)  ·  나머지 75개는 마크다운 문서 속에 묻혀 있어 누가 가리켜주기 전엔 Claude가 알 수 없습니다.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2636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C4CFF"/>
                </a:solidFill>
                <a:latin typeface="Pretendard"/>
                <a:ea typeface="Pretendard"/>
                <a:cs typeface="Pretendard"/>
              </a:rPr>
              <a:t>② 진단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쉽게 말하면 — 도서관에 안내판이 없습니다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3337560" cy="2834640"/>
          </a:xfrm>
          <a:prstGeom prst="rect">
            <a:avLst/>
          </a:prstGeom>
          <a:solidFill>
            <a:srgbClr val="ECFAF2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267712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책은 훌륭합니다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3200400"/>
            <a:ext cx="27889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465권의 책(문서)이 있고 내용도 좋습니다.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큐알 이벤트 제작법 372줄, 개발 문서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가이드 787줄 — 밀도가 매우 높습니다.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965960"/>
            <a:ext cx="3337560" cy="2834640"/>
          </a:xfrm>
          <a:prstGeom prst="rect">
            <a:avLst/>
          </a:prstGeom>
          <a:solidFill>
            <a:srgbClr val="FFF6E6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267712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그런데 안내판이 없습니다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3200400"/>
            <a:ext cx="27889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“이 작업을 하려면 몇 번 서가로 가라”는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표지판이 한 장도 없습니다. 6개 저장소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전체에 목차 파일이 0개입니다.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965960"/>
            <a:ext cx="3337560" cy="2834640"/>
          </a:xfrm>
          <a:prstGeom prst="rect">
            <a:avLst/>
          </a:prstGeom>
          <a:solidFill>
            <a:srgbClr val="FDEEEE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2267712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게다가 방이 6개로 나뉘어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서로 문이 잠겨 있습니다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3200400"/>
            <a:ext cx="27889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옆방에 뭐가 있는지 볼 수 없습니다.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그래서 같은 책을 각 방이 따로 베껴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뒀고, 내용이 서로 달라졌습니다.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074920"/>
            <a:ext cx="10634472" cy="868680"/>
          </a:xfrm>
          <a:prstGeom prst="rect">
            <a:avLst/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28523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C4CFF"/>
                </a:solidFill>
                <a:latin typeface="Pretendard"/>
                <a:ea typeface="Pretendard"/>
                <a:cs typeface="Pretendard"/>
              </a:rPr>
              <a:t>핵심: Claude에게 위키링크는 “클릭”이 아닙니다.</a:t>
            </a:r>
          </a:p>
          <a:p>
            <a:pPr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</a:pPr>
            <a:r>
              <a:rPr sz="1350" b="0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사람은 [[문서]]를 보면 눌러서 열지만, Claude에게는 그냥 글자입니다. 스스로 찾아 들어가지 않습니다.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이 표현은 팀이 이미 작성해 둔 「CdBd 에디터 문서 구축 계획」에 그대로 적혀 있습니다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2636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C4CFF"/>
                </a:solidFill>
                <a:latin typeface="Pretendard"/>
                <a:ea typeface="Pretendard"/>
                <a:cs typeface="Pretendard"/>
              </a:rPr>
              <a:t>③ 근본 원인 5가지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원인 ① 입구가 비어 있습니다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920240"/>
          <a:ext cx="10634472" cy="20116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91840"/>
                <a:gridCol w="4023360"/>
                <a:gridCol w="3319272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위치</a:t>
                      </a:r>
                    </a:p>
                  </a:txBody>
                  <a:tcPr marL="128016" marR="91440" marT="36576" marB="36576" anchor="ctr">
                    <a:solidFill>
                      <a:srgbClr val="29292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있어야 할 것</a:t>
                      </a:r>
                    </a:p>
                  </a:txBody>
                  <a:tcPr marL="128016" marR="91440" marT="36576" marB="36576" anchor="ctr">
                    <a:solidFill>
                      <a:srgbClr val="29292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실제</a:t>
                      </a:r>
                    </a:p>
                  </a:txBody>
                  <a:tcPr marL="128016" marR="91440" marT="36576" marB="36576" anchor="ctr">
                    <a:solidFill>
                      <a:srgbClr val="29292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design/CLAUDE.md</a:t>
                      </a:r>
                    </a:p>
                  </a:txBody>
                  <a:tcPr marL="128016" marR="91440" marT="36576" marB="36576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팀 공통 규칙 · 전체 기능 목록</a:t>
                      </a:r>
                    </a:p>
                  </a:txBody>
                  <a:tcPr marL="128016" marR="91440" marT="36576" marB="36576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파일 자체가 없음</a:t>
                      </a:r>
                    </a:p>
                  </a:txBody>
                  <a:tcPr marL="128016" marR="91440" marT="36576" marB="36576" anchor="ctr">
                    <a:solidFill>
                      <a:srgbClr val="FDEE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design/.claude/skills/</a:t>
                      </a:r>
                    </a:p>
                  </a:txBody>
                  <a:tcPr marL="128016" marR="91440" marT="36576" marB="36576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공통 스킬</a:t>
                      </a:r>
                    </a:p>
                  </a:txBody>
                  <a:tcPr marL="128016" marR="91440" marT="36576" marB="36576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빈 폴더</a:t>
                      </a:r>
                    </a:p>
                  </a:txBody>
                  <a:tcPr marL="128016" marR="91440" marT="36576" marB="36576" anchor="ctr">
                    <a:solidFill>
                      <a:srgbClr val="FDEE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design/.claude/commands/</a:t>
                      </a:r>
                    </a:p>
                  </a:txBody>
                  <a:tcPr marL="128016" marR="91440" marT="36576" marB="36576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공통 명령</a:t>
                      </a:r>
                    </a:p>
                  </a:txBody>
                  <a:tcPr marL="128016" marR="91440" marT="36576" marB="36576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빈 폴더</a:t>
                      </a:r>
                    </a:p>
                  </a:txBody>
                  <a:tcPr marL="128016" marR="91440" marT="36576" marB="36576" anchor="ctr">
                    <a:solidFill>
                      <a:srgbClr val="FDEE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design/.claude/agents/</a:t>
                      </a:r>
                    </a:p>
                  </a:txBody>
                  <a:tcPr marL="128016" marR="91440" marT="36576" marB="36576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공통 에이전트</a:t>
                      </a:r>
                    </a:p>
                  </a:txBody>
                  <a:tcPr marL="128016" marR="91440" marT="36576" marB="36576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빈 폴더</a:t>
                      </a:r>
                    </a:p>
                  </a:txBody>
                  <a:tcPr marL="128016" marR="91440" marT="36576" marB="36576" anchor="ctr">
                    <a:solidFill>
                      <a:srgbClr val="FDEEE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" y="3840480"/>
            <a:ext cx="10634472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4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069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C4CFF"/>
                </a:solidFill>
                <a:latin typeface="Pretendard"/>
                <a:ea typeface="Pretendard"/>
                <a:cs typeface="Pretendard"/>
              </a:rPr>
              <a:t>지금 이 조사 자체가 증거입니다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498848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볼트 루트에서 Claude를 켠 상태인데, 볼트가 실제로 가진 스킬 7종과 서브에이전트 19종이 하나도 보이지 않습니다.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0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제게 보인 blog-thumbnail 스킬은 저장소가 아니라 이선호님 개인 컴퓨터(~/.claude/)에 있는 것이었습니다.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1">
                <a:solidFill>
                  <a:srgbClr val="E53A40"/>
                </a:solidFill>
                <a:latin typeface="Pretendard"/>
                <a:ea typeface="Pretendard"/>
                <a:cs typeface="Pretendard"/>
              </a:rPr>
              <a:t>→ git에 없으므로 팀원이 clone해도 따라오지 않습니다. 강현이님 컴퓨터에서는 아예 동작하지 않습니다.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2636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C4CFF"/>
                </a:solidFill>
                <a:latin typeface="Pretendard"/>
                <a:ea typeface="Pretendard"/>
                <a:cs typeface="Pretendard"/>
              </a:rPr>
              <a:t>③ 근본 원인 5가지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원인 ② 방과 방 사이가 3중으로 막혀 있습니다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20240"/>
            <a:ext cx="2834640" cy="457200"/>
          </a:xfrm>
          <a:prstGeom prst="rect">
            <a:avLst/>
          </a:prstGeom>
          <a:solidFill>
            <a:srgbClr val="29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3911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.gitignore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2039112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허브가 하위 5개 폴더를 추적하지 않음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487168"/>
            <a:ext cx="2834640" cy="457200"/>
          </a:xfrm>
          <a:prstGeom prst="rect">
            <a:avLst/>
          </a:prstGeom>
          <a:solidFill>
            <a:srgbClr val="29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userIgnoreFilters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606040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옵시디언 검색에서도 5개 폴더 제외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054096"/>
            <a:ext cx="2834640" cy="457200"/>
          </a:xfrm>
          <a:prstGeom prst="rect">
            <a:avLst/>
          </a:prstGeom>
          <a:solidFill>
            <a:srgbClr val="29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17296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ONBOARDING.md 53행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172968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“볼트 간 위키링크는 되지 않습니다 — 의도된 설계입니다”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9476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C4CFF"/>
                </a:solidFill>
                <a:latin typeface="Pretendard"/>
                <a:ea typeface="Pretendard"/>
                <a:cs typeface="Pretendard"/>
              </a:rPr>
              <a:t>그 결과 실제로 벌어진 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224528"/>
            <a:ext cx="5166360" cy="1600200"/>
          </a:xfrm>
          <a:prstGeom prst="rect">
            <a:avLst/>
          </a:prstGeom>
          <a:solidFill>
            <a:srgbClr val="ECFAF2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462272"/>
            <a:ext cx="4617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디자인 시스템 정본</a:t>
            </a:r>
          </a:p>
          <a:p>
            <a:pPr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1">
                <a:solidFill>
                  <a:srgbClr val="1C9E63"/>
                </a:solidFill>
                <a:latin typeface="Pretendard"/>
                <a:ea typeface="Pretendard"/>
                <a:cs typeface="Pretendard"/>
              </a:rPr>
              <a:t>#3DF69B</a:t>
            </a:r>
          </a:p>
          <a:p>
            <a:pPr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1-1. 컬러.md · Brand/Secondary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5352" y="4224528"/>
            <a:ext cx="5166360" cy="1600200"/>
          </a:xfrm>
          <a:prstGeom prst="rect">
            <a:avLst/>
          </a:prstGeom>
          <a:solidFill>
            <a:srgbClr val="FDEEEE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4462272"/>
            <a:ext cx="4617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마케팅 저장소</a:t>
            </a:r>
          </a:p>
          <a:p>
            <a:pPr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1">
                <a:solidFill>
                  <a:srgbClr val="E53A40"/>
                </a:solidFill>
                <a:latin typeface="Pretendard"/>
                <a:ea typeface="Pretendard"/>
                <a:cs typeface="Pretendard"/>
              </a:rPr>
              <a:t>#4DE98B</a:t>
            </a:r>
          </a:p>
          <a:p>
            <a:pPr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E53A40"/>
                </a:solidFill>
                <a:latin typeface="Pretendard"/>
                <a:ea typeface="Pretendard"/>
                <a:cs typeface="Pretendard"/>
              </a:rPr>
              <a:t>스크린샷에서 눈으로 역추출한 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4360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교차 참조가 0건이라 2개월 넘게 아무도 이 불일치를 발견하지 못했습니다. 잘못된 값이 지금도 마케팅 산출물에 쓰이고 있습니다.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2636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C4CFF"/>
                </a:solidFill>
                <a:latin typeface="Pretendard"/>
                <a:ea typeface="Pretendard"/>
                <a:cs typeface="Pretendard"/>
              </a:rPr>
              <a:t>③ 근본 원인 5가지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원인 ③④ 다리가 끊겼고, 정답이 여러 개입니다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C4CFF"/>
                </a:solidFill>
                <a:latin typeface="Pretendard"/>
                <a:ea typeface="Pretendard"/>
                <a:cs typeface="Pretendard"/>
              </a:rPr>
              <a:t>③ 저장소를 잇는 유일한 다리가 죽은 경로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86000"/>
            <a:ext cx="5166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87168"/>
            <a:ext cx="4709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cdbd-templates/CLAUDE.md 72행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1">
                <a:solidFill>
                  <a:srgbClr val="E53A40"/>
                </a:solidFill>
                <a:latin typeface="Pretendard"/>
                <a:ea typeface="Pretendard"/>
                <a:cs typeface="Pretendard"/>
              </a:rPr>
              <a:t>/Users/designer/…/cdbd-design-system/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이 컴퓨터에 designer 계정은 없습니다.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죽은 경로가 3종류 섞여 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5352" y="1828800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C4CFF"/>
                </a:solidFill>
                <a:latin typeface="Pretendard"/>
                <a:ea typeface="Pretendard"/>
                <a:cs typeface="Pretendard"/>
              </a:rPr>
              <a:t>④ 같은 저장소 안에 정본이 2개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2286000"/>
            <a:ext cx="5166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487168"/>
            <a:ext cx="4709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cdbd-templates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1">
                <a:solidFill>
                  <a:srgbClr val="E53A40"/>
                </a:solidFill>
                <a:latin typeface="Pretendard"/>
                <a:ea typeface="Pretendard"/>
                <a:cs typeface="Pretendard"/>
              </a:rPr>
              <a:t>CLAUDE.md (7/24)  ↔  AGENTS.md (7/23)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AGENTS.md에는 최신 규칙 3개 섹션이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통째로 빠져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3192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C4CFF"/>
                </a:solidFill>
                <a:latin typeface="Pretendard"/>
                <a:ea typeface="Pretendard"/>
                <a:cs typeface="Pretendard"/>
              </a:rPr>
              <a:t>⑤ CLAUDE.md 편차가 200배이고, 자기 자산을 가리키지 않습니다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4389120"/>
          <a:ext cx="10634472" cy="17007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2103120"/>
                <a:gridCol w="5788152"/>
              </a:tblGrid>
              <a:tr h="283464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저장소</a:t>
                      </a:r>
                    </a:p>
                  </a:txBody>
                  <a:tcPr marL="128016" marR="91440" marT="36576" marB="36576" anchor="ctr">
                    <a:solidFill>
                      <a:srgbClr val="29292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CLAUDE.md 크기</a:t>
                      </a:r>
                    </a:p>
                  </a:txBody>
                  <a:tcPr marL="128016" marR="91440" marT="36576" marB="36576" anchor="ctr">
                    <a:solidFill>
                      <a:srgbClr val="29292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빠져 있는 것</a:t>
                      </a:r>
                    </a:p>
                  </a:txBody>
                  <a:tcPr marL="128016" marR="91440" marT="36576" marB="36576" anchor="ctr">
                    <a:solidFill>
                      <a:srgbClr val="292929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5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cdbd-design-system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5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679 B (25줄)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5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디자인 시스템 문서 99개 · 자체 스킬 2종 — 언급 0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5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cdbd-marketing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5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2.9 KB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5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기능 12개 중 썸네일 1개만 다룸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5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makevu-qrstp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5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3.8 KB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5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참조 이벤트 57건 · 소개서 · 홈페이지 — 언급 0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5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cdbd-design-service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5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34.9 KB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5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문서 표의 경로 9개가 전부 깨짐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5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cdbd-templates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5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131 KB (601줄)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5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과밀 — 이미 정본 문서 역할을 겸함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5개 CLAUDE.md 중 자기 저장소의 스킬을 소개하는 곳은 0개입니다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2636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DF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6517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F69B"/>
                </a:solidFill>
                <a:latin typeface="Pretendard"/>
                <a:ea typeface="Pretendard"/>
                <a:cs typeface="Pretendard"/>
              </a:rPr>
              <a:t>④ 해결 방안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108960"/>
            <a:ext cx="9692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두 가지 방식을 제안합니다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4348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C9C9"/>
                </a:solidFill>
                <a:latin typeface="Pretendard"/>
                <a:ea typeface="Pretendard"/>
                <a:cs typeface="Pretendard"/>
              </a:rPr>
              <a:t>핵심 발상은 하나입니다 — 문서를 더 잘 쓰는 게 아니라, 기능을 “스킬”로 등록하는 것.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C4CFF"/>
                </a:solidFill>
                <a:latin typeface="Pretendard"/>
                <a:ea typeface="Pretendard"/>
                <a:cs typeface="Pretendard"/>
              </a:rPr>
              <a:t>④ 해결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왜 “스킬”이어야 하나요?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20240"/>
            <a:ext cx="51663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94560"/>
            <a:ext cx="46177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문서 (지금 방식)</a:t>
            </a:r>
          </a:p>
          <a:p>
            <a:pPr>
              <a:lnSpc>
                <a:spcPct val="155000"/>
              </a:lnSpc>
              <a:spcBef>
                <a:spcPts val="1000"/>
              </a:spcBef>
              <a:spcAft>
                <a:spcPts val="0"/>
              </a:spcAft>
            </a:pPr>
            <a:r>
              <a:rPr sz="1350" b="0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Claude가 대화를 시작할 때 보이지 않습니다.</a:t>
            </a:r>
          </a:p>
          <a:p>
            <a:pPr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누군가 “이 문서 읽어봐”라고 말해줘야</a:t>
            </a:r>
          </a:p>
          <a:p>
            <a:pPr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비로소 열립니다.</a:t>
            </a:r>
          </a:p>
          <a:p>
            <a:pPr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1">
                <a:solidFill>
                  <a:srgbClr val="E53A40"/>
                </a:solidFill>
                <a:latin typeface="Pretendard"/>
                <a:ea typeface="Pretendard"/>
                <a:cs typeface="Pretendard"/>
              </a:rPr>
              <a:t>→ 팀원이 문서 위치를 외우고 있어야 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5352" y="1920240"/>
            <a:ext cx="5166360" cy="2377440"/>
          </a:xfrm>
          <a:prstGeom prst="rect">
            <a:avLst/>
          </a:prstGeom>
          <a:solidFill>
            <a:srgbClr val="F2F0FF"/>
          </a:solidFill>
          <a:ln w="19050">
            <a:solidFill>
              <a:srgbClr val="6C4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9672" y="2194560"/>
            <a:ext cx="46177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C4CFF"/>
                </a:solidFill>
                <a:latin typeface="Pretendard"/>
                <a:ea typeface="Pretendard"/>
                <a:cs typeface="Pretendard"/>
              </a:rPr>
              <a:t>스킬 (제안 방식)</a:t>
            </a:r>
          </a:p>
          <a:p>
            <a:pPr>
              <a:lnSpc>
                <a:spcPct val="155000"/>
              </a:lnSpc>
              <a:spcBef>
                <a:spcPts val="1000"/>
              </a:spcBef>
              <a:spcAft>
                <a:spcPts val="0"/>
              </a:spcAft>
            </a:pPr>
            <a:r>
              <a:rPr sz="1350" b="0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Claude가 대화 시작 시 항상 목록으로 봅니다.</a:t>
            </a:r>
          </a:p>
          <a:p>
            <a:pPr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“룩북 시안 만들어줘”라고 말하면</a:t>
            </a:r>
          </a:p>
          <a:p>
            <a:pPr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스스로 해당 스킬을 찾아 실행합니다.</a:t>
            </a:r>
          </a:p>
          <a:p>
            <a:pPr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1">
                <a:solidFill>
                  <a:srgbClr val="6C4CFF"/>
                </a:solidFill>
                <a:latin typeface="Pretendard"/>
                <a:ea typeface="Pretendard"/>
                <a:cs typeface="Pretendard"/>
              </a:rPr>
              <a:t>→ 팀원은 하고 싶은 말만 하면 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7200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스킬은 이렇게 얇게 만듭니다 — 내용을 베끼지 않고 정본 문서를 가리키기만 합니다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029200"/>
            <a:ext cx="10634472" cy="1005840"/>
          </a:xfrm>
          <a:prstGeom prst="rect">
            <a:avLst/>
          </a:prstGeom>
          <a:solidFill>
            <a:srgbClr val="29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193792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3DF69B"/>
                </a:solidFill>
                <a:latin typeface="Pretendard"/>
                <a:ea typeface="Pretendard"/>
                <a:cs typeface="Pretendard"/>
              </a:rPr>
              <a:t>name: lookbook-draft</a:t>
            </a:r>
          </a:p>
          <a:p>
            <a:pPr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description: 룩북 시안 8P 제작. TRIGGER — “룩북 시안 만들어줘”, “OO 브랜드 시안 뽑아줘”</a:t>
            </a:r>
          </a:p>
          <a:p>
            <a:pPr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B0B0B0"/>
                </a:solidFill>
                <a:latin typeface="Pretendard"/>
                <a:ea typeface="Pretendard"/>
                <a:cs typeface="Pretendard"/>
              </a:rPr>
              <a:t>→ 먼저 [[룩북/1. 제작 프로세스/1-2. 시안.md]] 전문을 읽는다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핵심은 description에 팀원이 실제로 쓰는 한국어 문장을 넣는 것입니다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2636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C4CFF"/>
                </a:solidFill>
                <a:latin typeface="Pretendard"/>
                <a:ea typeface="Pretendard"/>
                <a:cs typeface="Pretendard"/>
              </a:rPr>
              <a:t>④ 해결 방안 · 경량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방식 A — “안내판 달기”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지금 구조를 그대로 두고, 각 저장소가 스스로를 설명하게 만듭니다.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86000"/>
            <a:ext cx="502920" cy="502920"/>
          </a:xfrm>
          <a:prstGeom prst="rect">
            <a:avLst/>
          </a:prstGeom>
          <a:solidFill>
            <a:srgbClr val="6C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95728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04288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CLAUDE.md를 라우팅 표로 통일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2267712"/>
            <a:ext cx="6126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전 저장소 동일 골격 100~150줄.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“이렇게 말하면 → 이걸 실행 → 정본 문서는 여기”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218688"/>
            <a:ext cx="502920" cy="502920"/>
          </a:xfrm>
          <a:prstGeom prst="rect">
            <a:avLst/>
          </a:prstGeom>
          <a:solidFill>
            <a:srgbClr val="6C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328416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236976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핵심 기능 20개만 스킬로 승격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3200400"/>
            <a:ext cx="6126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가장 자주 쓰는 것부터. 얇은 SKILL.md가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정본 문서를 가리키기만 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151376"/>
            <a:ext cx="502920" cy="502920"/>
          </a:xfrm>
          <a:prstGeom prst="rect">
            <a:avLst/>
          </a:prstGeom>
          <a:solidFill>
            <a:srgbClr val="6C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61104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169663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blog-thumbnail 스킬을 git으로 이관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4133088"/>
            <a:ext cx="6126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개인 PC에 있는 것을 저장소로 옮겨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팀 전체가 같은 결과를 얻게 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084064"/>
            <a:ext cx="502920" cy="502920"/>
          </a:xfrm>
          <a:prstGeom prst="rect">
            <a:avLst/>
          </a:prstGeom>
          <a:solidFill>
            <a:srgbClr val="6C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9379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510235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깨진 경로·죽은 링크 일괄 수정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5065776"/>
            <a:ext cx="6126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죽은 절대경로 3종, 깨진 위키링크 60여 건,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브랜드 색 정본 확정.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6035040"/>
            <a:ext cx="5166360" cy="384048"/>
          </a:xfrm>
          <a:prstGeom prst="rect">
            <a:avLst/>
          </a:prstGeom>
          <a:solidFill>
            <a:srgbClr val="ECF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611733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장점  빠릅니다. 되돌리기 쉽고 위험이 낮습니다.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5352" y="6035040"/>
            <a:ext cx="5166360" cy="384048"/>
          </a:xfrm>
          <a:prstGeom prst="rect">
            <a:avLst/>
          </a:prstGeom>
          <a:solidFill>
            <a:srgbClr val="FF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2" y="611733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한계  중복 정의가 남아 다시 어긋날 수 있습니다.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2636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C4CFF"/>
                </a:solidFill>
                <a:latin typeface="Pretendard"/>
                <a:ea typeface="Pretendard"/>
                <a:cs typeface="Pretendard"/>
              </a:rPr>
              <a:t>④ 해결 방안 · 근본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방식 B — “정본 하나 + 자동 감시”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A를 포함하고, 여기에 “같은 내용이 두 곳에 존재하지 않는 구조”를 더합니다.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86000"/>
            <a:ext cx="502920" cy="502920"/>
          </a:xfrm>
          <a:prstGeom prst="rect">
            <a:avLst/>
          </a:prstGeom>
          <a:solidFill>
            <a:srgbClr val="29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95728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F69B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04288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cdbd-core 저장소 신설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2267712"/>
            <a:ext cx="6126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브랜드 토큰 · 문서 규칙 · 공통 스킬만 담습니다.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각 저장소에 _core/ 폴더로 자동 삽입됩니다.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218688"/>
            <a:ext cx="502920" cy="502920"/>
          </a:xfrm>
          <a:prstGeom prst="rect">
            <a:avLst/>
          </a:prstGeom>
          <a:solidFill>
            <a:srgbClr val="29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328416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F69B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236976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기능 82개 전부 스킬화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3200400"/>
            <a:ext cx="6126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일부가 아니라 전부. 저장소별 발견율을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100%로 맞춥니다.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151376"/>
            <a:ext cx="502920" cy="502920"/>
          </a:xfrm>
          <a:prstGeom prst="rect">
            <a:avLst/>
          </a:prstGeom>
          <a:solidFill>
            <a:srgbClr val="29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61104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F69B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169663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문서 형식 표준 통일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4133088"/>
            <a:ext cx="6126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makevu-qrstp가 이미 모범입니다(메타데이터 98%).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그 방식을 전 저장소로 확산합니다.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084064"/>
            <a:ext cx="502920" cy="502920"/>
          </a:xfrm>
          <a:prstGeom prst="rect">
            <a:avLst/>
          </a:prstGeom>
          <a:solidFill>
            <a:srgbClr val="29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9379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F69B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510235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자동 검증 스크립트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5065776"/>
            <a:ext cx="6126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깨진 링크 · 실종된 문서 · 어긋난 브랜드 값을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주기적으로 자동 점검합니다.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6035040"/>
            <a:ext cx="5166360" cy="384048"/>
          </a:xfrm>
          <a:prstGeom prst="rect">
            <a:avLst/>
          </a:prstGeom>
          <a:solidFill>
            <a:srgbClr val="ECF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611733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장점  재발하지 않습니다. 6개월 뒤에도 유지됩니다.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5352" y="6035040"/>
            <a:ext cx="5166360" cy="384048"/>
          </a:xfrm>
          <a:prstGeom prst="rect">
            <a:avLst/>
          </a:prstGeom>
          <a:solidFill>
            <a:srgbClr val="FF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2" y="611733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한계  초기 작업량이 크고 팀 합의가 필요합니다.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볼트 6개를 하나로 합치는 방식은 제외했습니다 — 고객 자료 저장소를 분리해야 하기 때문입니다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2636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C4CFF"/>
                </a:solidFill>
                <a:latin typeface="Pretendard"/>
                <a:ea typeface="Pretendard"/>
                <a:cs typeface="Pretendard"/>
              </a:rPr>
              <a:t>④ 해결 방안 ·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무엇이 달라지나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965960"/>
          <a:ext cx="10634472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931920"/>
                <a:gridCol w="2103120"/>
                <a:gridCol w="2194560"/>
                <a:gridCol w="2404872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128016" marR="91440" marT="36576" marB="36576" anchor="ctr">
                    <a:solidFill>
                      <a:srgbClr val="2929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지금</a:t>
                      </a:r>
                    </a:p>
                  </a:txBody>
                  <a:tcPr marL="128016" marR="91440" marT="36576" marB="36576" anchor="ctr">
                    <a:solidFill>
                      <a:srgbClr val="2929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방식 A</a:t>
                      </a:r>
                    </a:p>
                  </a:txBody>
                  <a:tcPr marL="128016" marR="91440" marT="36576" marB="36576" anchor="ctr">
                    <a:solidFill>
                      <a:srgbClr val="2929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방식 B</a:t>
                      </a:r>
                    </a:p>
                  </a:txBody>
                  <a:tcPr marL="128016" marR="91440" marT="36576" marB="36576" anchor="ctr">
                    <a:solidFill>
                      <a:srgbClr val="29292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Claude가 아는 기능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 / 82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약 27 / 82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82 / 82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팀원이 문서 위치를 외워야 하나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외워야 함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일부만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몰라도 됨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누가 시켜도 같은 결과가 나오나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아니오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대체로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값이 또 갈라질 수 있나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갈라짐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가능성 남음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구조적으로 불가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새 문서가 늘어도 유지되나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아니오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사람이 챙겨야 함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자동 점검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예상 작업량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작음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큼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팀 합의 필요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거의 불필요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필요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" y="5532120"/>
            <a:ext cx="10634472" cy="566928"/>
          </a:xfrm>
          <a:prstGeom prst="rect">
            <a:avLst/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68756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6C4CFF"/>
                </a:solidFill>
                <a:latin typeface="Pretendard"/>
                <a:ea typeface="Pretendard"/>
                <a:cs typeface="Pretendard"/>
              </a:rPr>
              <a:t>권장: A를 먼저 1개 저장소에 시범 적용해 효과를 확인한 뒤, B로 확장하는 순서입니다.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2636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C4CFF"/>
                </a:solidFill>
                <a:latin typeface="Pretendard"/>
                <a:ea typeface="Pretendard"/>
                <a:cs typeface="Pretendard"/>
              </a:rPr>
              <a:t>⑤ 즉시 조치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어느 방식을 택하든 지금 고쳐야 할 6가지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965960"/>
          <a:ext cx="10634472" cy="3520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40080"/>
                <a:gridCol w="4480560"/>
                <a:gridCol w="3840480"/>
                <a:gridCol w="1673352"/>
              </a:tblGrid>
              <a:tr h="5029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#</a:t>
                      </a:r>
                    </a:p>
                  </a:txBody>
                  <a:tcPr marL="128016" marR="91440" marT="36576" marB="36576" anchor="ctr">
                    <a:solidFill>
                      <a:srgbClr val="2929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조치</a:t>
                      </a:r>
                    </a:p>
                  </a:txBody>
                  <a:tcPr marL="128016" marR="91440" marT="36576" marB="36576" anchor="ctr">
                    <a:solidFill>
                      <a:srgbClr val="2929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왜</a:t>
                      </a:r>
                    </a:p>
                  </a:txBody>
                  <a:tcPr marL="128016" marR="91440" marT="36576" marB="36576" anchor="ctr">
                    <a:solidFill>
                      <a:srgbClr val="2929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긴급도</a:t>
                      </a:r>
                    </a:p>
                  </a:txBody>
                  <a:tcPr marL="128016" marR="91440" marT="36576" marB="36576" anchor="ctr">
                    <a:solidFill>
                      <a:srgbClr val="29292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marL="128016" marR="91440" marT="36576" marB="36576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cdbd-design-service 공개 설정 점검</a:t>
                      </a:r>
                    </a:p>
                  </a:txBody>
                  <a:tcPr marL="128016" marR="91440" marT="36576" marB="36576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자료가 인터넷에 공개돼 있음</a:t>
                      </a:r>
                    </a:p>
                  </a:txBody>
                  <a:tcPr marL="128016" marR="91440" marT="36576" marB="36576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🔴 즉시</a:t>
                      </a:r>
                    </a:p>
                  </a:txBody>
                  <a:tcPr marL="128016" marR="91440" marT="36576" marB="36576" anchor="ctr">
                    <a:solidFill>
                      <a:srgbClr val="FDEE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</a:t>
                      </a:r>
                    </a:p>
                  </a:txBody>
                  <a:tcPr marL="128016" marR="91440" marT="36576" marB="36576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그린 정본 확정 (#3DF69B / #4DE98B)</a:t>
                      </a:r>
                    </a:p>
                  </a:txBody>
                  <a:tcPr marL="128016" marR="91440" marT="36576" marB="36576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잘못된 값이 산출물에 사용 중</a:t>
                      </a:r>
                    </a:p>
                  </a:txBody>
                  <a:tcPr marL="128016" marR="91440" marT="36576" marB="36576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🔴 즉시</a:t>
                      </a:r>
                    </a:p>
                  </a:txBody>
                  <a:tcPr marL="128016" marR="91440" marT="36576" marB="36576" anchor="ctr">
                    <a:solidFill>
                      <a:srgbClr val="FDEE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3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blog-thumbnail 스킬을 저장소로 이관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팀원 간 결과가 달라짐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🟠 높음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4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cdbd-templates → design-system 경로 수정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저장소 간 유일한 다리가 끊김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🟠 높음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5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cdbd-design-service 문서 표 경로 9개 수정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 전체가 무용 상태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🟡 보통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미사용 저장소 3개 · 유령 볼트 정리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탐색 노이즈 제거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92929"/>
                          </a:solidFill>
                          <a:latin typeface="Pretendard"/>
                          <a:ea typeface="Pretendard"/>
                          <a:cs typeface="Pretendard"/>
                        </a:rPr>
                        <a:t>🟡 보통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2636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1371600"/>
            <a:ext cx="10634472" cy="54864"/>
          </a:xfrm>
          <a:prstGeom prst="rect">
            <a:avLst/>
          </a:prstGeom>
          <a:solidFill>
            <a:srgbClr val="6C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마지막으로 — 우리는 이미 한 번 진단했습니다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06040"/>
            <a:ext cx="106344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880360"/>
            <a:ext cx="9966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cdbd-design-system/docs/CdBd 에디터 문서 구축 계획.html</a:t>
            </a:r>
          </a:p>
          <a:p>
            <a:pPr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70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“팀원 A·B·C가 각자의 Claude에게 똑같이 부탁했을 때 같은 결과가 나오게”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70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“위키링크는 Claude에게 클릭이 아닙니다”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700" b="1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“CLAUDE.md 679바이트, 카드 문서 49개 언급 0줄”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617720"/>
            <a:ext cx="10607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진단도 처방도 이미 정확하게 나와 있었습니다. 그런데 채택률은 0%였습니다.</a:t>
            </a:r>
          </a:p>
          <a:p>
            <a:pPr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600" b="0">
                <a:solidFill>
                  <a:srgbClr val="292929"/>
                </a:solidFill>
                <a:latin typeface="Pretendard"/>
                <a:ea typeface="Pretendard"/>
                <a:cs typeface="Pretendard"/>
              </a:rPr>
              <a:t>이유는 그 계획서 자체가 HTML 단독 파일이라 볼트 검색에서 제외돼, 아무도 — Claude조차 — 읽지 못했기 때문입니다.</a:t>
            </a:r>
          </a:p>
          <a:p>
            <a:pPr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700" b="1">
                <a:solidFill>
                  <a:srgbClr val="6C4CFF"/>
                </a:solidFill>
                <a:latin typeface="Pretendard"/>
                <a:ea typeface="Pretendard"/>
                <a:cs typeface="Pretendard"/>
              </a:rPr>
              <a:t>그래서 이번 제안에는 “자동 검증”이 반드시 포함되어야 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2636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