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658368"/>
            <a:ext cx="1234440" cy="457200"/>
          </a:xfrm>
          <a:prstGeom prst="roundRect">
            <a:avLst>
              <a:gd name="adj" fmla="val 12000"/>
            </a:avLst>
          </a:prstGeom>
          <a:ln w="15875">
            <a:solidFill>
              <a:srgbClr val="1D1D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5836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77240" y="21945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 기능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spc="-6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안내판 · 실행 계획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3977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팀원이 Claude에게 CdBd 기능을 시켜도,</a:t>
            </a:r>
            <a:endParaRPr lang="en-US" sz="17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알고 제대로 동작하게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후속 문서: CdBd 문서 체계 진단 및 개편 제안   ·   2026-08-11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0" y="822960"/>
            <a:ext cx="4663440" cy="5212080"/>
          </a:xfrm>
          <a:prstGeom prst="roundRect">
            <a:avLst>
              <a:gd name="adj" fmla="val 3137"/>
            </a:avLst>
          </a:prstGeom>
          <a:solidFill>
            <a:srgbClr val="F5F5F7"/>
          </a:solidFill>
          <a:ln/>
        </p:spPr>
      </p:sp>
      <p:sp>
        <p:nvSpPr>
          <p:cNvPr id="8" name="Shape 6"/>
          <p:cNvSpPr/>
          <p:nvPr/>
        </p:nvSpPr>
        <p:spPr>
          <a:xfrm>
            <a:off x="8938260" y="176022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029700" y="187909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139428" y="200710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1" name="Shape 9"/>
          <p:cNvSpPr/>
          <p:nvPr/>
        </p:nvSpPr>
        <p:spPr>
          <a:xfrm>
            <a:off x="9139428" y="279349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2" name="Shape 10"/>
          <p:cNvSpPr/>
          <p:nvPr/>
        </p:nvSpPr>
        <p:spPr>
          <a:xfrm>
            <a:off x="9139428" y="297637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9428" y="350672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2308" y="416509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383780" y="1348740"/>
            <a:ext cx="1965960" cy="3794760"/>
          </a:xfrm>
          <a:prstGeom prst="roundRect">
            <a:avLst>
              <a:gd name="adj" fmla="val 12093"/>
            </a:avLst>
          </a:prstGeom>
          <a:solidFill>
            <a:srgbClr val="272729"/>
          </a:solidFill>
          <a:ln/>
          <a:effectLst>
            <a:outerShdw sx="100000" sy="100000" kx="0" ky="0" algn="bl" rotWithShape="0" blurRad="228600" dist="76200" dir="5400000">
              <a:srgbClr val="000000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75220" y="1467612"/>
            <a:ext cx="1783080" cy="3557016"/>
          </a:xfrm>
          <a:prstGeom prst="roundRect">
            <a:avLst>
              <a:gd name="adj" fmla="val 820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584948" y="1595628"/>
            <a:ext cx="1563624" cy="640080"/>
          </a:xfrm>
          <a:prstGeom prst="roundRect">
            <a:avLst>
              <a:gd name="adj" fmla="val 10000"/>
            </a:avLst>
          </a:prstGeom>
          <a:solidFill>
            <a:srgbClr val="EEE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7584948" y="2382012"/>
            <a:ext cx="891540" cy="100584"/>
          </a:xfrm>
          <a:prstGeom prst="roundRect">
            <a:avLst>
              <a:gd name="adj" fmla="val 36364"/>
            </a:avLst>
          </a:prstGeom>
          <a:solidFill>
            <a:srgbClr val="1D1D1F"/>
          </a:solidFill>
          <a:ln/>
        </p:spPr>
      </p:sp>
      <p:sp>
        <p:nvSpPr>
          <p:cNvPr id="19" name="Shape 17"/>
          <p:cNvSpPr/>
          <p:nvPr/>
        </p:nvSpPr>
        <p:spPr>
          <a:xfrm>
            <a:off x="7584948" y="2564892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84948" y="3095244"/>
            <a:ext cx="1563624" cy="457200"/>
          </a:xfrm>
          <a:prstGeom prst="roundRect">
            <a:avLst>
              <a:gd name="adj" fmla="val 14000"/>
            </a:avLst>
          </a:prstGeom>
          <a:solidFill>
            <a:srgbClr val="F7F8FA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67828" y="3753612"/>
            <a:ext cx="1197864" cy="310896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목차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91640" y="2011680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목표와 문제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458200" y="201168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무엇이 안 되나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250545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523744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91640" y="2523744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 — 에디터·어드민·홈페이지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458200" y="252374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뼈대를 새로 세운다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301752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03580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691640" y="3035808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458200" y="3035808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기능별 볼트 문서 유무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52958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547872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91640" y="3547872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 — 화면 캡처가 필요한 기능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458200" y="3547872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채우나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7240" y="4041648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059936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691640" y="4059936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안내판 설계와 원리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8458200" y="4059936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파일에 어떻게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77240" y="4553712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4572000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91640" y="4572000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 순서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8458200" y="457200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77240" y="5065776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084064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691640" y="5084064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— cdbd-design-service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458200" y="5084064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과정과 예상 결과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77240" y="5577840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596128"/>
            <a:ext cx="822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691640" y="5596128"/>
            <a:ext cx="6949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8458200" y="5596128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결정할 것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77240" y="6089904"/>
            <a:ext cx="10637215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하는가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목표와 문제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기능을 다 알고, 다 되게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안내판은 목표가 아니라 방법입니다. 필요하면 스킬·플러그인까지 함께 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시켜도 된다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팀원의 Claude든 CdBd 기능을 알고 제대로 실행한다 — 사람이 문서 위치를 외우지 않아도.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문제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스스로 못 찾는다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기능은 문서에 흩어져 있고, Claude에게 위키링크는 클릭이 아니라 글자일 뿐. 폴더를 열어도 무엇이 있는지 모른다.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606040"/>
            <a:ext cx="3332378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88036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304495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61188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88620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안내판을 둔다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389120"/>
            <a:ext cx="274716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기능이 → 어느 파일 어느 섹션에 있는지 표로 두고, CLAUDE.md가 그걸 먼저 읽게 연결한다.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 기준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02  뼈대를 새로 세운다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표면 3곳으로 나눈다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센터(cdbd.mintlify.app)는 빠짐을 막는 참고용. 뼈대는 팀이 실제 시키는 일 기준으로.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69848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4440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69848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69848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에디터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페이지를 만드는 곳. 카드 · 페이지 구성 · 이미지 · 게시(URL/OG) · 데이터 연결.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29658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2266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886858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22266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22266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어드민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22266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템플릿 · 운영 관리. 템플릿 등록 · 상세페이지 · 운영 설정.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82077" y="2468880"/>
            <a:ext cx="33323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74685" y="274320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EEAFB"/>
          </a:solidFill>
          <a:ln/>
        </p:spPr>
      </p:sp>
      <p:sp>
        <p:nvSpPr>
          <p:cNvPr id="22" name="Shape 20"/>
          <p:cNvSpPr/>
          <p:nvPr/>
        </p:nvSpPr>
        <p:spPr>
          <a:xfrm>
            <a:off x="8539277" y="2907792"/>
            <a:ext cx="219456" cy="219456"/>
          </a:xfrm>
          <a:prstGeom prst="roundRect">
            <a:avLst>
              <a:gd name="adj" fmla="val 33333"/>
            </a:avLst>
          </a:prstGeom>
          <a:solidFill>
            <a:srgbClr val="6C4CFF"/>
          </a:solidFill>
          <a:ln/>
        </p:spPr>
      </p:sp>
      <p:sp>
        <p:nvSpPr>
          <p:cNvPr id="23" name="Text 21"/>
          <p:cNvSpPr/>
          <p:nvPr/>
        </p:nvSpPr>
        <p:spPr>
          <a:xfrm>
            <a:off x="8374685" y="3474720"/>
            <a:ext cx="274716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374685" y="3749040"/>
            <a:ext cx="27471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spc="-20" kern="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(계정)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74685" y="4251960"/>
            <a:ext cx="274716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cdbd.in 대시보드. 홈 · 내 페이지 · 통계 · 공유 · 권한 · 버전 · 계정 · 요금.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77240" y="5120640"/>
            <a:ext cx="10637215" cy="868680"/>
          </a:xfrm>
          <a:prstGeom prst="roundRect">
            <a:avLst>
              <a:gd name="adj" fmla="val 1052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230368"/>
            <a:ext cx="100885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＊ 실행 도구는 ‘기능’이 아닙니다.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Supabase 자동화 · 이미지 라이브러리 헬퍼 · 브라우저 세션 등은 그 기능을 ‘실행하는 팀 도구’ → 안내판엔 ‘도구·규칙’으로 따로 표기.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‘있음’ 행은 다음 단계에서 정확한 파일·섹션까지 채웁니다.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프로필·텍스트·이미지·갤러리·버튼·Q&amp;A·위치·SNS·구분선·2단·유튜브·예약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카드 15종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상품 · 코드 · 메뉴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구성·꾸미기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테마 · 카드 디자인 · 페이지 관리·설정 · 원페이지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게시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URL 생성·게시 · OG · 슬러그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이미지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 라이브러리 (자산 관리)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●  있음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데이터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연결 (개인화 병합)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기능별 볼트 문서 유무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어드민 · 홈페이지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‘없음’ = 제품엔 있으나 팀 볼트엔 문서가 없는 기능. 앞으로 채울 목록.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40280"/>
          <a:ext cx="106372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446520"/>
                <a:gridCol w="24505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영역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 문서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등록 · 상세페이지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어드민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설정 세부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비밀번호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페이지 통계 · URL 통계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홈페이지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홈·내 페이지·공유 복제·버전 기록·권한·계정·내 주소·요금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페이지 생성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E6E7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◐ 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시작하기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회원가입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AA0A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○  없음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분류표 초안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◐ 부분 — 구체적으로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‘부분만 있음’은 무엇이 있고 없나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◐ 표시한 기능의 있는 부분과 채울 부분.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37764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기능 (◐ 부분)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볼트에 있는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채울 부분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상품·코드·메뉴 카드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카드 기능 목록(1-6-2)에 정의됨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제작·사용 가이드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페이지 비밀번호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게시 모달에 ‘페이지 비밀번호’ 언급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절차 문서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등록·상세페이지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상세페이지 문서(1-7) 있음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어드민 등록 단계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1D1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템플릿 페이지 생성</a:t>
                      </a:r>
                      <a:endParaRPr lang="en-US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 워크플로우에 언급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신규 생성 단계별 문서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문서 채우기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무엇을 어떻게 채우나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캡처가 필요한 기능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로그인 뒤에서만 보이는 UI 흐름이라 텍스트로 유추 불가 → 화면 캡처가 정확한 문서화에 도움.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5135728" cy="2331720"/>
          </a:xfrm>
          <a:prstGeom prst="roundRect">
            <a:avLst>
              <a:gd name="adj" fmla="val 4706"/>
            </a:avLst>
          </a:prstGeom>
          <a:solidFill>
            <a:srgbClr val="EEEAFB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43230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 캡처 권장 (○ 없음 대부분)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51560" y="2816352"/>
            <a:ext cx="4587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페이지 통계 · URL 통계 (방문·클릭·응답·예약·구독)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데이터 연결(개인화) — 고객 데이터 병합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버전 기록 · 공유 복제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내 페이지 관리 · 어드민 운영 설정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계정 · 내 주소 · 요금(결제) · 권한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78728" y="2286000"/>
            <a:ext cx="5135728" cy="2331720"/>
          </a:xfrm>
          <a:prstGeom prst="roundRect">
            <a:avLst>
              <a:gd name="adj" fmla="val 470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3048" y="243230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불필요 (이미 문서·코드로 있음)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53048" y="2816352"/>
            <a:ext cx="4587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게시 자동화 (Supabase)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카드 디자인·제작 스펙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이미지 라이브러리 헬퍼</a:t>
            </a:r>
            <a:endParaRPr lang="en-US" sz="12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URL·OG·슬러그 규칙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846320"/>
            <a:ext cx="10637215" cy="1005840"/>
          </a:xfrm>
          <a:prstGeom prst="roundRect">
            <a:avLst>
              <a:gd name="adj" fmla="val 9091"/>
            </a:avLst>
          </a:prstGeom>
          <a:solidFill>
            <a:srgbClr val="272729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956048"/>
            <a:ext cx="10088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형식 안내  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영상 파일을 직접 재생하지 못하고, 화면 캡처·GIF(이미지)는 읽습니다. → ‘단계별 스크린샷 + 한 줄 설명’이 가장 정확합니다. 녹화하시면 핵심 화면을 캡처로 뽑아 주세요.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안내판 설계와 원리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저장소마다 살아있는 index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저장소에 CLAUDE.md + _기능 안내판.md 를 둡니다.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0637215" cy="1280160"/>
          </a:xfrm>
          <a:prstGeom prst="roundRect">
            <a:avLst>
              <a:gd name="adj" fmla="val 8571"/>
            </a:avLst>
          </a:prstGeom>
          <a:solidFill>
            <a:srgbClr val="272729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340864"/>
            <a:ext cx="99971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B7D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각 저장소/
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├─ CLAUDE.md       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맨 위에 "작업 전 _기능 안내판.md 읽어라" 1줄
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└─ _기능 안내판.md  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9D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← 이 저장소의 기능 → 파일 지도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7856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7490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Claude에게 위키링크는 ‘클릭’이 아니라 그냥 글자 — 스스로 열지 않는다.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428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2062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CLAUDE.md는 폴더 열 때 자동으로 읽는 유일한 파일 → 여기서 가리켜야 읽힌다.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700016"/>
            <a:ext cx="109728" cy="256032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6634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볼트에서 일하면 Claude가 파일을 바로 찾는다. (볼트 간 링크는 작동 안 함 → 저장소 안에 self-contained)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5257800"/>
            <a:ext cx="10637215" cy="777240"/>
          </a:xfrm>
          <a:prstGeom prst="roundRect">
            <a:avLst>
              <a:gd name="adj" fmla="val 11765"/>
            </a:avLst>
          </a:prstGeom>
          <a:solidFill>
            <a:srgbClr val="EEEAFB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34924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‘아무 볼트에서나’ 되게 하려면?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저장소 안내판은 그 볼트에서 작동. 어느 볼트·맨 바깥에서 켜도 되게 하려면 → 플러그인 배포(진단서 D안) = 실행 순서 7단계.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실행 순서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곳을 끝까지 → 확산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‘연결’ = CLAUDE.md에 안내판을 읽으라고 한 줄 적어 두 파일을 잇는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286000"/>
          <a:ext cx="1063721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7022592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단계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무엇을 · 왜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소요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1D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1  정의 확정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대분류(에디터·어드민·홈페이지) 합의 — 무엇을 셀지 먼저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오늘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2  분류표 초안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 ↔ 볼트 유무 대조 (앞 03장 형태)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3  안내판 1곳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 1개만 골라 기능→정확한 파일·섹션 확정 + 경로 검증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0.5일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4  연결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 저장소 CLAUDE.md에 ‘안내판 먼저 읽어라’ 1줄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5분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5  검증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"○○ 해줘" → Claude가 안내판 보고 올바른 파일 여는지 테스트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10분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6  확산 &amp; 스킬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나머지 저장소에 복제 · 고빈도만 얇은 스킬로 승격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C4CFF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  플러그인 배포</a:t>
                      </a:r>
                      <a:endParaRPr lang="en-US" sz="12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555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안내판·스킬·도구를 묶어 어느 볼트·맨 바깥에서도 로드 (진단서 D안)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E6E73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이후</a:t>
                      </a:r>
                      <a:endParaRPr lang="en-US" sz="120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38100" marB="3810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6~7단계 = ‘아무 볼트에서나’ 되게 하는 확장.  </a:t>
            </a:r>
            <a:pPr indent="0" marL="0"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1곳이 작동 확인되면 복제하고, 마지막에 플러그인으로 어디서 켜도 로드되게 만든다.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cdbd-design-service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끝까지 하면 — 과정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1곳(추천: cdbd-design-service)을 예로.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5256" y="245973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0" name="Text 8"/>
          <p:cNvSpPr/>
          <p:nvPr/>
        </p:nvSpPr>
        <p:spPr>
          <a:xfrm>
            <a:off x="905256" y="2459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63040" y="228600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기능 추출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2286000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+ 볼트 대조 → 이 저장소가 실제로 다루는 CdBd 기능만 추림 (콘텐츠 등록·URL 게시·이미지 라이브러리·카드 매핑·누끼 크롭)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3072384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5256" y="32461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15" name="Text 13"/>
          <p:cNvSpPr/>
          <p:nvPr/>
        </p:nvSpPr>
        <p:spPr>
          <a:xfrm>
            <a:off x="905256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07238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파일·섹션 확정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20440" y="3072384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기능 → 정확한 파일·섹션 + 경로 실재 검증 (진단서가 지적한 ‘표 경로 9개 오류’ 정정)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858768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" y="403250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0" name="Text 18"/>
          <p:cNvSpPr/>
          <p:nvPr/>
        </p:nvSpPr>
        <p:spPr>
          <a:xfrm>
            <a:off x="905256" y="40325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463040" y="3858768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안내판 작성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520440" y="3858768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_기능 안내판.md 표로 정리 (기능 | 이렇게 말하면 | 파일·섹션 | 스킬화)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4645152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5256" y="481888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25" name="Text 23"/>
          <p:cNvSpPr/>
          <p:nvPr/>
        </p:nvSpPr>
        <p:spPr>
          <a:xfrm>
            <a:off x="905256" y="4818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63040" y="464515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520440" y="4645152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CLAUDE.md 맨 위에 ‘_기능 안내판.md 먼저 읽어라’ 1줄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5431536"/>
            <a:ext cx="10637215" cy="713232"/>
          </a:xfrm>
          <a:prstGeom prst="roundRect">
            <a:avLst>
              <a:gd name="adj" fmla="val 12821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05256" y="56052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6C4CFF"/>
          </a:solidFill>
          <a:ln/>
        </p:spPr>
      </p:sp>
      <p:sp>
        <p:nvSpPr>
          <p:cNvPr id="30" name="Text 28"/>
          <p:cNvSpPr/>
          <p:nvPr/>
        </p:nvSpPr>
        <p:spPr>
          <a:xfrm>
            <a:off x="905256" y="5605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63040" y="5431536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검증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520440" y="5431536"/>
            <a:ext cx="77111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룩북 CdBd에 올려줘" → Claude가 스스로 §등록 워크플로우 열고 7단계 수행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예시 · 결과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cdbd-design-service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결과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463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"CdBd에 올려줘" 한마디로 달라지는 것.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F5F5F7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E7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(안내판 없음)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어느 문서를 볼지 모름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표 경로가 옛 파일명이라 헤맴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사람이 매번 문서를 지정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팀원마다 결과가 달라짐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78728" y="2286000"/>
            <a:ext cx="5135728" cy="2148840"/>
          </a:xfrm>
          <a:prstGeom prst="roundRect">
            <a:avLst>
              <a:gd name="adj" fmla="val 5106"/>
            </a:avLst>
          </a:prstGeom>
          <a:solidFill>
            <a:srgbClr val="6C4CFF"/>
          </a:solidFill>
          <a:ln/>
        </p:spPr>
      </p:sp>
      <p:sp>
        <p:nvSpPr>
          <p:cNvPr id="12" name="Text 10"/>
          <p:cNvSpPr/>
          <p:nvPr/>
        </p:nvSpPr>
        <p:spPr>
          <a:xfrm>
            <a:off x="6553048" y="2450592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안내판 적용 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53048" y="288036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안내판에서 바로 §등록 워크플로우로 진입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폴더 확인 → 멀티페이지 → 카드 매핑 → URL·OG → 검증 → 게시 자동 흐름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누가 시켜도 같은 결과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4617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1D1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부수 결과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49377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진단서가 지적한 ‘핵심 문서 표 경로 9개 오류’ 정정   · ‘통계·개인화·버전기록 = 볼트에 없음’이 명시돼 다음 작업 목록이 생김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소요 반나절 · 산출물 = _기능 안내판.md 1개 + CLAUDE.md 1줄 → 통하면 나머지 저장소로 복제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6C4C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액션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42455" y="566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지금 결정할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896112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spc="-40" kern="0" dirty="0">
                <a:solidFill>
                  <a:srgbClr val="1D1D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결정할 것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63825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CDBD  ·  HOME.CDBD.IN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00055" y="63825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10637215" cy="960120"/>
          </a:xfrm>
          <a:prstGeom prst="roundRect">
            <a:avLst>
              <a:gd name="adj" fmla="val 11429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468880"/>
            <a:ext cx="109728" cy="9601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261518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대분류 확정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298094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· 어드민 · 홈페이지(계정) — 실행 도구는 ‘도구’로 별도. 이대로 갈지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66160"/>
            <a:ext cx="10637215" cy="960120"/>
          </a:xfrm>
          <a:prstGeom prst="roundRect">
            <a:avLst>
              <a:gd name="adj" fmla="val 11429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566160"/>
            <a:ext cx="109728" cy="9601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7124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첫 저장소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407822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cdbd-design-service 추천 — 다른 곳으로 할지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663440"/>
            <a:ext cx="10637215" cy="960120"/>
          </a:xfrm>
          <a:prstGeom prst="roundRect">
            <a:avLst>
              <a:gd name="adj" fmla="val 11429"/>
            </a:avLst>
          </a:prstGeom>
          <a:solidFill>
            <a:srgbClr val="F7F8FA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663440"/>
            <a:ext cx="109728" cy="960120"/>
          </a:xfrm>
          <a:prstGeom prst="roundRect">
            <a:avLst>
              <a:gd name="adj" fmla="val 16667"/>
            </a:avLst>
          </a:prstGeom>
          <a:solidFill>
            <a:srgbClr val="6C4C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97280" y="480974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C4C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확정되면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5175504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2단계(분류표 초안) → 3단계(안내판 제작)로 바로 진행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2026-08-11T05:10:49Z</dcterms:created>
  <dcterms:modified xsi:type="dcterms:W3CDTF">2026-08-11T05:10:49Z</dcterms:modified>
</cp:coreProperties>
</file>