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164592" cy="155448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Apple SD Gothic Neo"/>
              </a:rPr>
              <a:t>CdBd 기능 안내판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3DF69B"/>
                </a:solidFill>
                <a:latin typeface="Apple SD Gothic Neo"/>
              </a:rPr>
              <a:t>실행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416052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CFDA"/>
                </a:solidFill>
                <a:latin typeface="Apple SD Gothic Neo"/>
              </a:rPr>
              <a:t>어떤 기능이 어느 파일에 있는지 — 정확히 아는 것을 목표로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484"/>
                </a:solidFill>
                <a:latin typeface="Apple SD Gothic Neo"/>
              </a:rPr>
              <a:t>2026-08-11</a:t>
            </a:r>
            <a:r>
              <a:rPr sz="1100" b="0">
                <a:solidFill>
                  <a:srgbClr val="6B7484"/>
                </a:solidFill>
                <a:latin typeface="Apple SD Gothic Neo"/>
              </a:rPr>
              <a:t>    ·    후속 문서: 「CdBd 문서 체계 진단 및 개편 제안」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요약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한 장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27632"/>
            <a:ext cx="109728" cy="658368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진단은 끝났습니다.  </a:t>
            </a:r>
            <a:r>
              <a:rPr sz="1300" b="0">
                <a:solidFill>
                  <a:srgbClr val="6B7484"/>
                </a:solidFill>
                <a:latin typeface="Apple SD Gothic Neo"/>
              </a:rPr>
              <a:t>기능 96개 중 Claude가 스스로 찾는 건 7개(7.3%)뿐.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109728" cy="658368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이번 목표는 스킬이 아니라 '안내판'.  </a:t>
            </a:r>
            <a:r>
              <a:rPr sz="1300" b="0">
                <a:solidFill>
                  <a:srgbClr val="6B7484"/>
                </a:solidFill>
                <a:latin typeface="Apple SD Gothic Neo"/>
              </a:rPr>
              <a:t>무슨 기능이 → 어느 파일 어느 섹션에 있는지 확정하는 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93008"/>
            <a:ext cx="109728" cy="658368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65576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먼저 '96개'부터 다시 셉니다.  </a:t>
            </a:r>
            <a:r>
              <a:rPr sz="1300" b="0">
                <a:solidFill>
                  <a:srgbClr val="6B7484"/>
                </a:solidFill>
                <a:latin typeface="Apple SD Gothic Neo"/>
              </a:rPr>
              <a:t>makevu·마케팅·Figma 드로잉을 걷어내면 진짜 CdBd 기능은 20여 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25696"/>
            <a:ext cx="109728" cy="658368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98264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제품 영역별로 분류합니다.  </a:t>
            </a:r>
            <a:r>
              <a:rPr sz="1300" b="0">
                <a:solidFill>
                  <a:srgbClr val="6B7484"/>
                </a:solidFill>
                <a:latin typeface="Apple SD Gothic Neo"/>
              </a:rPr>
              <a:t>에디터 · 어드민 · 내 페이지 · 페이지별(통계·데이터). Figma 작업은 제외.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358384"/>
            <a:ext cx="109728" cy="658368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330952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스킬·플러그인은 다음 단계.  </a:t>
            </a:r>
            <a:r>
              <a:rPr sz="1300" b="0">
                <a:solidFill>
                  <a:srgbClr val="6B7484"/>
                </a:solidFill>
                <a:latin typeface="Apple SD Gothic Neo"/>
              </a:rPr>
              <a:t>안내판이 정확해진 뒤, 고빈도 기능만 얇게 승격.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재정의 ·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'96개'는 서로 다른 것을 한데 센 숫자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6070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3DF69B"/>
                </a:solidFill>
                <a:latin typeface="Apple SD Gothic Neo"/>
              </a:rPr>
              <a:t>• </a:t>
            </a:r>
            <a:r>
              <a:rPr sz="1500" b="0">
                <a:solidFill>
                  <a:srgbClr val="1B2432"/>
                </a:solidFill>
                <a:latin typeface="Apple SD Gothic Neo"/>
              </a:rPr>
              <a:t>96 = 5개 저장소의 마크다운을 전수 조사한 결과입니다 (진단서 부록 C).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3DF69B"/>
                </a:solidFill>
                <a:latin typeface="Apple SD Gothic Neo"/>
              </a:rPr>
              <a:t>• </a:t>
            </a:r>
            <a:r>
              <a:rPr sz="1500" b="0">
                <a:solidFill>
                  <a:srgbClr val="1B2432"/>
                </a:solidFill>
                <a:latin typeface="Apple SD Gothic Neo"/>
              </a:rPr>
              <a:t>그래서 그 안에는 성격이 전혀 다른 것들이 '기능 1개'로 섞여 있습니다 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0">
                <a:solidFill>
                  <a:srgbClr val="1B2432"/>
                </a:solidFill>
                <a:latin typeface="Apple SD Gothic Neo"/>
              </a:rPr>
              <a:t>     </a:t>
            </a:r>
            <a:r>
              <a:rPr sz="1300" b="0">
                <a:solidFill>
                  <a:srgbClr val="6B7484"/>
                </a:solidFill>
                <a:latin typeface="Apple SD Gothic Neo"/>
              </a:rPr>
              <a:t>다른 제품(makevu) · 마케팅 이미지 · Figma 드로잉 · 메모리/운영 작업까지.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3DF69B"/>
                </a:solidFill>
                <a:latin typeface="Apple SD Gothic Neo"/>
              </a:rPr>
              <a:t>• </a:t>
            </a:r>
            <a:r>
              <a:rPr sz="1500" b="0">
                <a:solidFill>
                  <a:srgbClr val="1B2432"/>
                </a:solidFill>
                <a:latin typeface="Apple SD Gothic Neo"/>
              </a:rPr>
              <a:t>우리가 원하는 건 'CdBd 페이지에서 실제 일어나는 일' 뿐입니다.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3DF69B"/>
                </a:solidFill>
                <a:latin typeface="Apple SD Gothic Neo"/>
              </a:rPr>
              <a:t>• </a:t>
            </a:r>
            <a:r>
              <a:rPr sz="1500" b="0">
                <a:solidFill>
                  <a:srgbClr val="1B2432"/>
                </a:solidFill>
                <a:latin typeface="Apple SD Gothic Neo"/>
              </a:rPr>
              <a:t>그 기준으로 좁히면 숫자가 크게 줄고, 대신 '무엇이 어디 있는지'가 선명해집니다.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892040"/>
            <a:ext cx="10515600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74920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B2432"/>
                </a:solidFill>
                <a:latin typeface="Apple SD Gothic Neo"/>
              </a:rPr>
              <a:t>핵심 질문:  </a:t>
            </a:r>
            <a:r>
              <a:rPr sz="1400" b="0">
                <a:solidFill>
                  <a:srgbClr val="1B2432"/>
                </a:solidFill>
                <a:latin typeface="Apple SD Gothic Neo"/>
              </a:rPr>
              <a:t>"96개"가 아니라, "CdBd 페이지 기능이 정확히 무엇 무엇인가" 부터 합의합니다.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재정의 · 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걷어내면 — CdBd 페이지 기능은 약 20여 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10515600" cy="31455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463040"/>
                <a:gridCol w="5760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pple SD Gothic Neo"/>
                        </a:rPr>
                        <a:t>항목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pple SD Gothic Neo"/>
                        </a:rPr>
                        <a:t>개수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pple SD Gothic Neo"/>
                        </a:rPr>
                        <a:t>이유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총계 (5개 저장소 전수)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96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부록 C 전수 조사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− makevu-qrstp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−20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다른 제품 (QR 스탬프) — CdBd 아님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− 마케팅 콜래터럴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−26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블로그·매거진 (cdbd.in 블로그용, 페이지 밖)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− Figma 드로잉·기법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−16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룩북·템플릿·화보 '제작' — 제외 지정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− 메타·운영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−8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메모리·세션 컨텍스트·마이그레이션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− 외부 범용 스킬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−2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impeccable (CdBd 무관)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= CdBd 기능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≈ 24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이 중 순수 '페이지 작업'은 ~11개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DF69B"/>
                </a:solidFill>
                <a:latin typeface="Apple SD Gothic Neo"/>
              </a:rPr>
              <a:t>→ </a:t>
            </a:r>
            <a:r>
              <a:rPr sz="1350" b="0">
                <a:solidFill>
                  <a:srgbClr val="6B7484"/>
                </a:solidFill>
                <a:latin typeface="Apple SD Gothic Neo"/>
              </a:rPr>
              <a:t>'제품 디자인 시스템(카드·컴포넌트)'까지 포함하면 ~24, 순수 플랫폼 작업만 보면 ~11. 아래 분류로 정리합니다.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분류 기준 · 핵심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제품 영역별 대분류  (Figma 작업은 제외)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00200"/>
            <a:ext cx="10515600" cy="786384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109728" cy="786384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32918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① 에디터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00200"/>
            <a:ext cx="68580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카드 배치·자동화, 카드 타입, 화면 구성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478024"/>
            <a:ext cx="10515600" cy="786384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478024"/>
            <a:ext cx="109728" cy="786384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78024"/>
            <a:ext cx="32918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② 어드민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478024"/>
            <a:ext cx="68580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템플릿·상세페이지 등록, 운영 설정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355848"/>
            <a:ext cx="10515600" cy="786384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355848"/>
            <a:ext cx="109728" cy="786384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55848"/>
            <a:ext cx="32918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③ 내 페이지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68580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콘텐츠 등록, URL(슬러그)·게시, 이미지 라이브러리, 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233672"/>
            <a:ext cx="10515600" cy="786384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233672"/>
            <a:ext cx="109728" cy="786384"/>
          </a:xfrm>
          <a:prstGeom prst="rect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233672"/>
            <a:ext cx="32918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④ 페이지별 (통계·데이터)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233672"/>
            <a:ext cx="68580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방문·통계·데이터 조회  — 현재 문서 공백, 확인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111496"/>
            <a:ext cx="10515600" cy="786384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5111496"/>
            <a:ext cx="109728" cy="786384"/>
          </a:xfrm>
          <a:prstGeom prst="rect">
            <a:avLst/>
          </a:prstGeom>
          <a:solidFill>
            <a:srgbClr val="6B7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111496"/>
            <a:ext cx="32918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⑤ (지원) 디자인 시스템·토큰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5111496"/>
            <a:ext cx="68580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색·폰트·아이콘·카드 스펙  — 조회·적용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1722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E04F4F"/>
                </a:solidFill>
                <a:latin typeface="Apple SD Gothic Neo"/>
              </a:rPr>
              <a:t>제외:  </a:t>
            </a:r>
            <a:r>
              <a:rPr sz="1200" b="0">
                <a:solidFill>
                  <a:srgbClr val="6B7484"/>
                </a:solidFill>
                <a:latin typeface="Apple SD Gothic Neo"/>
              </a:rPr>
              <a:t>Figma 드로잉(시안·초안·템플릿 제작) · 마케팅 · 메모리/운영 · makevu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분류 기준 · 근거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왜 '저장소별'이 아니라 '제품 영역별'인가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64792"/>
            <a:ext cx="109728" cy="8229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2432"/>
                </a:solidFill>
                <a:latin typeface="Apple SD Gothic Neo"/>
              </a:rPr>
              <a:t>팀원은 제품으로 생각합니다.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B7484"/>
                </a:solidFill>
                <a:latin typeface="Apple SD Gothic Neo"/>
              </a:rPr>
              <a:t>"에디터에서~", "어드민에서~", "내 페이지 통계~" — 저장소 이름으로 찾지 않습니다.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99232"/>
            <a:ext cx="109728" cy="8229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2432"/>
                </a:solidFill>
                <a:latin typeface="Apple SD Gothic Neo"/>
              </a:rPr>
              <a:t>같은 기능이 여러 저장소에 흩어져 있습니다.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B7484"/>
                </a:solidFill>
                <a:latin typeface="Apple SD Gothic Neo"/>
              </a:rPr>
              <a:t>예: '에디터' 관련 문서가 templates 80 · design-system 34 · design-service 19곳.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33672"/>
            <a:ext cx="109728" cy="8229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0624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2432"/>
                </a:solidFill>
                <a:latin typeface="Apple SD Gothic Neo"/>
              </a:rPr>
              <a:t>영역으로 묶으면 '빈 칸'이 보입니다.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B7484"/>
                </a:solidFill>
                <a:latin typeface="Apple SD Gothic Neo"/>
              </a:rPr>
              <a:t>어느 영역에 문서가 없는지(=공백 기능) 한눈에 드러납니다.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현황 · 실측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현재 문서는 각 영역을 얼마나 다루나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88136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2011680"/>
                <a:gridCol w="1737360"/>
                <a:gridCol w="20116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영역 / 키워드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design-system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templates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design-service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진단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에디터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34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80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19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풍부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어드민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0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27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templates 집중 · 나머지 공백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게시·슬러그(URL)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8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13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15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design-service 집중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Supabase(데이터 연동)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0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3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12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design-service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E04F4F"/>
                          </a:solidFill>
                          <a:latin typeface="Apple SD Gothic Neo"/>
                        </a:rPr>
                        <a:t>통계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04F4F"/>
                          </a:solidFill>
                          <a:latin typeface="Apple SD Gothic Neo"/>
                        </a:rPr>
                        <a:t>17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04F4F"/>
                          </a:solidFill>
                          <a:latin typeface="Apple SD Gothic Neo"/>
                        </a:rPr>
                        <a:t>9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04F4F"/>
                          </a:solidFill>
                          <a:latin typeface="Apple SD Gothic Neo"/>
                        </a:rPr>
                        <a:t>0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04F4F"/>
                          </a:solidFill>
                          <a:latin typeface="Apple SD Gothic Neo"/>
                        </a:rPr>
                        <a:t>얇음 · 성격 확인 필요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0749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484"/>
                </a:solidFill>
                <a:latin typeface="Apple SD Gothic Neo"/>
              </a:rPr>
              <a:t>숫자 = 해당 단어가 등장하는 .md 파일 수 (grep 실측).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DF69B"/>
                </a:solidFill>
                <a:latin typeface="Apple SD Gothic Neo"/>
              </a:rPr>
              <a:t>→ </a:t>
            </a:r>
            <a:r>
              <a:rPr sz="1300" b="0">
                <a:solidFill>
                  <a:srgbClr val="1B2432"/>
                </a:solidFill>
                <a:latin typeface="Apple SD Gothic Neo"/>
              </a:rPr>
              <a:t>에디터·URL은 문서가 있고, 어드민·통계·데이터는 얇습니다. 안내판은 '무엇이 없는지'까지 드러냅니다.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설계 ·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안내판의 형태 — 저장소마다 살아있는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00200"/>
            <a:ext cx="10515600" cy="18288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DF69B"/>
                </a:solidFill>
                <a:latin typeface="Apple SD Gothic Neo"/>
              </a:rPr>
              <a:t>각 저장소/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Apple SD Gothic Neo"/>
              </a:rPr>
              <a:t>├─ CLAUDE.md         </a:t>
            </a:r>
            <a:r>
              <a:rPr sz="1200" b="0">
                <a:solidFill>
                  <a:srgbClr val="9FF3C7"/>
                </a:solidFill>
                <a:latin typeface="Apple SD Gothic Neo"/>
              </a:rPr>
              <a:t>← 맨 위에 "작업 전 _기능 안내판.md 읽어라" 1줄 추가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Apple SD Gothic Neo"/>
              </a:rPr>
              <a:t>└─ _기능 안내판.md    </a:t>
            </a:r>
            <a:r>
              <a:rPr sz="1200" b="0">
                <a:solidFill>
                  <a:srgbClr val="9FF3C7"/>
                </a:solidFill>
                <a:latin typeface="Apple SD Gothic Neo"/>
              </a:rPr>
              <a:t>← 신규: 기능 → 파일 매핑 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B2432"/>
                </a:solidFill>
                <a:latin typeface="Apple SD Gothic Neo"/>
              </a:rPr>
              <a:t>안내판 한 행의 형식: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4069080"/>
          <a:ext cx="10515600" cy="841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377440"/>
                <a:gridCol w="466344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기능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이렇게 말하면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정본 파일·섹션 (검증된 경로)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스킬화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CdBd 콘텐츠 등록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"룩북 등록해줘"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룩북/1. 제작 프로세스/4-CdBd 콘텐츠.md §게시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후보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설계 · 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왜 CLAUDE.md가 안내판을 가리켜야 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09728" cy="54864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B2432"/>
                </a:solidFill>
                <a:latin typeface="Apple SD Gothic Neo"/>
              </a:rPr>
              <a:t>Claude에게 위키링크는 '클릭'이 아니라 그냥 글자입니다 — 스스로 열지 않습니다.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88920"/>
            <a:ext cx="109728" cy="54864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B2432"/>
                </a:solidFill>
                <a:latin typeface="Apple SD Gothic Neo"/>
              </a:rPr>
              <a:t>볼트(저장소) 간 링크는 작동하지 않습니다 — 안내판은 각 저장소 안에 self-contained.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09728" cy="54864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B2432"/>
                </a:solidFill>
                <a:latin typeface="Apple SD Gothic Neo"/>
              </a:rPr>
              <a:t>CLAUDE.md는 폴더를 열 때 자동으로 읽는 유일한 파일입니다 — 여기서 가리켜야 읽힙니다.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09159"/>
            <a:ext cx="109728" cy="54864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B2432"/>
                </a:solidFill>
                <a:latin typeface="Apple SD Gothic Neo"/>
              </a:rPr>
              <a:t>예전 HTML 계획서는 검색에서 빠져 아무도 다시 못 읽어 채택률 0%였습니다 — 반복하지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실행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실행 순서 — 6단계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881360" cy="2761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5120640"/>
                <a:gridCol w="256032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단계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할 일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산출물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소요</a:t>
                      </a:r>
                    </a:p>
                  </a:txBody>
                  <a:tcPr marL="91440" marR="54864" marT="27432" marB="27432" anchor="ctr">
                    <a:solidFill>
                      <a:srgbClr val="1B24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1. 정의 확정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대분류(에디터/어드민/내 페이지/통계·데이터) 승인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분류 기준 1장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오늘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2. 분류표 초안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CdBd 기능 24개를 영역별로 배치 (전 저장소)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분류표 초안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0.5일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3. 파일럿 1곳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정확한 파일·섹션까지 감사 + 경로 실재 검증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_기능 안내판.md ×1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0.5일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4. 배선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파일럿 CLAUDE.md → 안내판 가리키기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1줄 추가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5분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5. 검증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"○○ 만들어줘" → 올바른 파일 여는지 실제 테스트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통과 확인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10분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6. 확산 &amp; 스킬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나머지 저장소 복제 · 고빈도만 얇은 스킬로 승격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안내판 3개+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이후</a:t>
                      </a:r>
                    </a:p>
                  </a:txBody>
                  <a:tcPr marL="91440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DF69B"/>
                </a:solidFill>
                <a:latin typeface="Apple SD Gothic Neo"/>
              </a:rPr>
              <a:t>핵심: </a:t>
            </a:r>
            <a:r>
              <a:rPr sz="1300" b="0">
                <a:solidFill>
                  <a:srgbClr val="1B2432"/>
                </a:solidFill>
                <a:latin typeface="Apple SD Gothic Neo"/>
              </a:rPr>
              <a:t>1곳(3~5단계)을 끝까지 돌려 '안내판 → 올바른 파일 오픈'이 실제 작동하는 걸 본 뒤 확산합니다.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실행 · 파일럿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1B2432"/>
                </a:solidFill>
                <a:latin typeface="Apple SD Gothic Neo"/>
              </a:rPr>
              <a:t>파일럿과 '성공'의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5029200" cy="4023360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74519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파일럿 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4572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3DF69B"/>
                </a:solidFill>
                <a:latin typeface="Apple SD Gothic Neo"/>
              </a:rPr>
              <a:t>cdbd-design-service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B2432"/>
                </a:solidFill>
                <a:latin typeface="Apple SD Gothic Neo"/>
              </a:rPr>
              <a:t>• 내 페이지·콘텐츠·URL 기능이 가장 밀집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B2432"/>
                </a:solidFill>
                <a:latin typeface="Apple SD Gothic Neo"/>
              </a:rPr>
              <a:t>• 게시·Supabase 문서가 이미 존재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B2432"/>
                </a:solidFill>
                <a:latin typeface="Apple SD Gothic Neo"/>
              </a:rPr>
              <a:t>• 진단서가 지적한 '표 경로 9개 오류'도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B2432"/>
                </a:solidFill>
                <a:latin typeface="Apple SD Gothic Neo"/>
              </a:rPr>
              <a:t>   같이 정리 → 효과가 가장 잘 보임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645920"/>
            <a:ext cx="5212080" cy="402336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DF69B"/>
                </a:solidFill>
                <a:latin typeface="Apple SD Gothic Neo"/>
              </a:rPr>
              <a:t>'성공'의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23160"/>
            <a:ext cx="47548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사람이 아니라 Claude가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안내판만 보고 올바른 파일을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여는 것.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7CFDA"/>
                </a:solidFill>
                <a:latin typeface="Apple SD Gothic Neo"/>
              </a:rPr>
              <a:t>통과 전까지는 '문서가 있다'가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7CFDA"/>
                </a:solidFill>
                <a:latin typeface="Apple SD Gothic Neo"/>
              </a:rPr>
              <a:t>'작동한다'로 판단합니다.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31520"/>
            <a:ext cx="146304" cy="8229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685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pple SD Gothic Neo"/>
              </a:rPr>
              <a:t>지금 결정할 것 · 다음 액션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10515600" cy="1051560"/>
          </a:xfrm>
          <a:prstGeom prst="rect">
            <a:avLst/>
          </a:prstGeom>
          <a:solidFill>
            <a:srgbClr val="243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109728" cy="10515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488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3DF69B"/>
                </a:solidFill>
                <a:latin typeface="Apple SD Gothic Neo"/>
              </a:rPr>
              <a:t>① 대분류 확정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D5DCE5"/>
                </a:solidFill>
                <a:latin typeface="Apple SD Gothic Neo"/>
              </a:rPr>
              <a:t>에디터 · 어드민 · 내 페이지 · 페이지별(통계·데이터) · (지원)디자인시스템 — 이대로 갈지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18688"/>
            <a:ext cx="10515600" cy="1051560"/>
          </a:xfrm>
          <a:prstGeom prst="rect">
            <a:avLst/>
          </a:prstGeom>
          <a:solidFill>
            <a:srgbClr val="243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218688"/>
            <a:ext cx="109728" cy="10515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5584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3DF69B"/>
                </a:solidFill>
                <a:latin typeface="Apple SD Gothic Neo"/>
              </a:rPr>
              <a:t>② 파일럿 저장소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D5DCE5"/>
                </a:solidFill>
                <a:latin typeface="Apple SD Gothic Neo"/>
              </a:rPr>
              <a:t>cdbd-design-service 추천 — 다른 곳으로 할지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425696"/>
            <a:ext cx="10515600" cy="1051560"/>
          </a:xfrm>
          <a:prstGeom prst="rect">
            <a:avLst/>
          </a:prstGeom>
          <a:solidFill>
            <a:srgbClr val="243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425696"/>
            <a:ext cx="109728" cy="10515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562856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3DF69B"/>
                </a:solidFill>
                <a:latin typeface="Apple SD Gothic Neo"/>
              </a:rPr>
              <a:t>③ 확정되면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D5DCE5"/>
                </a:solidFill>
                <a:latin typeface="Apple SD Gothic Neo"/>
              </a:rPr>
              <a:t>2단계(분류표 초안)부터 바로 작성 → 파일럿 안내판 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484"/>
                </a:solidFill>
                <a:latin typeface="Apple SD Gothic Neo"/>
              </a:rPr>
              <a:t>정본 문서: _기능 안내판 실행 계획.md  ·  이 발표: _기능 안내판 실행 계획.pptx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