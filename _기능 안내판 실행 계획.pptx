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965960"/>
            <a:ext cx="164592" cy="960120"/>
          </a:xfrm>
          <a:prstGeom prst="rect">
            <a:avLst/>
          </a:prstGeom>
          <a:solidFill>
            <a:srgbClr val="3DF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874519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Apple SD Gothic Neo"/>
              </a:rPr>
              <a:t>CdBd 기능 안내판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306324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3DF69B"/>
                </a:solidFill>
                <a:latin typeface="Apple SD Gothic Neo"/>
              </a:rPr>
              <a:t>목표 — 어느 팀원이 Claude에게 CdBd 기능을 시켜도, 다 알고 제대로 동작한다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>
                <a:solidFill>
                  <a:srgbClr val="FFFFFF"/>
                </a:solidFill>
                <a:latin typeface="Apple SD Gothic Neo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C7CFDA"/>
                </a:solidFill>
                <a:latin typeface="Apple SD Gothic Neo"/>
              </a:rPr>
              <a:t>‘안내판’은 그 목표를 이루기 위한 방법입니다. 필요하면 스킬·플러그인까지 함께 씁니다.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59893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7484"/>
                </a:solidFill>
                <a:latin typeface="Apple SD Gothic Neo"/>
              </a:rPr>
              <a:t>실행 계획  ·  2026-08-11  ·  후속 문서: 「CdBd 문서 체계 진단 및 개편 제안」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47472"/>
            <a:ext cx="128016" cy="457200"/>
          </a:xfrm>
          <a:prstGeom prst="rect">
            <a:avLst/>
          </a:prstGeom>
          <a:solidFill>
            <a:srgbClr val="3DF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37744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EB872"/>
                </a:solidFill>
                <a:latin typeface="Apple SD Gothic Neo"/>
              </a:rPr>
              <a:t>요약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B2432"/>
                </a:solidFill>
                <a:latin typeface="Apple SD Gothic Neo"/>
              </a:rPr>
              <a:t>한 장 요약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90472"/>
            <a:ext cx="109728" cy="676656"/>
          </a:xfrm>
          <a:prstGeom prst="rect">
            <a:avLst/>
          </a:prstGeom>
          <a:solidFill>
            <a:srgbClr val="3DF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B2432"/>
                </a:solidFill>
                <a:latin typeface="Apple SD Gothic Neo"/>
              </a:rPr>
              <a:t>프로젝트 목표는 '기능을 다 알고 다 되게'.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6B7484"/>
                </a:solidFill>
                <a:latin typeface="Apple SD Gothic Neo"/>
              </a:rPr>
              <a:t>어느 팀원의 Claude든 CdBd 기능을 알고 실행. 지금은 대부분을 스스로 못 찾음.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32303"/>
            <a:ext cx="109728" cy="676656"/>
          </a:xfrm>
          <a:prstGeom prst="rect">
            <a:avLst/>
          </a:prstGeom>
          <a:solidFill>
            <a:srgbClr val="3DF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04872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B2432"/>
                </a:solidFill>
                <a:latin typeface="Apple SD Gothic Neo"/>
              </a:rPr>
              <a:t>분류 기준 = CdBd 기능 가이드 센터.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6B7484"/>
                </a:solidFill>
                <a:latin typeface="Apple SD Gothic Neo"/>
              </a:rPr>
              <a:t>공식 기능 지도를 뼈대로, 각 기능이 볼트에 있는지 대조 (✅ 있음 / △ 부분 / ❌ 없음).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374136"/>
            <a:ext cx="109728" cy="676656"/>
          </a:xfrm>
          <a:prstGeom prst="rect">
            <a:avLst/>
          </a:prstGeom>
          <a:solidFill>
            <a:srgbClr val="3DF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346704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B2432"/>
                </a:solidFill>
                <a:latin typeface="Apple SD Gothic Neo"/>
              </a:rPr>
              <a:t>그 방법으로 '안내판'을 만듭니다.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6B7484"/>
                </a:solidFill>
                <a:latin typeface="Apple SD Gothic Neo"/>
              </a:rPr>
              <a:t>무슨 기능이 → 어느 파일 어느 섹션에. 스킬·플러그인도 필요하면 적용.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315968"/>
            <a:ext cx="109728" cy="676656"/>
          </a:xfrm>
          <a:prstGeom prst="rect">
            <a:avLst/>
          </a:prstGeom>
          <a:solidFill>
            <a:srgbClr val="3DF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88536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B2432"/>
                </a:solidFill>
                <a:latin typeface="Apple SD Gothic Neo"/>
              </a:rPr>
              <a:t>빈 칸이 드러납니다.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6B7484"/>
                </a:solidFill>
                <a:latin typeface="Apple SD Gothic Neo"/>
              </a:rPr>
              <a:t>통계·개인화·버전기록·계정 등은 볼트에 문서가 없음 → 앞으로 채울 목록.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257800"/>
            <a:ext cx="109728" cy="676656"/>
          </a:xfrm>
          <a:prstGeom prst="rect">
            <a:avLst/>
          </a:prstGeom>
          <a:solidFill>
            <a:srgbClr val="3DF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230368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B2432"/>
                </a:solidFill>
                <a:latin typeface="Apple SD Gothic Neo"/>
              </a:rPr>
              <a:t>저장소 1곳부터 만들어 '작동'을 확인한 뒤 확산.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6B7484"/>
                </a:solidFill>
                <a:latin typeface="Apple SD Gothic Neo"/>
              </a:rPr>
              <a:t>문서를 늘리는 게 아니라 실제 동작을 기준으로.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484"/>
                </a:solidFill>
                <a:latin typeface="Apple SD Gothic Neo"/>
              </a:rPr>
              <a:t>CdBd 기능 안내판 — 실행 계획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731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484"/>
                </a:solidFill>
                <a:latin typeface="Apple SD Gothic Neo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47472"/>
            <a:ext cx="128016" cy="457200"/>
          </a:xfrm>
          <a:prstGeom prst="rect">
            <a:avLst/>
          </a:prstGeom>
          <a:solidFill>
            <a:srgbClr val="3DF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37744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EB872"/>
                </a:solidFill>
                <a:latin typeface="Apple SD Gothic Neo"/>
              </a:rPr>
              <a:t>분류 기준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B2432"/>
                </a:solidFill>
                <a:latin typeface="Apple SD Gothic Neo"/>
              </a:rPr>
              <a:t>CdBd 기능 가이드 센터를 뼈대로 삼습니다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371600"/>
            <a:ext cx="10515600" cy="566928"/>
          </a:xfrm>
          <a:prstGeom prst="rect">
            <a:avLst/>
          </a:prstGeom>
          <a:solidFill>
            <a:srgbClr val="F4F6F8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371600"/>
            <a:ext cx="91440" cy="566928"/>
          </a:xfrm>
          <a:prstGeom prst="rect">
            <a:avLst/>
          </a:prstGeom>
          <a:solidFill>
            <a:srgbClr val="3DF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371600"/>
            <a:ext cx="2743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1B2432"/>
                </a:solidFill>
                <a:latin typeface="Apple SD Gothic Neo"/>
              </a:rPr>
              <a:t>시작하기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371600"/>
            <a:ext cx="7360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6B7484"/>
                </a:solidFill>
                <a:latin typeface="Apple SD Gothic Neo"/>
              </a:rPr>
              <a:t>회원가입 · 템플릿 페이지 생성 · 요금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011680"/>
            <a:ext cx="10515600" cy="566928"/>
          </a:xfrm>
          <a:prstGeom prst="rect">
            <a:avLst/>
          </a:prstGeom>
          <a:solidFill>
            <a:srgbClr val="F4F6F8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011680"/>
            <a:ext cx="91440" cy="566928"/>
          </a:xfrm>
          <a:prstGeom prst="rect">
            <a:avLst/>
          </a:prstGeom>
          <a:solidFill>
            <a:srgbClr val="3DF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011680"/>
            <a:ext cx="2743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1B2432"/>
                </a:solidFill>
                <a:latin typeface="Apple SD Gothic Neo"/>
              </a:rPr>
              <a:t>에디터 (공통)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2011680"/>
            <a:ext cx="7360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6B7484"/>
                </a:solidFill>
                <a:latin typeface="Apple SD Gothic Neo"/>
              </a:rPr>
              <a:t>개요 · 페이지 테마 · 카드 디자인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651760"/>
            <a:ext cx="10515600" cy="566928"/>
          </a:xfrm>
          <a:prstGeom prst="rect">
            <a:avLst/>
          </a:prstGeom>
          <a:solidFill>
            <a:srgbClr val="F4F6F8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2651760"/>
            <a:ext cx="91440" cy="566928"/>
          </a:xfrm>
          <a:prstGeom prst="rect">
            <a:avLst/>
          </a:prstGeom>
          <a:solidFill>
            <a:srgbClr val="3DF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651760"/>
            <a:ext cx="2743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1B2432"/>
                </a:solidFill>
                <a:latin typeface="Apple SD Gothic Neo"/>
              </a:rPr>
              <a:t>카드 15종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2651760"/>
            <a:ext cx="7360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6B7484"/>
                </a:solidFill>
                <a:latin typeface="Apple SD Gothic Neo"/>
              </a:rPr>
              <a:t>메뉴·프로필·텍스트·이미지·갤러리·유튜브·버튼·Q&amp;A·예약·상품·위치·SNS·구분선·코드·2단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291840"/>
            <a:ext cx="10515600" cy="566928"/>
          </a:xfrm>
          <a:prstGeom prst="rect">
            <a:avLst/>
          </a:prstGeom>
          <a:solidFill>
            <a:srgbClr val="F4F6F8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3291840"/>
            <a:ext cx="91440" cy="566928"/>
          </a:xfrm>
          <a:prstGeom prst="rect">
            <a:avLst/>
          </a:prstGeom>
          <a:solidFill>
            <a:srgbClr val="3DF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3291840"/>
            <a:ext cx="2743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1B2432"/>
                </a:solidFill>
                <a:latin typeface="Apple SD Gothic Neo"/>
              </a:rPr>
              <a:t>원페이지 / 멀티페이지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3291840"/>
            <a:ext cx="7360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6B7484"/>
                </a:solidFill>
                <a:latin typeface="Apple SD Gothic Neo"/>
              </a:rPr>
              <a:t>페이지 관리 · 페이지 설정 · 뷰어 · 스크롤 애니메이션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931920"/>
            <a:ext cx="10515600" cy="566928"/>
          </a:xfrm>
          <a:prstGeom prst="rect">
            <a:avLst/>
          </a:prstGeom>
          <a:solidFill>
            <a:srgbClr val="F4F6F8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3931920"/>
            <a:ext cx="91440" cy="566928"/>
          </a:xfrm>
          <a:prstGeom prst="rect">
            <a:avLst/>
          </a:prstGeom>
          <a:solidFill>
            <a:srgbClr val="3DF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3931920"/>
            <a:ext cx="2743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1B2432"/>
                </a:solidFill>
                <a:latin typeface="Apple SD Gothic Neo"/>
              </a:rPr>
              <a:t>게시 · 통계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3931920"/>
            <a:ext cx="7360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6B7484"/>
                </a:solidFill>
                <a:latin typeface="Apple SD Gothic Neo"/>
              </a:rPr>
              <a:t>미리보기 · URL 게시 · 통계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4572000"/>
            <a:ext cx="10515600" cy="566928"/>
          </a:xfrm>
          <a:prstGeom prst="rect">
            <a:avLst/>
          </a:prstGeom>
          <a:solidFill>
            <a:srgbClr val="F4F6F8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4572000"/>
            <a:ext cx="91440" cy="566928"/>
          </a:xfrm>
          <a:prstGeom prst="rect">
            <a:avLst/>
          </a:prstGeom>
          <a:solidFill>
            <a:srgbClr val="3DF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4572000"/>
            <a:ext cx="2743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1B2432"/>
                </a:solidFill>
                <a:latin typeface="Apple SD Gothic Neo"/>
              </a:rPr>
              <a:t>기능 (계정)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94760" y="4572000"/>
            <a:ext cx="7360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6B7484"/>
                </a:solidFill>
                <a:latin typeface="Apple SD Gothic Neo"/>
              </a:rPr>
              <a:t>홈 · 내 페이지 · 공유 복제 · 권한 · 버전 기록 · 계정 · 내 주소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5212080"/>
            <a:ext cx="10515600" cy="566928"/>
          </a:xfrm>
          <a:prstGeom prst="rect">
            <a:avLst/>
          </a:prstGeom>
          <a:solidFill>
            <a:srgbClr val="F4F6F8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" y="5212080"/>
            <a:ext cx="91440" cy="566928"/>
          </a:xfrm>
          <a:prstGeom prst="rect">
            <a:avLst/>
          </a:prstGeom>
          <a:solidFill>
            <a:srgbClr val="3DF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5212080"/>
            <a:ext cx="2743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1B2432"/>
                </a:solidFill>
                <a:latin typeface="Apple SD Gothic Neo"/>
              </a:rPr>
              <a:t>데이터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94760" y="5212080"/>
            <a:ext cx="7360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6B7484"/>
                </a:solidFill>
                <a:latin typeface="Apple SD Gothic Neo"/>
              </a:rPr>
              <a:t>데이터 관리 · 개별 이미지 · 에디터 데이터(개인화) · URL 통계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6053328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2EB872"/>
                </a:solidFill>
                <a:latin typeface="Apple SD Gothic Neo"/>
              </a:rPr>
              <a:t>방법: </a:t>
            </a:r>
            <a:r>
              <a:rPr sz="1100" b="0">
                <a:solidFill>
                  <a:srgbClr val="6B7484"/>
                </a:solidFill>
                <a:latin typeface="Apple SD Gothic Neo"/>
              </a:rPr>
              <a:t>이 기능 하나하나에 볼트 문서 유무를 대조(✅/△/❌)하고, 가이드엔 없고 볼트에만 있는 기능은 따로 추가합니다.  출처: cdbd.mintlify.app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4652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484"/>
                </a:solidFill>
                <a:latin typeface="Apple SD Gothic Neo"/>
              </a:rPr>
              <a:t>CdBd 기능 안내판 — 실행 계획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46520"/>
            <a:ext cx="731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484"/>
                </a:solidFill>
                <a:latin typeface="Apple SD Gothic Neo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47472"/>
            <a:ext cx="128016" cy="457200"/>
          </a:xfrm>
          <a:prstGeom prst="rect">
            <a:avLst/>
          </a:prstGeom>
          <a:solidFill>
            <a:srgbClr val="3DF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37744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EB872"/>
                </a:solidFill>
                <a:latin typeface="Apple SD Gothic Neo"/>
              </a:rPr>
              <a:t>분류표 초안 · ①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B2432"/>
                </a:solidFill>
                <a:latin typeface="Apple SD Gothic Neo"/>
              </a:rPr>
              <a:t>에디터 — 이것이 ‘분류표 초안’의 모습입니다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17320"/>
          <a:ext cx="10698480" cy="37124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  <a:gridCol w="6583680"/>
                <a:gridCol w="201168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pple SD Gothic Neo"/>
                        </a:rPr>
                        <a:t>세부 영역</a:t>
                      </a:r>
                    </a:p>
                  </a:txBody>
                  <a:tcPr marL="82296" marR="45720" marT="18288" marB="18288" anchor="ctr"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pple SD Gothic Neo"/>
                        </a:rPr>
                        <a:t>기능</a:t>
                      </a:r>
                    </a:p>
                  </a:txBody>
                  <a:tcPr marL="82296" marR="45720" marT="18288" marB="18288" anchor="ctr"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pple SD Gothic Neo"/>
                        </a:rPr>
                        <a:t>볼트 문서</a:t>
                      </a:r>
                    </a:p>
                  </a:txBody>
                  <a:tcPr marL="82296" marR="45720" marT="18288" marB="18288" anchor="ctr">
                    <a:solidFill>
                      <a:srgbClr val="1B243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B2432"/>
                          </a:solidFill>
                          <a:latin typeface="Apple SD Gothic Neo"/>
                        </a:rPr>
                        <a:t>카드 15종</a:t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B2432"/>
                          </a:solidFill>
                          <a:latin typeface="Apple SD Gothic Neo"/>
                        </a:rPr>
                        <a:t>프로필·텍스트·이미지·갤러리·버튼·Q&amp;A·위치·SNS·구분선·2단·유튜브·예약</a:t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EB872"/>
                          </a:solidFill>
                          <a:latin typeface="Apple SD Gothic Neo"/>
                        </a:rPr>
                        <a:t>✅ 있음</a:t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B2432"/>
                          </a:solidFill>
                          <a:latin typeface="Apple SD Gothic Neo"/>
                        </a:rPr>
                        <a:t>카드 15종</a:t>
                      </a:r>
                    </a:p>
                  </a:txBody>
                  <a:tcPr marL="82296" marR="45720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B2432"/>
                          </a:solidFill>
                          <a:latin typeface="Apple SD Gothic Neo"/>
                        </a:rPr>
                        <a:t>상품 · 코드 · 메뉴</a:t>
                      </a:r>
                    </a:p>
                  </a:txBody>
                  <a:tcPr marL="82296" marR="45720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88A00"/>
                          </a:solidFill>
                          <a:latin typeface="Apple SD Gothic Neo"/>
                        </a:rPr>
                        <a:t>△ 부분</a:t>
                      </a:r>
                    </a:p>
                  </a:txBody>
                  <a:tcPr marL="82296" marR="45720" marT="18288" marB="18288" anchor="ctr">
                    <a:solidFill>
                      <a:srgbClr val="F4F6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B2432"/>
                          </a:solidFill>
                          <a:latin typeface="Apple SD Gothic Neo"/>
                        </a:rPr>
                        <a:t>구성·꾸미기</a:t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B2432"/>
                          </a:solidFill>
                          <a:latin typeface="Apple SD Gothic Neo"/>
                        </a:rPr>
                        <a:t>페이지 테마 · 카드 디자인 · 페이지 설정 · 멀티페이지 · 원페이지</a:t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EB872"/>
                          </a:solidFill>
                          <a:latin typeface="Apple SD Gothic Neo"/>
                        </a:rPr>
                        <a:t>✅ 있음</a:t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B2432"/>
                          </a:solidFill>
                          <a:latin typeface="Apple SD Gothic Neo"/>
                        </a:rPr>
                        <a:t>구성·꾸미기</a:t>
                      </a:r>
                    </a:p>
                  </a:txBody>
                  <a:tcPr marL="82296" marR="45720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B2432"/>
                          </a:solidFill>
                          <a:latin typeface="Apple SD Gothic Neo"/>
                        </a:rPr>
                        <a:t>스크롤 애니메이션 · 미리보기</a:t>
                      </a:r>
                    </a:p>
                  </a:txBody>
                  <a:tcPr marL="82296" marR="45720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88A00"/>
                          </a:solidFill>
                          <a:latin typeface="Apple SD Gothic Neo"/>
                        </a:rPr>
                        <a:t>△ 언급</a:t>
                      </a:r>
                    </a:p>
                  </a:txBody>
                  <a:tcPr marL="82296" marR="45720" marT="18288" marB="18288" anchor="ctr">
                    <a:solidFill>
                      <a:srgbClr val="F4F6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B2432"/>
                          </a:solidFill>
                          <a:latin typeface="Apple SD Gothic Neo"/>
                        </a:rPr>
                        <a:t>게시</a:t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B2432"/>
                          </a:solidFill>
                          <a:latin typeface="Apple SD Gothic Neo"/>
                        </a:rPr>
                        <a:t>URL 생성·게시 · OG · 슬러그</a:t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EB872"/>
                          </a:solidFill>
                          <a:latin typeface="Apple SD Gothic Neo"/>
                        </a:rPr>
                        <a:t>✅ 있음</a:t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B2432"/>
                          </a:solidFill>
                          <a:latin typeface="Apple SD Gothic Neo"/>
                        </a:rPr>
                        <a:t>통계</a:t>
                      </a:r>
                    </a:p>
                  </a:txBody>
                  <a:tcPr marL="82296" marR="45720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B2432"/>
                          </a:solidFill>
                          <a:latin typeface="Apple SD Gothic Neo"/>
                        </a:rPr>
                        <a:t>페이지 조회·방문 통계</a:t>
                      </a:r>
                    </a:p>
                  </a:txBody>
                  <a:tcPr marL="82296" marR="45720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D84545"/>
                          </a:solidFill>
                          <a:latin typeface="Apple SD Gothic Neo"/>
                        </a:rPr>
                        <a:t>❌ 없음</a:t>
                      </a:r>
                    </a:p>
                  </a:txBody>
                  <a:tcPr marL="82296" marR="45720" marT="18288" marB="18288" anchor="ctr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71500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6B7484"/>
                </a:solidFill>
                <a:latin typeface="Apple SD Gothic Neo"/>
              </a:rPr>
              <a:t>각 ✅ 행은 실제 파일·섹션까지 채웁니다 (예: URL 게시 → </a:t>
            </a:r>
            <a:r>
              <a:rPr sz="1150" b="1">
                <a:solidFill>
                  <a:srgbClr val="1B2432"/>
                </a:solidFill>
                <a:latin typeface="Apple SD Gothic Neo"/>
              </a:rPr>
              <a:t>룩북/1. 제작 프로세스/4-CdBd 콘텐츠.md §URL 게시</a:t>
            </a:r>
            <a:r>
              <a:rPr sz="1150" b="0">
                <a:solidFill>
                  <a:srgbClr val="6B7484"/>
                </a:solidFill>
                <a:latin typeface="Apple SD Gothic Neo"/>
              </a:rPr>
              <a:t>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484"/>
                </a:solidFill>
                <a:latin typeface="Apple SD Gothic Neo"/>
              </a:rPr>
              <a:t>CdBd 기능 안내판 — 실행 계획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731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484"/>
                </a:solidFill>
                <a:latin typeface="Apple SD Gothic Neo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47472"/>
            <a:ext cx="128016" cy="457200"/>
          </a:xfrm>
          <a:prstGeom prst="rect">
            <a:avLst/>
          </a:prstGeom>
          <a:solidFill>
            <a:srgbClr val="3DF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37744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EB872"/>
                </a:solidFill>
                <a:latin typeface="Apple SD Gothic Neo"/>
              </a:rPr>
              <a:t>분류표 초안 · ②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B2432"/>
                </a:solidFill>
                <a:latin typeface="Apple SD Gothic Neo"/>
              </a:rPr>
              <a:t>데이터·계정·시작하기 + 볼트에만 있는 기능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6675120" cy="31638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/>
                <a:gridCol w="3657600"/>
                <a:gridCol w="146304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pple SD Gothic Neo"/>
                        </a:rPr>
                        <a:t>영역</a:t>
                      </a:r>
                    </a:p>
                  </a:txBody>
                  <a:tcPr marL="82296" marR="45720" marT="18288" marB="18288" anchor="ctr"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pple SD Gothic Neo"/>
                        </a:rPr>
                        <a:t>기능</a:t>
                      </a:r>
                    </a:p>
                  </a:txBody>
                  <a:tcPr marL="82296" marR="45720" marT="18288" marB="18288" anchor="ctr"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pple SD Gothic Neo"/>
                        </a:rPr>
                        <a:t>볼트 문서</a:t>
                      </a:r>
                    </a:p>
                  </a:txBody>
                  <a:tcPr marL="82296" marR="45720" marT="18288" marB="18288" anchor="ctr">
                    <a:solidFill>
                      <a:srgbClr val="1B243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432"/>
                          </a:solidFill>
                          <a:latin typeface="Apple SD Gothic Neo"/>
                        </a:rPr>
                        <a:t>데이터 관리</a:t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B2432"/>
                          </a:solidFill>
                          <a:latin typeface="Apple SD Gothic Neo"/>
                        </a:rPr>
                        <a:t>개별 이미지 (이미지 라이브러리)</a:t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EB872"/>
                          </a:solidFill>
                          <a:latin typeface="Apple SD Gothic Neo"/>
                        </a:rPr>
                        <a:t>✅ 있음</a:t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432"/>
                          </a:solidFill>
                          <a:latin typeface="Apple SD Gothic Neo"/>
                        </a:rPr>
                        <a:t>데이터 관리</a:t>
                      </a:r>
                    </a:p>
                  </a:txBody>
                  <a:tcPr marL="82296" marR="45720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B2432"/>
                          </a:solidFill>
                          <a:latin typeface="Apple SD Gothic Neo"/>
                        </a:rPr>
                        <a:t>에디터 데이터 (개인화 병합) · URL 통계</a:t>
                      </a:r>
                    </a:p>
                  </a:txBody>
                  <a:tcPr marL="82296" marR="45720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D84545"/>
                          </a:solidFill>
                          <a:latin typeface="Apple SD Gothic Neo"/>
                        </a:rPr>
                        <a:t>❌ 없음</a:t>
                      </a:r>
                    </a:p>
                  </a:txBody>
                  <a:tcPr marL="82296" marR="45720" marT="18288" marB="18288" anchor="ctr">
                    <a:solidFill>
                      <a:srgbClr val="F4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432"/>
                          </a:solidFill>
                          <a:latin typeface="Apple SD Gothic Neo"/>
                        </a:rPr>
                        <a:t>기능·계정</a:t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B2432"/>
                          </a:solidFill>
                          <a:latin typeface="Apple SD Gothic Neo"/>
                        </a:rPr>
                        <a:t>권한 · 비밀번호</a:t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88A00"/>
                          </a:solidFill>
                          <a:latin typeface="Apple SD Gothic Neo"/>
                        </a:rPr>
                        <a:t>△ 부분</a:t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432"/>
                          </a:solidFill>
                          <a:latin typeface="Apple SD Gothic Neo"/>
                        </a:rPr>
                        <a:t>기능·계정</a:t>
                      </a:r>
                    </a:p>
                  </a:txBody>
                  <a:tcPr marL="82296" marR="45720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B2432"/>
                          </a:solidFill>
                          <a:latin typeface="Apple SD Gothic Neo"/>
                        </a:rPr>
                        <a:t>내 페이지 · 공유 복제 · 버전 기록 · 계정 · 내 주소</a:t>
                      </a:r>
                    </a:p>
                  </a:txBody>
                  <a:tcPr marL="82296" marR="45720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D84545"/>
                          </a:solidFill>
                          <a:latin typeface="Apple SD Gothic Neo"/>
                        </a:rPr>
                        <a:t>❌ 없음</a:t>
                      </a:r>
                    </a:p>
                  </a:txBody>
                  <a:tcPr marL="82296" marR="45720" marT="18288" marB="18288" anchor="ctr">
                    <a:solidFill>
                      <a:srgbClr val="F4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432"/>
                          </a:solidFill>
                          <a:latin typeface="Apple SD Gothic Neo"/>
                        </a:rPr>
                        <a:t>시작하기</a:t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B2432"/>
                          </a:solidFill>
                          <a:latin typeface="Apple SD Gothic Neo"/>
                        </a:rPr>
                        <a:t>템플릿 페이지 생성</a:t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88A00"/>
                          </a:solidFill>
                          <a:latin typeface="Apple SD Gothic Neo"/>
                        </a:rPr>
                        <a:t>△ 부분</a:t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432"/>
                          </a:solidFill>
                          <a:latin typeface="Apple SD Gothic Neo"/>
                        </a:rPr>
                        <a:t>시작하기</a:t>
                      </a:r>
                    </a:p>
                  </a:txBody>
                  <a:tcPr marL="82296" marR="45720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B2432"/>
                          </a:solidFill>
                          <a:latin typeface="Apple SD Gothic Neo"/>
                        </a:rPr>
                        <a:t>회원가입 · 요금</a:t>
                      </a:r>
                    </a:p>
                  </a:txBody>
                  <a:tcPr marL="82296" marR="45720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D84545"/>
                          </a:solidFill>
                          <a:latin typeface="Apple SD Gothic Neo"/>
                        </a:rPr>
                        <a:t>❌ 없음</a:t>
                      </a:r>
                    </a:p>
                  </a:txBody>
                  <a:tcPr marL="82296" marR="45720" marT="18288" marB="18288" anchor="ctr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680960" y="1371600"/>
            <a:ext cx="3749039" cy="4114800"/>
          </a:xfrm>
          <a:prstGeom prst="rect">
            <a:avLst/>
          </a:prstGeom>
          <a:solidFill>
            <a:srgbClr val="1B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1536192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DF69B"/>
                </a:solidFill>
                <a:latin typeface="Apple SD Gothic Neo"/>
              </a:rPr>
              <a:t>볼트에만 있는 CdBd 기능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C7CFDA"/>
                </a:solidFill>
                <a:latin typeface="Apple SD Gothic Neo"/>
              </a:rPr>
              <a:t>(가이드 센터엔 없음)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2331720"/>
            <a:ext cx="338328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FFFFFF"/>
                </a:solidFill>
                <a:latin typeface="Apple SD Gothic Neo"/>
              </a:rPr>
              <a:t>• Supabase 직접 자동화 · 게시 4-call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FFFFFF"/>
                </a:solidFill>
                <a:latin typeface="Apple SD Gothic Neo"/>
              </a:rPr>
              <a:t>• Figma→CdBd 카드 매핑 · JSON 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FFFFFF"/>
                </a:solidFill>
                <a:latin typeface="Apple SD Gothic Neo"/>
              </a:rPr>
              <a:t>• 이미지 라이브러리 업로드 헬퍼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FFFFFF"/>
                </a:solidFill>
                <a:latin typeface="Apple SD Gothic Neo"/>
              </a:rPr>
              <a:t>• 브라우저 로그인 세션 (gstack)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FFFFFF"/>
                </a:solidFill>
                <a:latin typeface="Apple SD Gothic Neo"/>
              </a:rPr>
              <a:t>• 어드민 템플릿 등록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FFFFFF"/>
                </a:solidFill>
                <a:latin typeface="Apple SD Gothic Neo"/>
              </a:rPr>
              <a:t>• 무인 일일 템플릿 제작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80644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84545"/>
                </a:solidFill>
                <a:latin typeface="Apple SD Gothic Neo"/>
              </a:rPr>
              <a:t>❌ 없음</a:t>
            </a:r>
            <a:r>
              <a:rPr sz="1150" b="0">
                <a:solidFill>
                  <a:srgbClr val="6B7484"/>
                </a:solidFill>
                <a:latin typeface="Apple SD Gothic Neo"/>
              </a:rPr>
              <a:t> = 가이드 센터엔 있으나 팀 볼트엔 문서가 없는 기능. 안내판이 이 빈 칸을 드러냅니다.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484"/>
                </a:solidFill>
                <a:latin typeface="Apple SD Gothic Neo"/>
              </a:rPr>
              <a:t>CdBd 기능 안내판 — 실행 계획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731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484"/>
                </a:solidFill>
                <a:latin typeface="Apple SD Gothic Neo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47472"/>
            <a:ext cx="128016" cy="457200"/>
          </a:xfrm>
          <a:prstGeom prst="rect">
            <a:avLst/>
          </a:prstGeom>
          <a:solidFill>
            <a:srgbClr val="3DF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37744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EB872"/>
                </a:solidFill>
                <a:latin typeface="Apple SD Gothic Neo"/>
              </a:rPr>
              <a:t>근거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B2432"/>
                </a:solidFill>
                <a:latin typeface="Apple SD Gothic Neo"/>
              </a:rPr>
              <a:t>왜 ‘저장소별’이 아니라 ‘제품 영역별’인가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27632"/>
            <a:ext cx="109728" cy="822960"/>
          </a:xfrm>
          <a:prstGeom prst="rect">
            <a:avLst/>
          </a:prstGeom>
          <a:solidFill>
            <a:srgbClr val="3DF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B2432"/>
                </a:solidFill>
                <a:latin typeface="Apple SD Gothic Neo"/>
              </a:rPr>
              <a:t>팀원은 제품으로 생각합니다.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B7484"/>
                </a:solidFill>
                <a:latin typeface="Apple SD Gothic Neo"/>
              </a:rPr>
              <a:t>"에디터에서~", "통계 봐줘", "이미지 라이브러리에~" — 저장소 이름으로 찾지 않습니다.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816351"/>
            <a:ext cx="109728" cy="822960"/>
          </a:xfrm>
          <a:prstGeom prst="rect">
            <a:avLst/>
          </a:prstGeom>
          <a:solidFill>
            <a:srgbClr val="3DF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78892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B2432"/>
                </a:solidFill>
                <a:latin typeface="Apple SD Gothic Neo"/>
              </a:rPr>
              <a:t>같은 기능이 여러 저장소에 흩어져 있습니다.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B7484"/>
                </a:solidFill>
                <a:latin typeface="Apple SD Gothic Neo"/>
              </a:rPr>
              <a:t>예: 카드·에디터 문서가 templates·design-system·design-service에 각각 존재.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05072"/>
            <a:ext cx="109728" cy="822960"/>
          </a:xfrm>
          <a:prstGeom prst="rect">
            <a:avLst/>
          </a:prstGeom>
          <a:solidFill>
            <a:srgbClr val="3DF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977639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B2432"/>
                </a:solidFill>
                <a:latin typeface="Apple SD Gothic Neo"/>
              </a:rPr>
              <a:t>가이드 센터 기준이라 빠짐이 없습니다.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6B7484"/>
                </a:solidFill>
                <a:latin typeface="Apple SD Gothic Neo"/>
              </a:rPr>
              <a:t>공식 기능 목록에 대조하니 ‘볼트에 없는 기능’까지 자동으로 드러납니다.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484"/>
                </a:solidFill>
                <a:latin typeface="Apple SD Gothic Neo"/>
              </a:rPr>
              <a:t>CdBd 기능 안내판 — 실행 계획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731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484"/>
                </a:solidFill>
                <a:latin typeface="Apple SD Gothic Neo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47472"/>
            <a:ext cx="128016" cy="457200"/>
          </a:xfrm>
          <a:prstGeom prst="rect">
            <a:avLst/>
          </a:prstGeom>
          <a:solidFill>
            <a:srgbClr val="3DF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37744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EB872"/>
                </a:solidFill>
                <a:latin typeface="Apple SD Gothic Neo"/>
              </a:rPr>
              <a:t>설계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B2432"/>
                </a:solidFill>
                <a:latin typeface="Apple SD Gothic Neo"/>
              </a:rPr>
              <a:t>안내판의 형태와 원리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325880"/>
            <a:ext cx="10515600" cy="1508760"/>
          </a:xfrm>
          <a:prstGeom prst="rect">
            <a:avLst/>
          </a:prstGeom>
          <a:solidFill>
            <a:srgbClr val="1B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46304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3DF69B"/>
                </a:solidFill>
                <a:latin typeface="Apple SD Gothic Neo"/>
              </a:rPr>
              <a:t>각 저장소/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Apple SD Gothic Neo"/>
              </a:rPr>
              <a:t>├─ CLAUDE.md         </a:t>
            </a:r>
            <a:r>
              <a:rPr sz="1150" b="0">
                <a:solidFill>
                  <a:srgbClr val="9FF3C7"/>
                </a:solidFill>
                <a:latin typeface="Apple SD Gothic Neo"/>
              </a:rPr>
              <a:t>← 맨 위에 "작업 전 _기능 안내판.md 읽어라" 1줄 추가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Apple SD Gothic Neo"/>
              </a:rPr>
              <a:t>└─ _기능 안내판.md    </a:t>
            </a:r>
            <a:r>
              <a:rPr sz="1150" b="0">
                <a:solidFill>
                  <a:srgbClr val="9FF3C7"/>
                </a:solidFill>
                <a:latin typeface="Apple SD Gothic Neo"/>
              </a:rPr>
              <a:t>← 신규: 기능 → 파일 매핑 표 (=분류표를 이 저장소 몫만 추린 것)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3017520"/>
          <a:ext cx="10515600" cy="8046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2194560"/>
                <a:gridCol w="4937760"/>
                <a:gridCol w="109728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기능</a:t>
                      </a:r>
                    </a:p>
                  </a:txBody>
                  <a:tcPr marL="82296" marR="45720" marT="18288" marB="18288" anchor="ctr"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이렇게 말하면</a:t>
                      </a:r>
                    </a:p>
                  </a:txBody>
                  <a:tcPr marL="82296" marR="45720" marT="18288" marB="18288" anchor="ctr"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정본 파일·섹션 (검증된 경로)</a:t>
                      </a:r>
                    </a:p>
                  </a:txBody>
                  <a:tcPr marL="82296" marR="45720" marT="18288" marB="18288" anchor="ctr"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스킬화</a:t>
                      </a:r>
                    </a:p>
                  </a:txBody>
                  <a:tcPr marL="82296" marR="45720" marT="18288" marB="18288" anchor="ctr">
                    <a:solidFill>
                      <a:srgbClr val="1B243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432"/>
                          </a:solidFill>
                          <a:latin typeface="Apple SD Gothic Neo"/>
                        </a:rPr>
                        <a:t>CdBd 콘텐츠 등록</a:t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432"/>
                          </a:solidFill>
                          <a:latin typeface="Apple SD Gothic Neo"/>
                        </a:rPr>
                        <a:t>"CdBd에 올려줘"</a:t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432"/>
                          </a:solidFill>
                          <a:latin typeface="Apple SD Gothic Neo"/>
                        </a:rPr>
                        <a:t>룩북/1. 제작 프로세스/4-CdBd 콘텐츠.md §등록 워크플로우</a:t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432"/>
                          </a:solidFill>
                          <a:latin typeface="Apple SD Gothic Neo"/>
                        </a:rPr>
                        <a:t>후보</a:t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2960" y="416052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B2432"/>
                </a:solidFill>
                <a:latin typeface="Apple SD Gothic Neo"/>
              </a:rPr>
              <a:t>왜 이 형태여야 하나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EB872"/>
                </a:solidFill>
                <a:latin typeface="Apple SD Gothic Neo"/>
              </a:rPr>
              <a:t>• </a:t>
            </a:r>
            <a:r>
              <a:rPr sz="1250" b="0">
                <a:solidFill>
                  <a:srgbClr val="1B2432"/>
                </a:solidFill>
                <a:latin typeface="Apple SD Gothic Neo"/>
              </a:rPr>
              <a:t>Claude에게 위키링크는 ‘클릭’이 아니라 그냥 글자 — 스스로 열지 않습니다.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EB872"/>
                </a:solidFill>
                <a:latin typeface="Apple SD Gothic Neo"/>
              </a:rPr>
              <a:t>• </a:t>
            </a:r>
            <a:r>
              <a:rPr sz="1250" b="0">
                <a:solidFill>
                  <a:srgbClr val="1B2432"/>
                </a:solidFill>
                <a:latin typeface="Apple SD Gothic Neo"/>
              </a:rPr>
              <a:t>볼트(저장소) 간 링크는 작동하지 않습니다 → 안내판은 저장소 안에 self-contained.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EB872"/>
                </a:solidFill>
                <a:latin typeface="Apple SD Gothic Neo"/>
              </a:rPr>
              <a:t>• </a:t>
            </a:r>
            <a:r>
              <a:rPr sz="1250" b="0">
                <a:solidFill>
                  <a:srgbClr val="1B2432"/>
                </a:solidFill>
                <a:latin typeface="Apple SD Gothic Neo"/>
              </a:rPr>
              <a:t>CLAUDE.md는 폴더 열 때 자동으로 읽는 유일한 파일 → 여기서 가리켜야 읽힙니다.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484"/>
                </a:solidFill>
                <a:latin typeface="Apple SD Gothic Neo"/>
              </a:rPr>
              <a:t>CdBd 기능 안내판 — 실행 계획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731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484"/>
                </a:solidFill>
                <a:latin typeface="Apple SD Gothic Neo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47472"/>
            <a:ext cx="128016" cy="457200"/>
          </a:xfrm>
          <a:prstGeom prst="rect">
            <a:avLst/>
          </a:prstGeom>
          <a:solidFill>
            <a:srgbClr val="3DF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37744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EB872"/>
                </a:solidFill>
                <a:latin typeface="Apple SD Gothic Neo"/>
              </a:rPr>
              <a:t>실행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B2432"/>
                </a:solidFill>
                <a:latin typeface="Apple SD Gothic Neo"/>
              </a:rPr>
              <a:t>실행 순서 — 6단계 (한 곳을 끝까지 → 확산)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17320"/>
          <a:ext cx="11201400" cy="3273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/>
                <a:gridCol w="6355080"/>
                <a:gridCol w="2194560"/>
                <a:gridCol w="109728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pple SD Gothic Neo"/>
                        </a:rPr>
                        <a:t>단계</a:t>
                      </a:r>
                    </a:p>
                  </a:txBody>
                  <a:tcPr marL="82296" marR="45720" marT="18288" marB="18288" anchor="ctr"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pple SD Gothic Neo"/>
                        </a:rPr>
                        <a:t>무엇을 · 왜</a:t>
                      </a:r>
                    </a:p>
                  </a:txBody>
                  <a:tcPr marL="82296" marR="45720" marT="18288" marB="18288" anchor="ctr"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pple SD Gothic Neo"/>
                        </a:rPr>
                        <a:t>산출물</a:t>
                      </a:r>
                    </a:p>
                  </a:txBody>
                  <a:tcPr marL="82296" marR="45720" marT="18288" marB="18288" anchor="ctr"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pple SD Gothic Neo"/>
                        </a:rPr>
                        <a:t>소요</a:t>
                      </a:r>
                    </a:p>
                  </a:txBody>
                  <a:tcPr marL="82296" marR="45720" marT="18288" marB="18288" anchor="ctr">
                    <a:solidFill>
                      <a:srgbClr val="1B243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432"/>
                          </a:solidFill>
                          <a:latin typeface="Apple SD Gothic Neo"/>
                        </a:rPr>
                        <a:t>1. 정의 확정</a:t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B2432"/>
                          </a:solidFill>
                          <a:latin typeface="Apple SD Gothic Neo"/>
                        </a:rPr>
                        <a:t>가이드 센터 기준 대분류 합의 — 무엇을 셀지 먼저 정함</a:t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B2432"/>
                          </a:solidFill>
                          <a:latin typeface="Apple SD Gothic Neo"/>
                        </a:rPr>
                        <a:t>분류 기준 1장</a:t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B2432"/>
                          </a:solidFill>
                          <a:latin typeface="Apple SD Gothic Neo"/>
                        </a:rPr>
                        <a:t>오늘</a:t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432"/>
                          </a:solidFill>
                          <a:latin typeface="Apple SD Gothic Neo"/>
                        </a:rPr>
                        <a:t>2. 분류표 초안</a:t>
                      </a:r>
                    </a:p>
                  </a:txBody>
                  <a:tcPr marL="82296" marR="45720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B2432"/>
                          </a:solidFill>
                          <a:latin typeface="Apple SD Gothic Neo"/>
                        </a:rPr>
                        <a:t>가이드 기능 ↔ 볼트 유무 대조 (앞 4·5장 형태)</a:t>
                      </a:r>
                    </a:p>
                  </a:txBody>
                  <a:tcPr marL="82296" marR="45720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B2432"/>
                          </a:solidFill>
                          <a:latin typeface="Apple SD Gothic Neo"/>
                        </a:rPr>
                        <a:t>분류표 초안</a:t>
                      </a:r>
                    </a:p>
                  </a:txBody>
                  <a:tcPr marL="82296" marR="45720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B2432"/>
                          </a:solidFill>
                          <a:latin typeface="Apple SD Gothic Neo"/>
                        </a:rPr>
                        <a:t>0.5일</a:t>
                      </a:r>
                    </a:p>
                  </a:txBody>
                  <a:tcPr marL="82296" marR="45720" marT="18288" marB="18288" anchor="ctr">
                    <a:solidFill>
                      <a:srgbClr val="F4F6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432"/>
                          </a:solidFill>
                          <a:latin typeface="Apple SD Gothic Neo"/>
                        </a:rPr>
                        <a:t>3. 안내판 1곳</a:t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B2432"/>
                          </a:solidFill>
                          <a:latin typeface="Apple SD Gothic Neo"/>
                        </a:rPr>
                        <a:t>저장소 1개만 골라 기능→정확한 파일·섹션 확정 + 경로 실재 확인</a:t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B2432"/>
                          </a:solidFill>
                          <a:latin typeface="Apple SD Gothic Neo"/>
                        </a:rPr>
                        <a:t>_기능 안내판.md ×1</a:t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B2432"/>
                          </a:solidFill>
                          <a:latin typeface="Apple SD Gothic Neo"/>
                        </a:rPr>
                        <a:t>0.5일</a:t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432"/>
                          </a:solidFill>
                          <a:latin typeface="Apple SD Gothic Neo"/>
                        </a:rPr>
                        <a:t>4. 연결</a:t>
                      </a:r>
                    </a:p>
                  </a:txBody>
                  <a:tcPr marL="82296" marR="45720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B2432"/>
                          </a:solidFill>
                          <a:latin typeface="Apple SD Gothic Neo"/>
                        </a:rPr>
                        <a:t>그 저장소 CLAUDE.md에 "안내판 먼저 읽어라" 1줄 넣기 = 자동으로 읽히게 잇기</a:t>
                      </a:r>
                    </a:p>
                  </a:txBody>
                  <a:tcPr marL="82296" marR="45720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B2432"/>
                          </a:solidFill>
                          <a:latin typeface="Apple SD Gothic Neo"/>
                        </a:rPr>
                        <a:t>1줄 추가</a:t>
                      </a:r>
                    </a:p>
                  </a:txBody>
                  <a:tcPr marL="82296" marR="45720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B2432"/>
                          </a:solidFill>
                          <a:latin typeface="Apple SD Gothic Neo"/>
                        </a:rPr>
                        <a:t>5분</a:t>
                      </a:r>
                    </a:p>
                  </a:txBody>
                  <a:tcPr marL="82296" marR="45720" marT="18288" marB="18288" anchor="ctr">
                    <a:solidFill>
                      <a:srgbClr val="F4F6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432"/>
                          </a:solidFill>
                          <a:latin typeface="Apple SD Gothic Neo"/>
                        </a:rPr>
                        <a:t>5. 검증</a:t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B2432"/>
                          </a:solidFill>
                          <a:latin typeface="Apple SD Gothic Neo"/>
                        </a:rPr>
                        <a:t>"○○ 해줘" → Claude가 안내판 보고 올바른 파일 여는지 실제 테스트</a:t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B2432"/>
                          </a:solidFill>
                          <a:latin typeface="Apple SD Gothic Neo"/>
                        </a:rPr>
                        <a:t>통과 확인</a:t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B2432"/>
                          </a:solidFill>
                          <a:latin typeface="Apple SD Gothic Neo"/>
                        </a:rPr>
                        <a:t>10분</a:t>
                      </a:r>
                    </a:p>
                  </a:txBody>
                  <a:tcPr marL="82296" marR="45720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432"/>
                          </a:solidFill>
                          <a:latin typeface="Apple SD Gothic Neo"/>
                        </a:rPr>
                        <a:t>6. 확산 &amp; 스킬</a:t>
                      </a:r>
                    </a:p>
                  </a:txBody>
                  <a:tcPr marL="82296" marR="45720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B2432"/>
                          </a:solidFill>
                          <a:latin typeface="Apple SD Gothic Neo"/>
                        </a:rPr>
                        <a:t>작동 확인되면 나머지 저장소 복제 · 고빈도만 얇은 스킬로 승격</a:t>
                      </a:r>
                    </a:p>
                  </a:txBody>
                  <a:tcPr marL="82296" marR="45720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B2432"/>
                          </a:solidFill>
                          <a:latin typeface="Apple SD Gothic Neo"/>
                        </a:rPr>
                        <a:t>안내판 3개+</a:t>
                      </a:r>
                    </a:p>
                  </a:txBody>
                  <a:tcPr marL="82296" marR="45720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B2432"/>
                          </a:solidFill>
                          <a:latin typeface="Apple SD Gothic Neo"/>
                        </a:rPr>
                        <a:t>이후</a:t>
                      </a:r>
                    </a:p>
                  </a:txBody>
                  <a:tcPr marL="82296" marR="45720" marT="18288" marB="18288" anchor="ctr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074920"/>
            <a:ext cx="11201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EB872"/>
                </a:solidFill>
                <a:latin typeface="Apple SD Gothic Neo"/>
              </a:rPr>
              <a:t>‘연결’이란: </a:t>
            </a:r>
            <a:r>
              <a:rPr sz="1200" b="0">
                <a:solidFill>
                  <a:srgbClr val="1B2432"/>
                </a:solidFill>
                <a:latin typeface="Apple SD Gothic Neo"/>
              </a:rPr>
              <a:t>CLAUDE.md는 폴더를 열 때 Claude가 자동으로 읽는 파일. 그 안에 안내판을 읽으라고 한 줄 적어 두 파일을 이어 주는 것.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484"/>
                </a:solidFill>
                <a:latin typeface="Apple SD Gothic Neo"/>
              </a:rPr>
              <a:t>CdBd 기능 안내판 — 실행 계획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731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484"/>
                </a:solidFill>
                <a:latin typeface="Apple SD Gothic Neo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47472"/>
            <a:ext cx="128016" cy="457200"/>
          </a:xfrm>
          <a:prstGeom prst="rect">
            <a:avLst/>
          </a:prstGeom>
          <a:solidFill>
            <a:srgbClr val="3DF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37744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EB872"/>
                </a:solidFill>
                <a:latin typeface="Apple SD Gothic Neo"/>
              </a:rPr>
              <a:t>예시 · 과정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B2432"/>
                </a:solidFill>
                <a:latin typeface="Apple SD Gothic Neo"/>
              </a:rPr>
              <a:t>cdbd-design-service를 끝까지 하면 — 과정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698480" cy="896112"/>
          </a:xfrm>
          <a:prstGeom prst="rect">
            <a:avLst/>
          </a:prstGeom>
          <a:solidFill>
            <a:srgbClr val="F4F6F8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" cy="896112"/>
          </a:xfrm>
          <a:prstGeom prst="rect">
            <a:avLst/>
          </a:prstGeom>
          <a:solidFill>
            <a:srgbClr val="1B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50292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3DF69B"/>
                </a:solidFill>
                <a:latin typeface="Apple SD Gothic Ne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453896"/>
            <a:ext cx="2286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1B2432"/>
                </a:solidFill>
                <a:latin typeface="Apple SD Gothic Neo"/>
              </a:rPr>
              <a:t>기능 추출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1453896"/>
            <a:ext cx="74066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7484"/>
                </a:solidFill>
                <a:latin typeface="Apple SD Gothic Neo"/>
              </a:rPr>
              <a:t>가이드 센터 + 볼트 문서 대조 → 이 저장소가 실제로 다루는 CdBd 기능만 추림 (콘텐츠 등록·URL 게시·이미지 라이브러리·카드 매핑·누끼 크롭 등)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340864"/>
            <a:ext cx="10698480" cy="896112"/>
          </a:xfrm>
          <a:prstGeom prst="rect">
            <a:avLst/>
          </a:prstGeom>
          <a:solidFill>
            <a:srgbClr val="F4F6F8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340864"/>
            <a:ext cx="502920" cy="896112"/>
          </a:xfrm>
          <a:prstGeom prst="rect">
            <a:avLst/>
          </a:prstGeom>
          <a:solidFill>
            <a:srgbClr val="1B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340864"/>
            <a:ext cx="50292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3DF69B"/>
                </a:solidFill>
                <a:latin typeface="Apple SD Gothic Neo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423160"/>
            <a:ext cx="2286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1B2432"/>
                </a:solidFill>
                <a:latin typeface="Apple SD Gothic Neo"/>
              </a:rPr>
              <a:t>파일·섹션 확정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423160"/>
            <a:ext cx="74066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7484"/>
                </a:solidFill>
                <a:latin typeface="Apple SD Gothic Neo"/>
              </a:rPr>
              <a:t>각 기능 → 정확한 파일·섹션 지정 + 경로 실재 검증 (진단서가 지적한 ‘표 경로 9개 오류’를 여기서 정정)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310128"/>
            <a:ext cx="10698480" cy="896112"/>
          </a:xfrm>
          <a:prstGeom prst="rect">
            <a:avLst/>
          </a:prstGeom>
          <a:solidFill>
            <a:srgbClr val="F4F6F8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310128"/>
            <a:ext cx="502920" cy="896112"/>
          </a:xfrm>
          <a:prstGeom prst="rect">
            <a:avLst/>
          </a:prstGeom>
          <a:solidFill>
            <a:srgbClr val="1B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310128"/>
            <a:ext cx="50292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3DF69B"/>
                </a:solidFill>
                <a:latin typeface="Apple SD Gothic Ne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392424"/>
            <a:ext cx="2286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1B2432"/>
                </a:solidFill>
                <a:latin typeface="Apple SD Gothic Neo"/>
              </a:rPr>
              <a:t>안내판 작성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3392424"/>
            <a:ext cx="74066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7484"/>
                </a:solidFill>
                <a:latin typeface="Apple SD Gothic Neo"/>
              </a:rPr>
              <a:t>_기능 안내판.md 에 표로 정리 (기능 | 이렇게 말하면 | 파일·섹션 | 스킬화)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279392"/>
            <a:ext cx="10698480" cy="896112"/>
          </a:xfrm>
          <a:prstGeom prst="rect">
            <a:avLst/>
          </a:prstGeom>
          <a:solidFill>
            <a:srgbClr val="F4F6F8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279392"/>
            <a:ext cx="502920" cy="896112"/>
          </a:xfrm>
          <a:prstGeom prst="rect">
            <a:avLst/>
          </a:prstGeom>
          <a:solidFill>
            <a:srgbClr val="1B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279392"/>
            <a:ext cx="50292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3DF69B"/>
                </a:solidFill>
                <a:latin typeface="Apple SD Gothic Neo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361688"/>
            <a:ext cx="2286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1B2432"/>
                </a:solidFill>
                <a:latin typeface="Apple SD Gothic Neo"/>
              </a:rPr>
              <a:t>연결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4361688"/>
            <a:ext cx="74066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7484"/>
                </a:solidFill>
                <a:latin typeface="Apple SD Gothic Neo"/>
              </a:rPr>
              <a:t>CLAUDE.md 맨 위에 "작업 전 _기능 안내판.md 읽어라" 1줄 추가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248656"/>
            <a:ext cx="10698480" cy="896112"/>
          </a:xfrm>
          <a:prstGeom prst="rect">
            <a:avLst/>
          </a:prstGeom>
          <a:solidFill>
            <a:srgbClr val="F4F6F8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5248656"/>
            <a:ext cx="502920" cy="896112"/>
          </a:xfrm>
          <a:prstGeom prst="rect">
            <a:avLst/>
          </a:prstGeom>
          <a:solidFill>
            <a:srgbClr val="1B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248656"/>
            <a:ext cx="50292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3DF69B"/>
                </a:solidFill>
                <a:latin typeface="Apple SD Gothic Neo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330952"/>
            <a:ext cx="2286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1B2432"/>
                </a:solidFill>
                <a:latin typeface="Apple SD Gothic Neo"/>
              </a:rPr>
              <a:t>검증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5330952"/>
            <a:ext cx="74066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7484"/>
                </a:solidFill>
                <a:latin typeface="Apple SD Gothic Neo"/>
              </a:rPr>
              <a:t>"이 룩북 CdBd에 올려줘" → Claude가 스스로 §등록 워크플로우를 열고 7단계 수행하는지 확인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484"/>
                </a:solidFill>
                <a:latin typeface="Apple SD Gothic Neo"/>
              </a:rPr>
              <a:t>CdBd 기능 안내판 — 실행 계획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46520"/>
            <a:ext cx="731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484"/>
                </a:solidFill>
                <a:latin typeface="Apple SD Gothic Neo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47472"/>
            <a:ext cx="128016" cy="457200"/>
          </a:xfrm>
          <a:prstGeom prst="rect">
            <a:avLst/>
          </a:prstGeom>
          <a:solidFill>
            <a:srgbClr val="3DF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37744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EB872"/>
                </a:solidFill>
                <a:latin typeface="Apple SD Gothic Neo"/>
              </a:rPr>
              <a:t>예시 · 결과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B2432"/>
                </a:solidFill>
                <a:latin typeface="Apple SD Gothic Neo"/>
              </a:rPr>
              <a:t>cdbd-design-service — 예상 결과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257800" cy="3200400"/>
          </a:xfrm>
          <a:prstGeom prst="rect">
            <a:avLst/>
          </a:prstGeom>
          <a:solidFill>
            <a:srgbClr val="F4F6F8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3619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D84545"/>
                </a:solidFill>
                <a:latin typeface="Apple SD Gothic Neo"/>
              </a:rPr>
              <a:t>지금 (안내판 없음)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57400"/>
            <a:ext cx="48463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1B2432"/>
                </a:solidFill>
                <a:latin typeface="Apple SD Gothic Neo"/>
              </a:rPr>
              <a:t>• "CdBd에 올려줘" 하면 Claude가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1B2432"/>
                </a:solidFill>
                <a:latin typeface="Apple SD Gothic Neo"/>
              </a:rPr>
              <a:t>   어느 문서를 볼지 모름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1B2432"/>
                </a:solidFill>
                <a:latin typeface="Apple SD Gothic Neo"/>
              </a:rPr>
              <a:t>• 표 경로가 옛 파일명이라 헤맴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1B2432"/>
                </a:solidFill>
                <a:latin typeface="Apple SD Gothic Neo"/>
              </a:rPr>
              <a:t>• 사람이 매번 문서를 지정해야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1B2432"/>
                </a:solidFill>
                <a:latin typeface="Apple SD Gothic Neo"/>
              </a:rPr>
              <a:t>• 팀원마다 결과가 달라짐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371600"/>
            <a:ext cx="5257800" cy="3200400"/>
          </a:xfrm>
          <a:prstGeom prst="rect">
            <a:avLst/>
          </a:prstGeom>
          <a:solidFill>
            <a:srgbClr val="1B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3619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3DF69B"/>
                </a:solidFill>
                <a:latin typeface="Apple SD Gothic Neo"/>
              </a:rPr>
              <a:t>안내판 적용 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57400"/>
            <a:ext cx="48463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Apple SD Gothic Neo"/>
              </a:rPr>
              <a:t>• "CdBd에 올려줘" → 안내판에서 바로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Apple SD Gothic Neo"/>
              </a:rPr>
              <a:t>   §등록 워크플로우로 진입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Apple SD Gothic Neo"/>
              </a:rPr>
              <a:t>• 폴더 확인→멀티페이지→카드 매핑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Apple SD Gothic Neo"/>
              </a:rPr>
              <a:t>   →URL·OG→검증→게시 자동 흐름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Apple SD Gothic Neo"/>
              </a:rPr>
              <a:t>• 누가 시켜도 같은 결과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00600"/>
            <a:ext cx="10744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1B2432"/>
                </a:solidFill>
                <a:latin typeface="Apple SD Gothic Neo"/>
              </a:rPr>
              <a:t>부수 결과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B7484"/>
                </a:solidFill>
                <a:latin typeface="Apple SD Gothic Neo"/>
              </a:rPr>
              <a:t>• 진단서가 지적한 ‘핵심 문서 표 경로 9개 오류’가 정정됩니다.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B7484"/>
                </a:solidFill>
                <a:latin typeface="Apple SD Gothic Neo"/>
              </a:rPr>
              <a:t>• ‘통계·개인화·버전기록 = 볼트에 없음’이 명시돼 다음 작업 목록이 생깁니다.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B7484"/>
                </a:solidFill>
                <a:latin typeface="Apple SD Gothic Neo"/>
              </a:rPr>
              <a:t>• 소요 반나절 · 산출물 = _기능 안내판.md 1개 + CLAUDE.md 1줄 → 통하면 나머지 저장소로 복제.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484"/>
                </a:solidFill>
                <a:latin typeface="Apple SD Gothic Neo"/>
              </a:rPr>
              <a:t>CdBd 기능 안내판 — 실행 계획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731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484"/>
                </a:solidFill>
                <a:latin typeface="Apple SD Gothic Ne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146304" cy="777240"/>
          </a:xfrm>
          <a:prstGeom prst="rect">
            <a:avLst/>
          </a:prstGeom>
          <a:solidFill>
            <a:srgbClr val="3DF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5943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Apple SD Gothic Neo"/>
              </a:rPr>
              <a:t>지금 결정할 것 · 다음 액션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10515600" cy="1051560"/>
          </a:xfrm>
          <a:prstGeom prst="rect">
            <a:avLst/>
          </a:prstGeom>
          <a:solidFill>
            <a:srgbClr val="243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109728" cy="1051560"/>
          </a:xfrm>
          <a:prstGeom prst="rect">
            <a:avLst/>
          </a:prstGeom>
          <a:solidFill>
            <a:srgbClr val="3DF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975104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3DF69B"/>
                </a:solidFill>
                <a:latin typeface="Apple SD Gothic Neo"/>
              </a:rPr>
              <a:t>① 대분류 확정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D5DCE5"/>
                </a:solidFill>
                <a:latin typeface="Apple SD Gothic Neo"/>
              </a:rPr>
              <a:t>가이드 센터 기준 (시작·에디터·카드·게시/통계·기능/계정·데이터) — 이대로 갈지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035808"/>
            <a:ext cx="10515600" cy="1051560"/>
          </a:xfrm>
          <a:prstGeom prst="rect">
            <a:avLst/>
          </a:prstGeom>
          <a:solidFill>
            <a:srgbClr val="243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035808"/>
            <a:ext cx="109728" cy="1051560"/>
          </a:xfrm>
          <a:prstGeom prst="rect">
            <a:avLst/>
          </a:prstGeom>
          <a:solidFill>
            <a:srgbClr val="3DF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182112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3DF69B"/>
                </a:solidFill>
                <a:latin typeface="Apple SD Gothic Neo"/>
              </a:rPr>
              <a:t>② 첫 저장소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D5DCE5"/>
                </a:solidFill>
                <a:latin typeface="Apple SD Gothic Neo"/>
              </a:rPr>
              <a:t>cdbd-design-service 추천 — 다른 곳으로 할지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242816"/>
            <a:ext cx="10515600" cy="1051560"/>
          </a:xfrm>
          <a:prstGeom prst="rect">
            <a:avLst/>
          </a:prstGeom>
          <a:solidFill>
            <a:srgbClr val="243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242816"/>
            <a:ext cx="109728" cy="1051560"/>
          </a:xfrm>
          <a:prstGeom prst="rect">
            <a:avLst/>
          </a:prstGeom>
          <a:solidFill>
            <a:srgbClr val="3DF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38912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3DF69B"/>
                </a:solidFill>
                <a:latin typeface="Apple SD Gothic Neo"/>
              </a:rPr>
              <a:t>③ 확정되면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D5DCE5"/>
                </a:solidFill>
                <a:latin typeface="Apple SD Gothic Neo"/>
              </a:rPr>
              <a:t>2단계(분류표 초안) → 3단계(안내판 제작)로 바로 진행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6172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7484"/>
                </a:solidFill>
                <a:latin typeface="Apple SD Gothic Neo"/>
              </a:rPr>
              <a:t>정본 문서: _기능 안내판 실행 계획.md  ·  이 발표: _기능 안내판 실행 계획.pptx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