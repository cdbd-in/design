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22960"/>
            <a:ext cx="4663440" cy="521208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</p:spPr>
      </p:sp>
      <p:pic>
        <p:nvPicPr>
          <p:cNvPr id="3" name="Image 0" descr="/tmp/pagecap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11680"/>
            <a:ext cx="3840480" cy="2731008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188720" y="2011680"/>
            <a:ext cx="3840480" cy="2731008"/>
          </a:xfrm>
          <a:prstGeom prst="roundRect">
            <a:avLst>
              <a:gd name="adj" fmla="val 670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0" y="2148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페이지 유형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0" y="30175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b="1" spc="-6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개념과 관계 총정리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0" y="4114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· 랜딩 · 상세 · 서비스 · 쇼핑몰 · 가이드 · 블로그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7가지가 무엇이고 어떻게 이어지나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페이지는 실제 사이트를 캡처했습니다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한눈에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웹 페이지 유형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각각이 무엇인지 한 줄 정의부터. 뒤에서 예시와 함께 자세히 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71576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308152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웹사이트의 첫 화면·대문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96696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93694" y="251460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3150" y="271576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랜딩페이지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13150" y="308152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광고를 타고 착지하는 전환용 1페이지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3150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17" name="Text 15"/>
          <p:cNvSpPr/>
          <p:nvPr/>
        </p:nvSpPr>
        <p:spPr>
          <a:xfrm>
            <a:off x="3713150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0148" y="251460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9604" y="271576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9604" y="308152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하나를 자세히 보여주는 구매 페이지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29604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29604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26601" y="251460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6057" y="271576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페이지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6057" y="308152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서비스·기능을 소개·설득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6057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6057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25196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45312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쇼핑몰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6696" y="481888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상품을 파는 커머스 사이트 전체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6696" y="53035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32" name="Text 30"/>
          <p:cNvSpPr/>
          <p:nvPr/>
        </p:nvSpPr>
        <p:spPr>
          <a:xfrm>
            <a:off x="996696" y="53035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93694" y="425196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3150" y="445312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가이드페이지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13150" y="481888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사용법을 알려주는 문서·도움말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13150" y="53035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37" name="Text 35"/>
          <p:cNvSpPr/>
          <p:nvPr/>
        </p:nvSpPr>
        <p:spPr>
          <a:xfrm>
            <a:off x="3713150" y="53035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0148" y="4251960"/>
            <a:ext cx="2487854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9604" y="4453128"/>
            <a:ext cx="20489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29604" y="4818888"/>
            <a:ext cx="20489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시간순으로 쌓이는 글 모음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29604" y="53035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AFB"/>
          </a:solidFill>
          <a:ln/>
        </p:spPr>
      </p:sp>
      <p:sp>
        <p:nvSpPr>
          <p:cNvPr id="42" name="Text 40"/>
          <p:cNvSpPr/>
          <p:nvPr/>
        </p:nvSpPr>
        <p:spPr>
          <a:xfrm>
            <a:off x="6429604" y="53035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이어지나 — 목적으로 나누면 쉽다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‘범위(사이트냐 낱장이냐)’와 ‘목적’ 두 축으로 보면 헷갈리지 않습니다.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48785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514600"/>
            <a:ext cx="20855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(허브)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78408" y="3044952"/>
            <a:ext cx="208551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154680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홈페이지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3913632"/>
            <a:ext cx="2085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대문에서 각 페이지로 길 안내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93694" y="2331720"/>
            <a:ext cx="2487854" cy="2148840"/>
          </a:xfrm>
          <a:prstGeom prst="roundRect">
            <a:avLst>
              <a:gd name="adj" fmla="val 5106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862" y="2514600"/>
            <a:ext cx="20855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(설득·행동)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94862" y="3044952"/>
            <a:ext cx="208551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862" y="3154680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랜딩페이지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94862" y="3465576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상세페이지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4862" y="3776472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서비스 페이지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94862" y="3913632"/>
            <a:ext cx="2085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가입·구매·신청으로 유도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0148" y="2331720"/>
            <a:ext cx="248785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1316" y="2514600"/>
            <a:ext cx="20855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(판매)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11316" y="3044952"/>
            <a:ext cx="208551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1316" y="3154680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온라인 쇼핑몰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1316" y="3913632"/>
            <a:ext cx="2085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진열→상세→결제 플랫폼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26601" y="2331720"/>
            <a:ext cx="248785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7769" y="2514600"/>
            <a:ext cx="20855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(정보)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127769" y="3044952"/>
            <a:ext cx="208551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7769" y="3154680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가이드페이지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27769" y="3465576"/>
            <a:ext cx="2085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· 블로그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27769" y="3913632"/>
            <a:ext cx="2085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사용법·콘텐츠로 돕고 유입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4892040"/>
            <a:ext cx="10637215" cy="1234440"/>
          </a:xfrm>
          <a:prstGeom prst="roundRect">
            <a:avLst>
              <a:gd name="adj" fmla="val 8889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047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포함 관계 — 큰 것 안에 작은 것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5358384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웹사이트(≈ 홈페이지) 안에  →  랜딩 · 상세 · 서비스 · 가이드 · 블로그 같은 ‘낱장 페이지’가 들어 있습니다.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566928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온라인 쇼핑몰(사이트 전체) 안에  →  상품마다 ‘상세페이지’가 하나씩. 쇼핑몰 = 상세페이지들을 담는 그릇.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웹사이트의 첫 화면이자 ‘대문’. 브랜드 전체를 대표하고, 상단 메뉴로 각 하위 페이지로 안내합니다.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안내 (허브)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내비게이션(메뉴)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비주얼(히어로)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코너로 분기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apple.com 메인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＊ 한국어에선 ‘홈페이지’가 웹사이트 전체를 뜻하기도 합니다(넓은 의미).</a:t>
            </a:r>
            <a:endParaRPr lang="en-US" sz="1050" dirty="0"/>
          </a:p>
        </p:txBody>
      </p:sp>
      <p:pic>
        <p:nvPicPr>
          <p:cNvPr id="21" name="Image 0" descr="/tmp/pagecap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광고·링크를 타고 ‘착지(land)’하는 페이지. 보통 하나의 목표(가입·구매·신청)에만 집중합니다.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(단일 목표)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하나의 목적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강한 CTA 버튼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내비 최소 · 1페이지 스크롤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Linear (제품 소개)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홈페이지 — 홈은 여러 길 안내, 랜딩은 한 가지 행동 유도.</a:t>
            </a:r>
            <a:endParaRPr lang="en-US" sz="1050" dirty="0"/>
          </a:p>
        </p:txBody>
      </p:sp>
      <p:pic>
        <p:nvPicPr>
          <p:cNvPr id="21" name="Image 0" descr="/tmp/pagecap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상품 ‘하나’를 자세히 보여주는 페이지. 이미지·옵션·가격·구매 버튼으로 구매를 결정하게 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구매 결정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이미지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가격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구매 CTA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AirPods Pro 구입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＊ 한국 이커머스에선 길게 스크롤되는 ‘상품 설명 이미지’를 특히 상세페이지라 부릅니다.</a:t>
            </a:r>
            <a:endParaRPr lang="en-US" sz="1050" dirty="0"/>
          </a:p>
        </p:txBody>
      </p:sp>
      <p:pic>
        <p:nvPicPr>
          <p:cNvPr id="21" name="Image 0" descr="/tmp/pagecaps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‘서비스·기능’이 무엇이고 어떤 가치를 주는지 소개·설득하는 페이지.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이해 · 설득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· 가치 설명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· 사례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· 시작 CTA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Stripe Payments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상세페이지 — 상세는 구체 ‘상품’ 구매, 서비스는 무형의 ‘서비스’ 설명.</a:t>
            </a:r>
            <a:endParaRPr lang="en-US" sz="1050" dirty="0"/>
          </a:p>
        </p:txBody>
      </p:sp>
      <p:pic>
        <p:nvPicPr>
          <p:cNvPr id="21" name="Image 0" descr="/tmp/pagecaps/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쇼핑몰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상품을 진열·판매하는 ‘사이트 전체’. 메인 → 카테고리 → 상세 → 장바구니 → 결제 흐름을 포함합니다.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(커머스 플랫폼)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진열 · 검색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분류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결제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Amazon · 무신사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— 쇼핑몰 ⊃ 상품 상세페이지들. 상세페이지는 쇼핑몰의 ‘부분’.</a:t>
            </a:r>
            <a:endParaRPr lang="en-US" sz="1050" dirty="0"/>
          </a:p>
        </p:txBody>
      </p:sp>
      <p:pic>
        <p:nvPicPr>
          <p:cNvPr id="21" name="Image 0" descr="/tmp/pagecaps/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사용법·방법을 알려주는 문서형 페이지. 제품 문서 · 도움말 센터 · 튜토리얼.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· 지원 (전환 아님)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· 목차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설명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예제 · 코드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Stripe Docs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목적이 ‘팔기’가 아니라 ‘돕기’. 이미 쓰는 사람을 위한 페이지.</a:t>
            </a:r>
            <a:endParaRPr lang="en-US" sz="1050" dirty="0"/>
          </a:p>
        </p:txBody>
      </p:sp>
      <p:pic>
        <p:nvPicPr>
          <p:cNvPr id="21" name="Image 0" descr="/tmp/pagecaps/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유형 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유형별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시간순으로 쌓이는 글(아티클) 모음. 콘텐츠로 방문·신뢰·검색 유입을 만듭니다.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· 유입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 목록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· 태그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5137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· 인기 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toss tech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4406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440680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가이드와 비슷해 보이지만 — 가이드=사용법(정답), 블로그=이야기·소식(콘텐츠).</a:t>
            </a:r>
            <a:endParaRPr lang="en-US" sz="1050" dirty="0"/>
          </a:p>
        </p:txBody>
      </p:sp>
      <p:pic>
        <p:nvPicPr>
          <p:cNvPr id="21" name="Image 0" descr="/tmp/pagecaps/b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422392" cy="3855923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00000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74520"/>
            <a:ext cx="5422392" cy="3855923"/>
          </a:xfrm>
          <a:prstGeom prst="roundRect">
            <a:avLst>
              <a:gd name="adj" fmla="val 474"/>
            </a:avLst>
          </a:prstGeom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헷갈리기 쉬운 3쌍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실무에서 가장 자주 섞이는 구분입니다.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 vs  랜딩페이지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49240" y="2514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8696" y="2514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길을 안내하는 ‘허브’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2514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6C4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06256" y="2514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가지 행동만 유도하는 ‘깔때기’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  vs  서비스 페이지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49240" y="3657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‘상품’ 하나를 판매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3657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6C4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06256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무형의 ‘서비스·기능’을 설득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쇼핑몰  vs  상세페이지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49240" y="4800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4800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상품들을 담는 ‘사이트 전체’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0" y="48006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6C4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6256" y="4800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안의 상품 ‘한 장’ (부분)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‘사이트 전체’인지 ‘낱장 페이지’인지,</a:t>
            </a:r>
            <a:endParaRPr lang="en-US" sz="2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‘무엇을 시키려는 페이지’인지 —</a:t>
            </a:r>
            <a:endParaRPr lang="en-US" sz="2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7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둘만 보면 유형이 구분됩니다.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안내(홈) · 전환(랜딩·상세·서비스) · 거래(쇼핑몰) · 지원(가이드·블로그)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2026-08-13T09:34:24Z</dcterms:created>
  <dcterms:modified xsi:type="dcterms:W3CDTF">2026-08-13T09:34:24Z</dcterms:modified>
</cp:coreProperties>
</file>